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7"/>
  </p:notesMasterIdLst>
  <p:sldIdLst>
    <p:sldId id="262" r:id="rId2"/>
    <p:sldId id="426" r:id="rId3"/>
    <p:sldId id="276" r:id="rId4"/>
    <p:sldId id="377" r:id="rId5"/>
    <p:sldId id="427" r:id="rId6"/>
    <p:sldId id="428" r:id="rId7"/>
    <p:sldId id="435" r:id="rId8"/>
    <p:sldId id="429" r:id="rId9"/>
    <p:sldId id="419" r:id="rId10"/>
    <p:sldId id="420" r:id="rId11"/>
    <p:sldId id="438" r:id="rId12"/>
    <p:sldId id="422" r:id="rId13"/>
    <p:sldId id="421" r:id="rId14"/>
    <p:sldId id="431" r:id="rId15"/>
    <p:sldId id="439" r:id="rId16"/>
    <p:sldId id="432" r:id="rId17"/>
    <p:sldId id="362" r:id="rId18"/>
    <p:sldId id="440" r:id="rId19"/>
    <p:sldId id="441" r:id="rId20"/>
    <p:sldId id="423" r:id="rId21"/>
    <p:sldId id="434" r:id="rId22"/>
    <p:sldId id="424" r:id="rId23"/>
    <p:sldId id="378" r:id="rId24"/>
    <p:sldId id="414" r:id="rId25"/>
    <p:sldId id="43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36" userDrawn="1">
          <p15:clr>
            <a:srgbClr val="A4A3A4"/>
          </p15:clr>
        </p15:guide>
        <p15:guide id="2" pos="3264" userDrawn="1">
          <p15:clr>
            <a:srgbClr val="A4A3A4"/>
          </p15:clr>
        </p15:guide>
        <p15:guide id="3" pos="384" userDrawn="1">
          <p15:clr>
            <a:srgbClr val="A4A3A4"/>
          </p15:clr>
        </p15:guide>
        <p15:guide id="4" orient="horz" pos="11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3E64"/>
    <a:srgbClr val="0035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7452EA-8525-8546-9411-43FD84E2388C}" v="496" dt="2026-03-18T14:01:50.638"/>
  </p1510:revLst>
</p1510:revInfo>
</file>

<file path=ppt/tableStyles.xml><?xml version="1.0" encoding="utf-8"?>
<a:tblStyleLst xmlns:a="http://schemas.openxmlformats.org/drawingml/2006/main" def="{5C22544A-7EE6-4342-B048-85BDC9FD1C3A}">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583"/>
    <p:restoredTop sz="95918"/>
  </p:normalViewPr>
  <p:slideViewPr>
    <p:cSldViewPr snapToGrid="0">
      <p:cViewPr varScale="1">
        <p:scale>
          <a:sx n="131" d="100"/>
          <a:sy n="131" d="100"/>
        </p:scale>
        <p:origin x="600" y="192"/>
      </p:cViewPr>
      <p:guideLst>
        <p:guide orient="horz" pos="3336"/>
        <p:guide pos="3264"/>
        <p:guide pos="384"/>
        <p:guide orient="horz" pos="1128"/>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gener, Maximilian" userId="00319a47-5df7-4a7f-b5fd-8c1aef3f7443" providerId="ADAL" clId="{CF2CAE99-D8F5-51A4-A68C-79C1C32033F6}"/>
    <pc:docChg chg="undo custSel addSld delSld modSld sldOrd">
      <pc:chgData name="Wegener, Maximilian" userId="00319a47-5df7-4a7f-b5fd-8c1aef3f7443" providerId="ADAL" clId="{CF2CAE99-D8F5-51A4-A68C-79C1C32033F6}" dt="2026-03-18T14:01:43.175" v="5826" actId="20577"/>
      <pc:docMkLst>
        <pc:docMk/>
      </pc:docMkLst>
      <pc:sldChg chg="modSp mod">
        <pc:chgData name="Wegener, Maximilian" userId="00319a47-5df7-4a7f-b5fd-8c1aef3f7443" providerId="ADAL" clId="{CF2CAE99-D8F5-51A4-A68C-79C1C32033F6}" dt="2026-03-17T15:22:27.032" v="5669" actId="1076"/>
        <pc:sldMkLst>
          <pc:docMk/>
          <pc:sldMk cId="3091722252" sldId="262"/>
        </pc:sldMkLst>
        <pc:spChg chg="mod">
          <ac:chgData name="Wegener, Maximilian" userId="00319a47-5df7-4a7f-b5fd-8c1aef3f7443" providerId="ADAL" clId="{CF2CAE99-D8F5-51A4-A68C-79C1C32033F6}" dt="2026-03-17T15:22:27.032" v="5669" actId="1076"/>
          <ac:spMkLst>
            <pc:docMk/>
            <pc:sldMk cId="3091722252" sldId="262"/>
            <ac:spMk id="4" creationId="{037FB169-D746-444C-A487-68B7FECB9A10}"/>
          </ac:spMkLst>
        </pc:spChg>
        <pc:spChg chg="mod">
          <ac:chgData name="Wegener, Maximilian" userId="00319a47-5df7-4a7f-b5fd-8c1aef3f7443" providerId="ADAL" clId="{CF2CAE99-D8F5-51A4-A68C-79C1C32033F6}" dt="2026-03-17T15:22:27.032" v="5669" actId="1076"/>
          <ac:spMkLst>
            <pc:docMk/>
            <pc:sldMk cId="3091722252" sldId="262"/>
            <ac:spMk id="5" creationId="{1CE8B407-CDA5-C8A6-7744-CE476FDBA860}"/>
          </ac:spMkLst>
        </pc:spChg>
      </pc:sldChg>
      <pc:sldChg chg="addSp delSp modSp mod ord">
        <pc:chgData name="Wegener, Maximilian" userId="00319a47-5df7-4a7f-b5fd-8c1aef3f7443" providerId="ADAL" clId="{CF2CAE99-D8F5-51A4-A68C-79C1C32033F6}" dt="2026-03-06T21:17:20.973" v="943"/>
        <pc:sldMkLst>
          <pc:docMk/>
          <pc:sldMk cId="3472341933" sldId="276"/>
        </pc:sldMkLst>
        <pc:spChg chg="mod">
          <ac:chgData name="Wegener, Maximilian" userId="00319a47-5df7-4a7f-b5fd-8c1aef3f7443" providerId="ADAL" clId="{CF2CAE99-D8F5-51A4-A68C-79C1C32033F6}" dt="2026-03-06T20:27:07.306" v="38" actId="20577"/>
          <ac:spMkLst>
            <pc:docMk/>
            <pc:sldMk cId="3472341933" sldId="276"/>
            <ac:spMk id="2" creationId="{94D83A1C-A6DB-5D04-6957-BDCC990D52D0}"/>
          </ac:spMkLst>
        </pc:spChg>
      </pc:sldChg>
      <pc:sldChg chg="addSp delSp modSp mod">
        <pc:chgData name="Wegener, Maximilian" userId="00319a47-5df7-4a7f-b5fd-8c1aef3f7443" providerId="ADAL" clId="{CF2CAE99-D8F5-51A4-A68C-79C1C32033F6}" dt="2026-03-16T20:10:53.987" v="4780" actId="1076"/>
        <pc:sldMkLst>
          <pc:docMk/>
          <pc:sldMk cId="1892294808" sldId="362"/>
        </pc:sldMkLst>
        <pc:spChg chg="mod">
          <ac:chgData name="Wegener, Maximilian" userId="00319a47-5df7-4a7f-b5fd-8c1aef3f7443" providerId="ADAL" clId="{CF2CAE99-D8F5-51A4-A68C-79C1C32033F6}" dt="2026-03-06T20:53:13.107" v="425" actId="20577"/>
          <ac:spMkLst>
            <pc:docMk/>
            <pc:sldMk cId="1892294808" sldId="362"/>
            <ac:spMk id="3" creationId="{D70D017C-E6F7-C7C8-028E-CB0293D33867}"/>
          </ac:spMkLst>
        </pc:spChg>
        <pc:spChg chg="mod">
          <ac:chgData name="Wegener, Maximilian" userId="00319a47-5df7-4a7f-b5fd-8c1aef3f7443" providerId="ADAL" clId="{CF2CAE99-D8F5-51A4-A68C-79C1C32033F6}" dt="2026-03-16T20:01:46.792" v="4671" actId="20577"/>
          <ac:spMkLst>
            <pc:docMk/>
            <pc:sldMk cId="1892294808" sldId="362"/>
            <ac:spMk id="4" creationId="{62FCB43F-9002-F142-96B7-D1B78C10A4DE}"/>
          </ac:spMkLst>
        </pc:spChg>
        <pc:spChg chg="add mod">
          <ac:chgData name="Wegener, Maximilian" userId="00319a47-5df7-4a7f-b5fd-8c1aef3f7443" providerId="ADAL" clId="{CF2CAE99-D8F5-51A4-A68C-79C1C32033F6}" dt="2026-03-16T20:10:53.987" v="4780" actId="1076"/>
          <ac:spMkLst>
            <pc:docMk/>
            <pc:sldMk cId="1892294808" sldId="362"/>
            <ac:spMk id="11" creationId="{4FB3FE40-B81B-3AF4-B575-E5AE127788F3}"/>
          </ac:spMkLst>
        </pc:spChg>
      </pc:sldChg>
      <pc:sldChg chg="modSp mod">
        <pc:chgData name="Wegener, Maximilian" userId="00319a47-5df7-4a7f-b5fd-8c1aef3f7443" providerId="ADAL" clId="{CF2CAE99-D8F5-51A4-A68C-79C1C32033F6}" dt="2026-03-06T20:58:18.358" v="762" actId="403"/>
        <pc:sldMkLst>
          <pc:docMk/>
          <pc:sldMk cId="2450962014" sldId="377"/>
        </pc:sldMkLst>
        <pc:spChg chg="mod">
          <ac:chgData name="Wegener, Maximilian" userId="00319a47-5df7-4a7f-b5fd-8c1aef3f7443" providerId="ADAL" clId="{CF2CAE99-D8F5-51A4-A68C-79C1C32033F6}" dt="2026-03-06T20:58:18.358" v="762" actId="403"/>
          <ac:spMkLst>
            <pc:docMk/>
            <pc:sldMk cId="2450962014" sldId="377"/>
            <ac:spMk id="2" creationId="{4FB4190B-27CA-E911-E62B-858FB9E062DC}"/>
          </ac:spMkLst>
        </pc:spChg>
      </pc:sldChg>
      <pc:sldChg chg="addSp delSp modSp mod">
        <pc:chgData name="Wegener, Maximilian" userId="00319a47-5df7-4a7f-b5fd-8c1aef3f7443" providerId="ADAL" clId="{CF2CAE99-D8F5-51A4-A68C-79C1C32033F6}" dt="2026-03-11T14:22:39.852" v="3467" actId="404"/>
        <pc:sldMkLst>
          <pc:docMk/>
          <pc:sldMk cId="3997785283" sldId="422"/>
        </pc:sldMkLst>
        <pc:spChg chg="mod">
          <ac:chgData name="Wegener, Maximilian" userId="00319a47-5df7-4a7f-b5fd-8c1aef3f7443" providerId="ADAL" clId="{CF2CAE99-D8F5-51A4-A68C-79C1C32033F6}" dt="2026-03-06T20:52:25.621" v="407"/>
          <ac:spMkLst>
            <pc:docMk/>
            <pc:sldMk cId="3997785283" sldId="422"/>
            <ac:spMk id="3" creationId="{39D6F1A5-FEC3-C3B1-2D90-8F292000FD56}"/>
          </ac:spMkLst>
        </pc:spChg>
        <pc:spChg chg="mod">
          <ac:chgData name="Wegener, Maximilian" userId="00319a47-5df7-4a7f-b5fd-8c1aef3f7443" providerId="ADAL" clId="{CF2CAE99-D8F5-51A4-A68C-79C1C32033F6}" dt="2026-03-10T18:46:21.486" v="2418" actId="20577"/>
          <ac:spMkLst>
            <pc:docMk/>
            <pc:sldMk cId="3997785283" sldId="422"/>
            <ac:spMk id="5" creationId="{59F07A57-3951-62D6-40E4-F8AD9E3090F2}"/>
          </ac:spMkLst>
        </pc:spChg>
        <pc:spChg chg="add mod">
          <ac:chgData name="Wegener, Maximilian" userId="00319a47-5df7-4a7f-b5fd-8c1aef3f7443" providerId="ADAL" clId="{CF2CAE99-D8F5-51A4-A68C-79C1C32033F6}" dt="2026-03-11T14:22:39.852" v="3467" actId="404"/>
          <ac:spMkLst>
            <pc:docMk/>
            <pc:sldMk cId="3997785283" sldId="422"/>
            <ac:spMk id="7" creationId="{A147E2D3-5F44-F5A8-B6B4-D23062E8484F}"/>
          </ac:spMkLst>
        </pc:spChg>
      </pc:sldChg>
      <pc:sldChg chg="addSp delSp modSp mod ord">
        <pc:chgData name="Wegener, Maximilian" userId="00319a47-5df7-4a7f-b5fd-8c1aef3f7443" providerId="ADAL" clId="{CF2CAE99-D8F5-51A4-A68C-79C1C32033F6}" dt="2026-03-06T21:13:13.789" v="940"/>
        <pc:sldMkLst>
          <pc:docMk/>
          <pc:sldMk cId="3265380985" sldId="424"/>
        </pc:sldMkLst>
        <pc:spChg chg="add mod">
          <ac:chgData name="Wegener, Maximilian" userId="00319a47-5df7-4a7f-b5fd-8c1aef3f7443" providerId="ADAL" clId="{CF2CAE99-D8F5-51A4-A68C-79C1C32033F6}" dt="2026-03-06T21:09:02.441" v="938" actId="313"/>
          <ac:spMkLst>
            <pc:docMk/>
            <pc:sldMk cId="3265380985" sldId="424"/>
            <ac:spMk id="2" creationId="{40FBC506-323A-713D-5F7A-4FE5BA82D151}"/>
          </ac:spMkLst>
        </pc:spChg>
      </pc:sldChg>
      <pc:sldChg chg="addSp delSp modSp new mod">
        <pc:chgData name="Wegener, Maximilian" userId="00319a47-5df7-4a7f-b5fd-8c1aef3f7443" providerId="ADAL" clId="{CF2CAE99-D8F5-51A4-A68C-79C1C32033F6}" dt="2026-03-06T20:43:09.007" v="250" actId="1038"/>
        <pc:sldMkLst>
          <pc:docMk/>
          <pc:sldMk cId="3603648942" sldId="426"/>
        </pc:sldMkLst>
        <pc:spChg chg="mod">
          <ac:chgData name="Wegener, Maximilian" userId="00319a47-5df7-4a7f-b5fd-8c1aef3f7443" providerId="ADAL" clId="{CF2CAE99-D8F5-51A4-A68C-79C1C32033F6}" dt="2026-03-06T20:36:59.908" v="68" actId="1076"/>
          <ac:spMkLst>
            <pc:docMk/>
            <pc:sldMk cId="3603648942" sldId="426"/>
            <ac:spMk id="3" creationId="{76E680CD-B7B5-C696-BB7C-21441F51CADA}"/>
          </ac:spMkLst>
        </pc:spChg>
        <pc:spChg chg="add mod">
          <ac:chgData name="Wegener, Maximilian" userId="00319a47-5df7-4a7f-b5fd-8c1aef3f7443" providerId="ADAL" clId="{CF2CAE99-D8F5-51A4-A68C-79C1C32033F6}" dt="2026-03-06T20:42:01.058" v="212" actId="14100"/>
          <ac:spMkLst>
            <pc:docMk/>
            <pc:sldMk cId="3603648942" sldId="426"/>
            <ac:spMk id="8" creationId="{39FB48DB-63B4-71ED-B10C-B60B0BA7CEAD}"/>
          </ac:spMkLst>
        </pc:spChg>
        <pc:spChg chg="add mod">
          <ac:chgData name="Wegener, Maximilian" userId="00319a47-5df7-4a7f-b5fd-8c1aef3f7443" providerId="ADAL" clId="{CF2CAE99-D8F5-51A4-A68C-79C1C32033F6}" dt="2026-03-06T20:42:33.425" v="224" actId="1076"/>
          <ac:spMkLst>
            <pc:docMk/>
            <pc:sldMk cId="3603648942" sldId="426"/>
            <ac:spMk id="9" creationId="{AFF1008B-585E-0AD9-2E35-A3EF2ECC0C0B}"/>
          </ac:spMkLst>
        </pc:spChg>
        <pc:spChg chg="add mod">
          <ac:chgData name="Wegener, Maximilian" userId="00319a47-5df7-4a7f-b5fd-8c1aef3f7443" providerId="ADAL" clId="{CF2CAE99-D8F5-51A4-A68C-79C1C32033F6}" dt="2026-03-06T20:42:35.623" v="225" actId="1076"/>
          <ac:spMkLst>
            <pc:docMk/>
            <pc:sldMk cId="3603648942" sldId="426"/>
            <ac:spMk id="10" creationId="{19D59128-63A1-E1A0-9FF7-7DFB0C3CF64D}"/>
          </ac:spMkLst>
        </pc:spChg>
        <pc:spChg chg="add mod">
          <ac:chgData name="Wegener, Maximilian" userId="00319a47-5df7-4a7f-b5fd-8c1aef3f7443" providerId="ADAL" clId="{CF2CAE99-D8F5-51A4-A68C-79C1C32033F6}" dt="2026-03-06T20:43:09.007" v="250" actId="1038"/>
          <ac:spMkLst>
            <pc:docMk/>
            <pc:sldMk cId="3603648942" sldId="426"/>
            <ac:spMk id="12" creationId="{F8CDB292-324C-F089-4553-88DF1A23FEF8}"/>
          </ac:spMkLst>
        </pc:spChg>
        <pc:picChg chg="add mod">
          <ac:chgData name="Wegener, Maximilian" userId="00319a47-5df7-4a7f-b5fd-8c1aef3f7443" providerId="ADAL" clId="{CF2CAE99-D8F5-51A4-A68C-79C1C32033F6}" dt="2026-03-06T20:42:21.975" v="223" actId="1076"/>
          <ac:picMkLst>
            <pc:docMk/>
            <pc:sldMk cId="3603648942" sldId="426"/>
            <ac:picMk id="6" creationId="{BD996526-26F4-3115-3CE8-8F33F0DD0006}"/>
          </ac:picMkLst>
        </pc:picChg>
        <pc:picChg chg="add mod">
          <ac:chgData name="Wegener, Maximilian" userId="00319a47-5df7-4a7f-b5fd-8c1aef3f7443" providerId="ADAL" clId="{CF2CAE99-D8F5-51A4-A68C-79C1C32033F6}" dt="2026-03-06T20:42:19.406" v="222" actId="14100"/>
          <ac:picMkLst>
            <pc:docMk/>
            <pc:sldMk cId="3603648942" sldId="426"/>
            <ac:picMk id="11" creationId="{1ABD0FC0-A9E4-7B2E-4798-CBEA5C6EAD36}"/>
          </ac:picMkLst>
        </pc:picChg>
      </pc:sldChg>
      <pc:sldChg chg="addSp delSp modSp new mod">
        <pc:chgData name="Wegener, Maximilian" userId="00319a47-5df7-4a7f-b5fd-8c1aef3f7443" providerId="ADAL" clId="{CF2CAE99-D8F5-51A4-A68C-79C1C32033F6}" dt="2026-03-11T14:17:08.373" v="3296" actId="12"/>
        <pc:sldMkLst>
          <pc:docMk/>
          <pc:sldMk cId="1106045717" sldId="427"/>
        </pc:sldMkLst>
        <pc:spChg chg="mod">
          <ac:chgData name="Wegener, Maximilian" userId="00319a47-5df7-4a7f-b5fd-8c1aef3f7443" providerId="ADAL" clId="{CF2CAE99-D8F5-51A4-A68C-79C1C32033F6}" dt="2026-03-06T20:46:29.774" v="309" actId="108"/>
          <ac:spMkLst>
            <pc:docMk/>
            <pc:sldMk cId="1106045717" sldId="427"/>
            <ac:spMk id="3" creationId="{C2E1C7F5-A95A-8EDF-116F-175F8BD17E45}"/>
          </ac:spMkLst>
        </pc:spChg>
        <pc:spChg chg="mod">
          <ac:chgData name="Wegener, Maximilian" userId="00319a47-5df7-4a7f-b5fd-8c1aef3f7443" providerId="ADAL" clId="{CF2CAE99-D8F5-51A4-A68C-79C1C32033F6}" dt="2026-03-09T14:10:21.301" v="1455" actId="3626"/>
          <ac:spMkLst>
            <pc:docMk/>
            <pc:sldMk cId="1106045717" sldId="427"/>
            <ac:spMk id="4" creationId="{DEDA7DA6-DC81-870B-9646-A6805394DF1C}"/>
          </ac:spMkLst>
        </pc:spChg>
        <pc:spChg chg="add mod">
          <ac:chgData name="Wegener, Maximilian" userId="00319a47-5df7-4a7f-b5fd-8c1aef3f7443" providerId="ADAL" clId="{CF2CAE99-D8F5-51A4-A68C-79C1C32033F6}" dt="2026-03-11T14:17:08.373" v="3296" actId="12"/>
          <ac:spMkLst>
            <pc:docMk/>
            <pc:sldMk cId="1106045717" sldId="427"/>
            <ac:spMk id="9" creationId="{B8B8CBF1-DAAB-470C-9FE9-8EDD851C35CD}"/>
          </ac:spMkLst>
        </pc:spChg>
      </pc:sldChg>
      <pc:sldChg chg="addSp delSp modSp add mod ord">
        <pc:chgData name="Wegener, Maximilian" userId="00319a47-5df7-4a7f-b5fd-8c1aef3f7443" providerId="ADAL" clId="{CF2CAE99-D8F5-51A4-A68C-79C1C32033F6}" dt="2026-03-11T14:17:36.595" v="3314" actId="404"/>
        <pc:sldMkLst>
          <pc:docMk/>
          <pc:sldMk cId="2142179799" sldId="428"/>
        </pc:sldMkLst>
        <pc:spChg chg="mod">
          <ac:chgData name="Wegener, Maximilian" userId="00319a47-5df7-4a7f-b5fd-8c1aef3f7443" providerId="ADAL" clId="{CF2CAE99-D8F5-51A4-A68C-79C1C32033F6}" dt="2026-03-09T20:08:52.722" v="1945" actId="20577"/>
          <ac:spMkLst>
            <pc:docMk/>
            <pc:sldMk cId="2142179799" sldId="428"/>
            <ac:spMk id="4" creationId="{A24A6694-AD37-D986-4FD9-DCEF4F008702}"/>
          </ac:spMkLst>
        </pc:spChg>
        <pc:spChg chg="add mod">
          <ac:chgData name="Wegener, Maximilian" userId="00319a47-5df7-4a7f-b5fd-8c1aef3f7443" providerId="ADAL" clId="{CF2CAE99-D8F5-51A4-A68C-79C1C32033F6}" dt="2026-03-11T14:17:36.595" v="3314" actId="404"/>
          <ac:spMkLst>
            <pc:docMk/>
            <pc:sldMk cId="2142179799" sldId="428"/>
            <ac:spMk id="6" creationId="{2C8F9E86-B793-BBC9-51C7-487B4DD51170}"/>
          </ac:spMkLst>
        </pc:spChg>
      </pc:sldChg>
      <pc:sldChg chg="addSp delSp modSp add mod modNotesTx">
        <pc:chgData name="Wegener, Maximilian" userId="00319a47-5df7-4a7f-b5fd-8c1aef3f7443" providerId="ADAL" clId="{CF2CAE99-D8F5-51A4-A68C-79C1C32033F6}" dt="2026-03-09T20:23:23.167" v="2072" actId="113"/>
        <pc:sldMkLst>
          <pc:docMk/>
          <pc:sldMk cId="1626000078" sldId="429"/>
        </pc:sldMkLst>
        <pc:spChg chg="mod">
          <ac:chgData name="Wegener, Maximilian" userId="00319a47-5df7-4a7f-b5fd-8c1aef3f7443" providerId="ADAL" clId="{CF2CAE99-D8F5-51A4-A68C-79C1C32033F6}" dt="2026-03-06T20:51:29.225" v="380" actId="20577"/>
          <ac:spMkLst>
            <pc:docMk/>
            <pc:sldMk cId="1626000078" sldId="429"/>
            <ac:spMk id="4" creationId="{E66356D7-79FC-8E0D-AC40-3055E28C6D44}"/>
          </ac:spMkLst>
        </pc:spChg>
        <pc:spChg chg="add mod">
          <ac:chgData name="Wegener, Maximilian" userId="00319a47-5df7-4a7f-b5fd-8c1aef3f7443" providerId="ADAL" clId="{CF2CAE99-D8F5-51A4-A68C-79C1C32033F6}" dt="2026-03-09T20:23:23.167" v="2072" actId="113"/>
          <ac:spMkLst>
            <pc:docMk/>
            <pc:sldMk cId="1626000078" sldId="429"/>
            <ac:spMk id="10" creationId="{143AF03F-C51C-4AB7-3BA9-82EBA5C35BD5}"/>
          </ac:spMkLst>
        </pc:spChg>
      </pc:sldChg>
      <pc:sldChg chg="addSp delSp modSp add mod ord">
        <pc:chgData name="Wegener, Maximilian" userId="00319a47-5df7-4a7f-b5fd-8c1aef3f7443" providerId="ADAL" clId="{CF2CAE99-D8F5-51A4-A68C-79C1C32033F6}" dt="2026-03-12T20:46:09.579" v="4454" actId="207"/>
        <pc:sldMkLst>
          <pc:docMk/>
          <pc:sldMk cId="1642128091" sldId="431"/>
        </pc:sldMkLst>
        <pc:spChg chg="mod">
          <ac:chgData name="Wegener, Maximilian" userId="00319a47-5df7-4a7f-b5fd-8c1aef3f7443" providerId="ADAL" clId="{CF2CAE99-D8F5-51A4-A68C-79C1C32033F6}" dt="2026-03-06T20:55:56.132" v="533" actId="20577"/>
          <ac:spMkLst>
            <pc:docMk/>
            <pc:sldMk cId="1642128091" sldId="431"/>
            <ac:spMk id="4" creationId="{CFCA11BF-8E71-CA2C-447F-5848EEE36835}"/>
          </ac:spMkLst>
        </pc:spChg>
        <pc:spChg chg="add mod">
          <ac:chgData name="Wegener, Maximilian" userId="00319a47-5df7-4a7f-b5fd-8c1aef3f7443" providerId="ADAL" clId="{CF2CAE99-D8F5-51A4-A68C-79C1C32033F6}" dt="2026-03-12T20:46:09.579" v="4454" actId="207"/>
          <ac:spMkLst>
            <pc:docMk/>
            <pc:sldMk cId="1642128091" sldId="431"/>
            <ac:spMk id="6" creationId="{BBF3EBBA-AC4C-04F2-8758-6D508C6777A4}"/>
          </ac:spMkLst>
        </pc:spChg>
      </pc:sldChg>
      <pc:sldChg chg="addSp delSp modSp add mod">
        <pc:chgData name="Wegener, Maximilian" userId="00319a47-5df7-4a7f-b5fd-8c1aef3f7443" providerId="ADAL" clId="{CF2CAE99-D8F5-51A4-A68C-79C1C32033F6}" dt="2026-03-12T20:49:33.627" v="4524" actId="20577"/>
        <pc:sldMkLst>
          <pc:docMk/>
          <pc:sldMk cId="3715177331" sldId="432"/>
        </pc:sldMkLst>
        <pc:spChg chg="add mod">
          <ac:chgData name="Wegener, Maximilian" userId="00319a47-5df7-4a7f-b5fd-8c1aef3f7443" providerId="ADAL" clId="{CF2CAE99-D8F5-51A4-A68C-79C1C32033F6}" dt="2026-03-12T20:49:33.627" v="4524" actId="20577"/>
          <ac:spMkLst>
            <pc:docMk/>
            <pc:sldMk cId="3715177331" sldId="432"/>
            <ac:spMk id="9" creationId="{41157E34-AEC8-FD2F-50FA-8C482E075CAD}"/>
          </ac:spMkLst>
        </pc:spChg>
      </pc:sldChg>
      <pc:sldChg chg="addSp delSp modSp add mod">
        <pc:chgData name="Wegener, Maximilian" userId="00319a47-5df7-4a7f-b5fd-8c1aef3f7443" providerId="ADAL" clId="{CF2CAE99-D8F5-51A4-A68C-79C1C32033F6}" dt="2026-03-17T15:21:11.732" v="5660" actId="1076"/>
        <pc:sldMkLst>
          <pc:docMk/>
          <pc:sldMk cId="2724629737" sldId="434"/>
        </pc:sldMkLst>
        <pc:spChg chg="del mod">
          <ac:chgData name="Wegener, Maximilian" userId="00319a47-5df7-4a7f-b5fd-8c1aef3f7443" providerId="ADAL" clId="{CF2CAE99-D8F5-51A4-A68C-79C1C32033F6}" dt="2026-03-17T13:42:10.968" v="5419" actId="478"/>
          <ac:spMkLst>
            <pc:docMk/>
            <pc:sldMk cId="2724629737" sldId="434"/>
            <ac:spMk id="2" creationId="{0A0AD051-9697-62EB-99FA-AA5D30C88F6C}"/>
          </ac:spMkLst>
        </pc:spChg>
        <pc:spChg chg="mod">
          <ac:chgData name="Wegener, Maximilian" userId="00319a47-5df7-4a7f-b5fd-8c1aef3f7443" providerId="ADAL" clId="{CF2CAE99-D8F5-51A4-A68C-79C1C32033F6}" dt="2026-03-17T15:06:30.304" v="5479" actId="20577"/>
          <ac:spMkLst>
            <pc:docMk/>
            <pc:sldMk cId="2724629737" sldId="434"/>
            <ac:spMk id="3" creationId="{29B04AAE-7C36-A643-11D0-9191DEF7C835}"/>
          </ac:spMkLst>
        </pc:spChg>
        <pc:spChg chg="add mod">
          <ac:chgData name="Wegener, Maximilian" userId="00319a47-5df7-4a7f-b5fd-8c1aef3f7443" providerId="ADAL" clId="{CF2CAE99-D8F5-51A4-A68C-79C1C32033F6}" dt="2026-03-17T15:21:11.732" v="5660" actId="1076"/>
          <ac:spMkLst>
            <pc:docMk/>
            <pc:sldMk cId="2724629737" sldId="434"/>
            <ac:spMk id="4" creationId="{06F08708-6D40-2175-1B4D-2AB52CEEDECD}"/>
          </ac:spMkLst>
        </pc:spChg>
        <pc:spChg chg="add del mod">
          <ac:chgData name="Wegener, Maximilian" userId="00319a47-5df7-4a7f-b5fd-8c1aef3f7443" providerId="ADAL" clId="{CF2CAE99-D8F5-51A4-A68C-79C1C32033F6}" dt="2026-03-17T13:42:20.282" v="5421" actId="478"/>
          <ac:spMkLst>
            <pc:docMk/>
            <pc:sldMk cId="2724629737" sldId="434"/>
            <ac:spMk id="7" creationId="{0F5E2739-263C-8EBA-EAA5-4ADCF6FF2200}"/>
          </ac:spMkLst>
        </pc:spChg>
        <pc:spChg chg="add del mod">
          <ac:chgData name="Wegener, Maximilian" userId="00319a47-5df7-4a7f-b5fd-8c1aef3f7443" providerId="ADAL" clId="{CF2CAE99-D8F5-51A4-A68C-79C1C32033F6}" dt="2026-03-17T15:12:58.692" v="5547" actId="47"/>
          <ac:spMkLst>
            <pc:docMk/>
            <pc:sldMk cId="2724629737" sldId="434"/>
            <ac:spMk id="8" creationId="{263E7C6D-F391-DA84-88A3-422F3F19A479}"/>
          </ac:spMkLst>
        </pc:spChg>
        <pc:spChg chg="add del mod">
          <ac:chgData name="Wegener, Maximilian" userId="00319a47-5df7-4a7f-b5fd-8c1aef3f7443" providerId="ADAL" clId="{CF2CAE99-D8F5-51A4-A68C-79C1C32033F6}" dt="2026-03-17T15:18:28.933" v="5560" actId="478"/>
          <ac:spMkLst>
            <pc:docMk/>
            <pc:sldMk cId="2724629737" sldId="434"/>
            <ac:spMk id="9" creationId="{90F8BDE7-2C41-1681-3B72-7642A4CBB04D}"/>
          </ac:spMkLst>
        </pc:spChg>
      </pc:sldChg>
      <pc:sldChg chg="addSp delSp modSp add mod">
        <pc:chgData name="Wegener, Maximilian" userId="00319a47-5df7-4a7f-b5fd-8c1aef3f7443" providerId="ADAL" clId="{CF2CAE99-D8F5-51A4-A68C-79C1C32033F6}" dt="2026-03-11T14:18:04.966" v="3332" actId="404"/>
        <pc:sldMkLst>
          <pc:docMk/>
          <pc:sldMk cId="87568463" sldId="435"/>
        </pc:sldMkLst>
        <pc:spChg chg="mod">
          <ac:chgData name="Wegener, Maximilian" userId="00319a47-5df7-4a7f-b5fd-8c1aef3f7443" providerId="ADAL" clId="{CF2CAE99-D8F5-51A4-A68C-79C1C32033F6}" dt="2026-03-09T14:10:43.090" v="1461" actId="3626"/>
          <ac:spMkLst>
            <pc:docMk/>
            <pc:sldMk cId="87568463" sldId="435"/>
            <ac:spMk id="4" creationId="{D6712E7E-82DD-F6F4-A0D1-B0F47CFA51BB}"/>
          </ac:spMkLst>
        </pc:spChg>
        <pc:spChg chg="add mod">
          <ac:chgData name="Wegener, Maximilian" userId="00319a47-5df7-4a7f-b5fd-8c1aef3f7443" providerId="ADAL" clId="{CF2CAE99-D8F5-51A4-A68C-79C1C32033F6}" dt="2026-03-11T14:18:04.966" v="3332" actId="404"/>
          <ac:spMkLst>
            <pc:docMk/>
            <pc:sldMk cId="87568463" sldId="435"/>
            <ac:spMk id="8" creationId="{570AB034-4FF9-5F74-4FCE-B53CF981A8C4}"/>
          </ac:spMkLst>
        </pc:spChg>
      </pc:sldChg>
      <pc:sldChg chg="addSp delSp modSp add mod ord">
        <pc:chgData name="Wegener, Maximilian" userId="00319a47-5df7-4a7f-b5fd-8c1aef3f7443" providerId="ADAL" clId="{CF2CAE99-D8F5-51A4-A68C-79C1C32033F6}" dt="2026-03-18T14:01:43.175" v="5826" actId="20577"/>
        <pc:sldMkLst>
          <pc:docMk/>
          <pc:sldMk cId="727022196" sldId="437"/>
        </pc:sldMkLst>
        <pc:spChg chg="mod">
          <ac:chgData name="Wegener, Maximilian" userId="00319a47-5df7-4a7f-b5fd-8c1aef3f7443" providerId="ADAL" clId="{CF2CAE99-D8F5-51A4-A68C-79C1C32033F6}" dt="2026-03-18T13:54:38.544" v="5680" actId="20577"/>
          <ac:spMkLst>
            <pc:docMk/>
            <pc:sldMk cId="727022196" sldId="437"/>
            <ac:spMk id="3" creationId="{14B51679-0775-CD5C-A896-7D2AAB7822B0}"/>
          </ac:spMkLst>
        </pc:spChg>
        <pc:spChg chg="del">
          <ac:chgData name="Wegener, Maximilian" userId="00319a47-5df7-4a7f-b5fd-8c1aef3f7443" providerId="ADAL" clId="{CF2CAE99-D8F5-51A4-A68C-79C1C32033F6}" dt="2026-03-18T13:54:42.949" v="5681" actId="478"/>
          <ac:spMkLst>
            <pc:docMk/>
            <pc:sldMk cId="727022196" sldId="437"/>
            <ac:spMk id="4" creationId="{4DA8DD31-DD82-BF9B-173D-2AAAEB5617D1}"/>
          </ac:spMkLst>
        </pc:spChg>
        <pc:spChg chg="del mod">
          <ac:chgData name="Wegener, Maximilian" userId="00319a47-5df7-4a7f-b5fd-8c1aef3f7443" providerId="ADAL" clId="{CF2CAE99-D8F5-51A4-A68C-79C1C32033F6}" dt="2026-03-18T13:55:05.644" v="5687" actId="478"/>
          <ac:spMkLst>
            <pc:docMk/>
            <pc:sldMk cId="727022196" sldId="437"/>
            <ac:spMk id="6" creationId="{4156A072-4103-570C-2FC1-7D9050CB9F4B}"/>
          </ac:spMkLst>
        </pc:spChg>
        <pc:spChg chg="del mod">
          <ac:chgData name="Wegener, Maximilian" userId="00319a47-5df7-4a7f-b5fd-8c1aef3f7443" providerId="ADAL" clId="{CF2CAE99-D8F5-51A4-A68C-79C1C32033F6}" dt="2026-03-18T13:55:01.263" v="5685" actId="478"/>
          <ac:spMkLst>
            <pc:docMk/>
            <pc:sldMk cId="727022196" sldId="437"/>
            <ac:spMk id="7" creationId="{A6FB7224-F318-F818-6B05-973D8D675824}"/>
          </ac:spMkLst>
        </pc:spChg>
        <pc:spChg chg="add del mod">
          <ac:chgData name="Wegener, Maximilian" userId="00319a47-5df7-4a7f-b5fd-8c1aef3f7443" providerId="ADAL" clId="{CF2CAE99-D8F5-51A4-A68C-79C1C32033F6}" dt="2026-03-18T13:54:44.945" v="5682" actId="478"/>
          <ac:spMkLst>
            <pc:docMk/>
            <pc:sldMk cId="727022196" sldId="437"/>
            <ac:spMk id="8" creationId="{0018217C-8E03-4A82-D5FF-60DC4CC30B43}"/>
          </ac:spMkLst>
        </pc:spChg>
        <pc:spChg chg="add mod">
          <ac:chgData name="Wegener, Maximilian" userId="00319a47-5df7-4a7f-b5fd-8c1aef3f7443" providerId="ADAL" clId="{CF2CAE99-D8F5-51A4-A68C-79C1C32033F6}" dt="2026-03-18T14:01:43.175" v="5826" actId="20577"/>
          <ac:spMkLst>
            <pc:docMk/>
            <pc:sldMk cId="727022196" sldId="437"/>
            <ac:spMk id="9" creationId="{B389CCB7-D89C-C2EE-C96D-3D03EF74058E}"/>
          </ac:spMkLst>
        </pc:spChg>
      </pc:sldChg>
      <pc:sldChg chg="addSp delSp modSp add mod">
        <pc:chgData name="Wegener, Maximilian" userId="00319a47-5df7-4a7f-b5fd-8c1aef3f7443" providerId="ADAL" clId="{CF2CAE99-D8F5-51A4-A68C-79C1C32033F6}" dt="2026-03-11T14:19:13.618" v="3358" actId="1076"/>
        <pc:sldMkLst>
          <pc:docMk/>
          <pc:sldMk cId="441020096" sldId="438"/>
        </pc:sldMkLst>
        <pc:spChg chg="mod">
          <ac:chgData name="Wegener, Maximilian" userId="00319a47-5df7-4a7f-b5fd-8c1aef3f7443" providerId="ADAL" clId="{CF2CAE99-D8F5-51A4-A68C-79C1C32033F6}" dt="2026-03-11T14:19:13.618" v="3358" actId="1076"/>
          <ac:spMkLst>
            <pc:docMk/>
            <pc:sldMk cId="441020096" sldId="438"/>
            <ac:spMk id="7" creationId="{806BA540-4790-BD28-D363-C523E30DB0DA}"/>
          </ac:spMkLst>
        </pc:spChg>
      </pc:sldChg>
      <pc:sldChg chg="addSp delSp modSp add mod">
        <pc:chgData name="Wegener, Maximilian" userId="00319a47-5df7-4a7f-b5fd-8c1aef3f7443" providerId="ADAL" clId="{CF2CAE99-D8F5-51A4-A68C-79C1C32033F6}" dt="2026-03-11T15:00:09.455" v="4245" actId="1076"/>
        <pc:sldMkLst>
          <pc:docMk/>
          <pc:sldMk cId="873603648" sldId="439"/>
        </pc:sldMkLst>
        <pc:spChg chg="mod">
          <ac:chgData name="Wegener, Maximilian" userId="00319a47-5df7-4a7f-b5fd-8c1aef3f7443" providerId="ADAL" clId="{CF2CAE99-D8F5-51A4-A68C-79C1C32033F6}" dt="2026-03-11T14:31:18.645" v="3605" actId="20577"/>
          <ac:spMkLst>
            <pc:docMk/>
            <pc:sldMk cId="873603648" sldId="439"/>
            <ac:spMk id="4" creationId="{4B689A39-389A-FAE1-B40D-565D338787F1}"/>
          </ac:spMkLst>
        </pc:spChg>
        <pc:spChg chg="add mod">
          <ac:chgData name="Wegener, Maximilian" userId="00319a47-5df7-4a7f-b5fd-8c1aef3f7443" providerId="ADAL" clId="{CF2CAE99-D8F5-51A4-A68C-79C1C32033F6}" dt="2026-03-11T15:00:09.455" v="4245" actId="1076"/>
          <ac:spMkLst>
            <pc:docMk/>
            <pc:sldMk cId="873603648" sldId="439"/>
            <ac:spMk id="8" creationId="{734DD4A7-2766-CEEE-F8E6-E314195EAE3E}"/>
          </ac:spMkLst>
        </pc:spChg>
      </pc:sldChg>
      <pc:sldChg chg="addSp delSp modSp add mod">
        <pc:chgData name="Wegener, Maximilian" userId="00319a47-5df7-4a7f-b5fd-8c1aef3f7443" providerId="ADAL" clId="{CF2CAE99-D8F5-51A4-A68C-79C1C32033F6}" dt="2026-03-16T20:12:09.623" v="4803" actId="1076"/>
        <pc:sldMkLst>
          <pc:docMk/>
          <pc:sldMk cId="2032281802" sldId="440"/>
        </pc:sldMkLst>
        <pc:spChg chg="mod">
          <ac:chgData name="Wegener, Maximilian" userId="00319a47-5df7-4a7f-b5fd-8c1aef3f7443" providerId="ADAL" clId="{CF2CAE99-D8F5-51A4-A68C-79C1C32033F6}" dt="2026-03-16T20:12:09.623" v="4803" actId="1076"/>
          <ac:spMkLst>
            <pc:docMk/>
            <pc:sldMk cId="2032281802" sldId="440"/>
            <ac:spMk id="11" creationId="{547C9DAF-31E3-E036-9412-26D440B3AB48}"/>
          </ac:spMkLst>
        </pc:spChg>
      </pc:sldChg>
      <pc:sldChg chg="addSp delSp modSp add mod">
        <pc:chgData name="Wegener, Maximilian" userId="00319a47-5df7-4a7f-b5fd-8c1aef3f7443" providerId="ADAL" clId="{CF2CAE99-D8F5-51A4-A68C-79C1C32033F6}" dt="2026-03-16T20:13:31.286" v="4837" actId="1076"/>
        <pc:sldMkLst>
          <pc:docMk/>
          <pc:sldMk cId="4201326733" sldId="441"/>
        </pc:sldMkLst>
        <pc:spChg chg="mod">
          <ac:chgData name="Wegener, Maximilian" userId="00319a47-5df7-4a7f-b5fd-8c1aef3f7443" providerId="ADAL" clId="{CF2CAE99-D8F5-51A4-A68C-79C1C32033F6}" dt="2026-03-16T20:13:31.286" v="4837" actId="1076"/>
          <ac:spMkLst>
            <pc:docMk/>
            <pc:sldMk cId="4201326733" sldId="441"/>
            <ac:spMk id="11" creationId="{B54C1174-79CB-2D87-4CB3-A1909E7753E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B8440E-8C35-1142-93FC-F32DCB9C4FDA}" type="datetimeFigureOut">
              <a:rPr lang="en-US" smtClean="0"/>
              <a:t>3/18/26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B4ED3A-914E-6443-A2E7-C28A873C6BCA}" type="slidenum">
              <a:rPr lang="en-US" smtClean="0"/>
              <a:t>‹#›</a:t>
            </a:fld>
            <a:endParaRPr lang="en-US"/>
          </a:p>
        </p:txBody>
      </p:sp>
    </p:spTree>
    <p:extLst>
      <p:ext uri="{BB962C8B-B14F-4D97-AF65-F5344CB8AC3E}">
        <p14:creationId xmlns:p14="http://schemas.microsoft.com/office/powerpoint/2010/main" val="277027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1</a:t>
            </a:fld>
            <a:endParaRPr lang="en-US"/>
          </a:p>
        </p:txBody>
      </p:sp>
    </p:spTree>
    <p:extLst>
      <p:ext uri="{BB962C8B-B14F-4D97-AF65-F5344CB8AC3E}">
        <p14:creationId xmlns:p14="http://schemas.microsoft.com/office/powerpoint/2010/main" val="1785105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2</a:t>
            </a:fld>
            <a:endParaRPr lang="en-US"/>
          </a:p>
        </p:txBody>
      </p:sp>
    </p:spTree>
    <p:extLst>
      <p:ext uri="{BB962C8B-B14F-4D97-AF65-F5344CB8AC3E}">
        <p14:creationId xmlns:p14="http://schemas.microsoft.com/office/powerpoint/2010/main" val="1457215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3</a:t>
            </a:fld>
            <a:endParaRPr lang="en-US"/>
          </a:p>
        </p:txBody>
      </p:sp>
    </p:spTree>
    <p:extLst>
      <p:ext uri="{BB962C8B-B14F-4D97-AF65-F5344CB8AC3E}">
        <p14:creationId xmlns:p14="http://schemas.microsoft.com/office/powerpoint/2010/main" val="41743038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A3F7-1F79-AECB-7BBB-2B9AF607B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157CF-906C-E214-DD0D-02B4B0CC78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C33BF-D4DC-80BD-24CA-A1402EE7BC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5F2446-21D8-81B1-326C-89AF74DE9193}"/>
              </a:ext>
            </a:extLst>
          </p:cNvPr>
          <p:cNvSpPr>
            <a:spLocks noGrp="1"/>
          </p:cNvSpPr>
          <p:nvPr>
            <p:ph type="sldNum" sz="quarter" idx="5"/>
          </p:nvPr>
        </p:nvSpPr>
        <p:spPr/>
        <p:txBody>
          <a:bodyPr/>
          <a:lstStyle/>
          <a:p>
            <a:fld id="{50049E44-D13C-C54E-8DA3-DB5207EAD25C}" type="slidenum">
              <a:rPr lang="en-US" smtClean="0"/>
              <a:t>4</a:t>
            </a:fld>
            <a:endParaRPr lang="en-US"/>
          </a:p>
        </p:txBody>
      </p:sp>
    </p:spTree>
    <p:extLst>
      <p:ext uri="{BB962C8B-B14F-4D97-AF65-F5344CB8AC3E}">
        <p14:creationId xmlns:p14="http://schemas.microsoft.com/office/powerpoint/2010/main" val="15057023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5</a:t>
            </a:fld>
            <a:endParaRPr lang="en-US"/>
          </a:p>
        </p:txBody>
      </p:sp>
    </p:spTree>
    <p:extLst>
      <p:ext uri="{BB962C8B-B14F-4D97-AF65-F5344CB8AC3E}">
        <p14:creationId xmlns:p14="http://schemas.microsoft.com/office/powerpoint/2010/main" val="22675662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6</a:t>
            </a:fld>
            <a:endParaRPr lang="en-US"/>
          </a:p>
        </p:txBody>
      </p:sp>
    </p:spTree>
    <p:extLst>
      <p:ext uri="{BB962C8B-B14F-4D97-AF65-F5344CB8AC3E}">
        <p14:creationId xmlns:p14="http://schemas.microsoft.com/office/powerpoint/2010/main" val="8565380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28447-29D2-7AF9-D94A-A7DFC9BCD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502A6-707B-DB9F-6501-ABA6F61DC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EDCE2-5287-4004-95D1-9D060702A10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5EFCF41-82EB-3DEE-2BAD-A011C8C2DF48}"/>
              </a:ext>
            </a:extLst>
          </p:cNvPr>
          <p:cNvSpPr>
            <a:spLocks noGrp="1"/>
          </p:cNvSpPr>
          <p:nvPr>
            <p:ph type="sldNum" sz="quarter" idx="5"/>
          </p:nvPr>
        </p:nvSpPr>
        <p:spPr/>
        <p:txBody>
          <a:bodyPr/>
          <a:lstStyle/>
          <a:p>
            <a:fld id="{A5B4ED3A-914E-6443-A2E7-C28A873C6BCA}" type="slidenum">
              <a:rPr lang="en-US" smtClean="0"/>
              <a:t>7</a:t>
            </a:fld>
            <a:endParaRPr lang="en-US"/>
          </a:p>
        </p:txBody>
      </p:sp>
    </p:spTree>
    <p:extLst>
      <p:ext uri="{BB962C8B-B14F-4D97-AF65-F5344CB8AC3E}">
        <p14:creationId xmlns:p14="http://schemas.microsoft.com/office/powerpoint/2010/main" val="41501224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Precision Oncology:</a:t>
            </a:r>
            <a:r>
              <a:rPr lang="en-US" dirty="0"/>
              <a:t> Yale researchers are developing AI frameworks to integrate clinical, genetic, and phenotypic data to create </a:t>
            </a:r>
            <a:r>
              <a:rPr lang="en-US" b="1" dirty="0"/>
              <a:t>patient-specific prognostic tests</a:t>
            </a:r>
            <a:r>
              <a:rPr lang="en-US" dirty="0"/>
              <a:t>, particularly for aggressive cancers like glioblastoma.</a:t>
            </a:r>
          </a:p>
          <a:p>
            <a:endParaRPr lang="en-US" dirty="0"/>
          </a:p>
          <a:p>
            <a:r>
              <a:rPr lang="en-US" b="1" dirty="0"/>
              <a:t>The "Me-</a:t>
            </a:r>
            <a:r>
              <a:rPr lang="en-US" b="1" dirty="0" err="1"/>
              <a:t>LLaMA</a:t>
            </a:r>
            <a:r>
              <a:rPr lang="en-US" b="1" dirty="0"/>
              <a:t>" Project:</a:t>
            </a:r>
            <a:r>
              <a:rPr lang="en-US" dirty="0"/>
              <a:t> A Yale-developed clinical chatbot designed to assist in </a:t>
            </a:r>
            <a:r>
              <a:rPr lang="en-US" b="1" dirty="0"/>
              <a:t>diagnosing complex medical </a:t>
            </a:r>
            <a:r>
              <a:rPr lang="en-US" b="1" dirty="0" err="1"/>
              <a:t>cases</a:t>
            </a:r>
            <a:r>
              <a:rPr lang="en-US" dirty="0" err="1"/>
              <a:t>and</a:t>
            </a:r>
            <a:r>
              <a:rPr lang="en-US" dirty="0"/>
              <a:t> summarizing clinical data, built to handle the nuances of medical terminology better than general-purpose AI.</a:t>
            </a:r>
          </a:p>
          <a:p>
            <a:endParaRPr lang="en-US" b="1" dirty="0"/>
          </a:p>
          <a:p>
            <a:r>
              <a:rPr lang="en-US" b="1" dirty="0"/>
              <a:t>Spatial Multi-Modal Embeddings (</a:t>
            </a:r>
            <a:r>
              <a:rPr lang="en-US" b="1" dirty="0" err="1"/>
              <a:t>spEMO</a:t>
            </a:r>
            <a:r>
              <a:rPr lang="en-US" b="1" dirty="0"/>
              <a:t>):</a:t>
            </a:r>
            <a:r>
              <a:rPr lang="en-US" dirty="0"/>
              <a:t> A new tool from the Yale School of Public Health that uses AI to combine tissue slide images with gene and protein activity. It helps scientists "see" how cells interact in diseased tissue and even </a:t>
            </a:r>
            <a:r>
              <a:rPr lang="en-US" b="1" dirty="0"/>
              <a:t>drafts medical reports</a:t>
            </a:r>
            <a:r>
              <a:rPr lang="en-US" dirty="0"/>
              <a:t> for pathologists.</a:t>
            </a:r>
          </a:p>
          <a:p>
            <a:r>
              <a:rPr lang="en-US" dirty="0"/>
              <a:t>+1</a:t>
            </a:r>
          </a:p>
          <a:p>
            <a:endParaRPr lang="en-US" dirty="0"/>
          </a:p>
          <a:p>
            <a:r>
              <a:rPr lang="en-US" b="1" dirty="0" err="1"/>
              <a:t>CardioGenAI</a:t>
            </a:r>
            <a:r>
              <a:rPr lang="en-US" b="1" dirty="0"/>
              <a:t> &amp; Drug Discovery:</a:t>
            </a:r>
            <a:r>
              <a:rPr lang="en-US" dirty="0"/>
              <a:t> Yale-affiliated ventures are using generative models to design and synthesize </a:t>
            </a:r>
            <a:r>
              <a:rPr lang="en-US" b="1" dirty="0"/>
              <a:t>novel small molecules</a:t>
            </a:r>
            <a:r>
              <a:rPr lang="en-US" dirty="0"/>
              <a:t> for autoimmune diseases and cancer, drastically shortening the time to validate new drug leads.</a:t>
            </a:r>
          </a:p>
          <a:p>
            <a:endParaRPr lang="en-US" dirty="0"/>
          </a:p>
          <a:p>
            <a:r>
              <a:rPr lang="en-US" b="1" dirty="0"/>
              <a:t>Science Dissemination (Neurology):</a:t>
            </a:r>
            <a:r>
              <a:rPr lang="en-US" dirty="0"/>
              <a:t> Researchers in the Department of Neurology are using GenAI (Google Notebook-LM) to transform complex flagship guidelines into </a:t>
            </a:r>
            <a:r>
              <a:rPr lang="en-US" b="1" dirty="0"/>
              <a:t>synthetic podcasts and FAQs</a:t>
            </a:r>
            <a:r>
              <a:rPr lang="en-US" dirty="0"/>
              <a:t> to make cutting-edge stroke research more accessible to clinicians.</a:t>
            </a:r>
          </a:p>
          <a:p>
            <a:endParaRPr lang="en-US" dirty="0"/>
          </a:p>
          <a:p>
            <a:r>
              <a:rPr lang="en-US" b="1" dirty="0"/>
              <a:t>The "Digital Twin" Concept:</a:t>
            </a:r>
            <a:r>
              <a:rPr lang="en-US" dirty="0"/>
              <a:t> Ongoing research in therapeutic radiology at Yale uses AI to build </a:t>
            </a:r>
            <a:r>
              <a:rPr lang="en-US" b="1" dirty="0"/>
              <a:t>computational replicas</a:t>
            </a:r>
            <a:r>
              <a:rPr lang="en-US" dirty="0"/>
              <a:t> of patients to simulate how they might respond to specific radiation therapies before treatment begins.</a:t>
            </a:r>
          </a:p>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8</a:t>
            </a:fld>
            <a:endParaRPr lang="en-US"/>
          </a:p>
        </p:txBody>
      </p:sp>
    </p:spTree>
    <p:extLst>
      <p:ext uri="{BB962C8B-B14F-4D97-AF65-F5344CB8AC3E}">
        <p14:creationId xmlns:p14="http://schemas.microsoft.com/office/powerpoint/2010/main" val="24255255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Have you used any AI chatbot for any reason before?</a:t>
            </a:r>
          </a:p>
          <a:p>
            <a:r>
              <a:rPr lang="en-US"/>
              <a:t>https://www.polleverywhere.com/multiple_choice_polls/viXjqA8KjImbZMPArxaVL?state=opened&amp;flow=Default&amp;onscreen=persist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9</a:t>
            </a:fld>
            <a:endParaRPr lang="en-US"/>
          </a:p>
        </p:txBody>
      </p:sp>
    </p:spTree>
    <p:extLst>
      <p:ext uri="{BB962C8B-B14F-4D97-AF65-F5344CB8AC3E}">
        <p14:creationId xmlns:p14="http://schemas.microsoft.com/office/powerpoint/2010/main" val="23858956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Have you heard of Clarity before this course?</a:t>
            </a:r>
          </a:p>
          <a:p>
            <a:r>
              <a:rPr lang="en-US"/>
              <a:t>https://www.polleverywhere.com/multiple_choice_polls/gFSc3Cu7azVJShfC6M9zV?state=opened&amp;flow=Default&amp;onscreen=persist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10</a:t>
            </a:fld>
            <a:endParaRPr lang="en-US"/>
          </a:p>
        </p:txBody>
      </p:sp>
    </p:spTree>
    <p:extLst>
      <p:ext uri="{BB962C8B-B14F-4D97-AF65-F5344CB8AC3E}">
        <p14:creationId xmlns:p14="http://schemas.microsoft.com/office/powerpoint/2010/main" val="41135929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58F7B-596B-0B41-2812-86B521A562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4384D6-FAAD-213C-C328-C27E2A8FED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F6CD7-A82D-B534-DF37-D12FE72F7E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920F8-D45A-CF55-54B9-6E9FBF6BDE77}"/>
              </a:ext>
            </a:extLst>
          </p:cNvPr>
          <p:cNvSpPr>
            <a:spLocks noGrp="1"/>
          </p:cNvSpPr>
          <p:nvPr>
            <p:ph type="sldNum" sz="quarter" idx="5"/>
          </p:nvPr>
        </p:nvSpPr>
        <p:spPr/>
        <p:txBody>
          <a:bodyPr/>
          <a:lstStyle/>
          <a:p>
            <a:fld id="{A5B4ED3A-914E-6443-A2E7-C28A873C6BCA}" type="slidenum">
              <a:rPr lang="en-US" smtClean="0"/>
              <a:t>11</a:t>
            </a:fld>
            <a:endParaRPr lang="en-US"/>
          </a:p>
        </p:txBody>
      </p:sp>
    </p:spTree>
    <p:extLst>
      <p:ext uri="{BB962C8B-B14F-4D97-AF65-F5344CB8AC3E}">
        <p14:creationId xmlns:p14="http://schemas.microsoft.com/office/powerpoint/2010/main" val="23672861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AEB8F-02F3-0D2B-E59F-7FEF576F2A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78F123-A0AD-DEFC-E58F-DE4F774B3B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EC14FB-04D3-FB04-8665-9E9DFCFB67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08167-CB29-EAD1-66DF-4396EF46407C}"/>
              </a:ext>
            </a:extLst>
          </p:cNvPr>
          <p:cNvSpPr>
            <a:spLocks noGrp="1"/>
          </p:cNvSpPr>
          <p:nvPr>
            <p:ph type="sldNum" sz="quarter" idx="5"/>
          </p:nvPr>
        </p:nvSpPr>
        <p:spPr/>
        <p:txBody>
          <a:bodyPr/>
          <a:lstStyle/>
          <a:p>
            <a:fld id="{A5B4ED3A-914E-6443-A2E7-C28A873C6BCA}" type="slidenum">
              <a:rPr lang="en-US" smtClean="0"/>
              <a:t>12</a:t>
            </a:fld>
            <a:endParaRPr lang="en-US"/>
          </a:p>
        </p:txBody>
      </p:sp>
    </p:spTree>
    <p:extLst>
      <p:ext uri="{BB962C8B-B14F-4D97-AF65-F5344CB8AC3E}">
        <p14:creationId xmlns:p14="http://schemas.microsoft.com/office/powerpoint/2010/main" val="30742536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Which platform do you use the most</a:t>
            </a:r>
          </a:p>
          <a:p>
            <a:r>
              <a:rPr lang="en-US"/>
              <a:t>https://www.polleverywhere.com/ranking_polls/6V0rBP2FWxZcxNCaVjD7y</a:t>
            </a:r>
          </a:p>
        </p:txBody>
      </p:sp>
      <p:sp>
        <p:nvSpPr>
          <p:cNvPr id="4" name="Slide Number Placeholder 3"/>
          <p:cNvSpPr>
            <a:spLocks noGrp="1"/>
          </p:cNvSpPr>
          <p:nvPr>
            <p:ph type="sldNum" sz="quarter" idx="5"/>
          </p:nvPr>
        </p:nvSpPr>
        <p:spPr/>
        <p:txBody>
          <a:bodyPr/>
          <a:lstStyle/>
          <a:p>
            <a:fld id="{A5B4ED3A-914E-6443-A2E7-C28A873C6BCA}" type="slidenum">
              <a:rPr lang="en-US" smtClean="0"/>
              <a:t>13</a:t>
            </a:fld>
            <a:endParaRPr lang="en-US"/>
          </a:p>
        </p:txBody>
      </p:sp>
    </p:spTree>
    <p:extLst>
      <p:ext uri="{BB962C8B-B14F-4D97-AF65-F5344CB8AC3E}">
        <p14:creationId xmlns:p14="http://schemas.microsoft.com/office/powerpoint/2010/main" val="1587444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AB7DB-C4EA-6222-754C-FE2C2C148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E8903D-04C0-9149-2C97-209AFC7D85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FECE0E-9790-BC83-EF4A-24859B22CC8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149712E-4680-6F9E-367D-EE81C86B90CB}"/>
              </a:ext>
            </a:extLst>
          </p:cNvPr>
          <p:cNvSpPr>
            <a:spLocks noGrp="1"/>
          </p:cNvSpPr>
          <p:nvPr>
            <p:ph type="sldNum" sz="quarter" idx="5"/>
          </p:nvPr>
        </p:nvSpPr>
        <p:spPr/>
        <p:txBody>
          <a:bodyPr/>
          <a:lstStyle/>
          <a:p>
            <a:fld id="{A5B4ED3A-914E-6443-A2E7-C28A873C6BCA}" type="slidenum">
              <a:rPr lang="en-US" smtClean="0"/>
              <a:t>14</a:t>
            </a:fld>
            <a:endParaRPr lang="en-US"/>
          </a:p>
        </p:txBody>
      </p:sp>
    </p:spTree>
    <p:extLst>
      <p:ext uri="{BB962C8B-B14F-4D97-AF65-F5344CB8AC3E}">
        <p14:creationId xmlns:p14="http://schemas.microsoft.com/office/powerpoint/2010/main" val="11351159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8B92B-C9A7-3739-8708-AF234195F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6D5532-81CC-567E-14BF-BB0AE90C5F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B1B7AA-56AD-1746-9991-1329DE699E8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9CA1157-B5BB-099A-1CFB-A5099A7A3D1E}"/>
              </a:ext>
            </a:extLst>
          </p:cNvPr>
          <p:cNvSpPr>
            <a:spLocks noGrp="1"/>
          </p:cNvSpPr>
          <p:nvPr>
            <p:ph type="sldNum" sz="quarter" idx="5"/>
          </p:nvPr>
        </p:nvSpPr>
        <p:spPr/>
        <p:txBody>
          <a:bodyPr/>
          <a:lstStyle/>
          <a:p>
            <a:fld id="{A5B4ED3A-914E-6443-A2E7-C28A873C6BCA}" type="slidenum">
              <a:rPr lang="en-US" smtClean="0"/>
              <a:t>15</a:t>
            </a:fld>
            <a:endParaRPr lang="en-US"/>
          </a:p>
        </p:txBody>
      </p:sp>
    </p:spTree>
    <p:extLst>
      <p:ext uri="{BB962C8B-B14F-4D97-AF65-F5344CB8AC3E}">
        <p14:creationId xmlns:p14="http://schemas.microsoft.com/office/powerpoint/2010/main" val="35892959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91B8C-FE95-D967-6D02-F2A267019A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818DB-FC0D-7266-0C8B-3C91164A74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341494-08F4-9C41-547C-726A80FCD03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3210F3A-8956-1860-8549-162903CDFCFF}"/>
              </a:ext>
            </a:extLst>
          </p:cNvPr>
          <p:cNvSpPr>
            <a:spLocks noGrp="1"/>
          </p:cNvSpPr>
          <p:nvPr>
            <p:ph type="sldNum" sz="quarter" idx="5"/>
          </p:nvPr>
        </p:nvSpPr>
        <p:spPr/>
        <p:txBody>
          <a:bodyPr/>
          <a:lstStyle/>
          <a:p>
            <a:fld id="{A5B4ED3A-914E-6443-A2E7-C28A873C6BCA}" type="slidenum">
              <a:rPr lang="en-US" smtClean="0"/>
              <a:t>16</a:t>
            </a:fld>
            <a:endParaRPr lang="en-US"/>
          </a:p>
        </p:txBody>
      </p:sp>
    </p:spTree>
    <p:extLst>
      <p:ext uri="{BB962C8B-B14F-4D97-AF65-F5344CB8AC3E}">
        <p14:creationId xmlns:p14="http://schemas.microsoft.com/office/powerpoint/2010/main" val="18097109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17</a:t>
            </a:fld>
            <a:endParaRPr lang="en-US"/>
          </a:p>
        </p:txBody>
      </p:sp>
    </p:spTree>
    <p:extLst>
      <p:ext uri="{BB962C8B-B14F-4D97-AF65-F5344CB8AC3E}">
        <p14:creationId xmlns:p14="http://schemas.microsoft.com/office/powerpoint/2010/main" val="305395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77D9A-E7F8-E34E-FFF5-6087207FB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FB087F-F118-E8C2-B5A9-4107A7244C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66A19-E4FC-9A7D-9159-1E0501D623D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7465186-500A-7FD4-504E-041C3D1B305A}"/>
              </a:ext>
            </a:extLst>
          </p:cNvPr>
          <p:cNvSpPr>
            <a:spLocks noGrp="1"/>
          </p:cNvSpPr>
          <p:nvPr>
            <p:ph type="sldNum" sz="quarter" idx="5"/>
          </p:nvPr>
        </p:nvSpPr>
        <p:spPr/>
        <p:txBody>
          <a:bodyPr/>
          <a:lstStyle/>
          <a:p>
            <a:fld id="{A5B4ED3A-914E-6443-A2E7-C28A873C6BCA}" type="slidenum">
              <a:rPr lang="en-US" smtClean="0"/>
              <a:t>18</a:t>
            </a:fld>
            <a:endParaRPr lang="en-US"/>
          </a:p>
        </p:txBody>
      </p:sp>
    </p:spTree>
    <p:extLst>
      <p:ext uri="{BB962C8B-B14F-4D97-AF65-F5344CB8AC3E}">
        <p14:creationId xmlns:p14="http://schemas.microsoft.com/office/powerpoint/2010/main" val="1899561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52204-DF41-11B6-FC12-377621ED4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F4023F-F95C-C8DD-7592-6C3B03AC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338B19-5A4B-FCE1-80D8-73D67F20EA3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2A1D29C-BB62-BE57-26BE-E356C74EB93E}"/>
              </a:ext>
            </a:extLst>
          </p:cNvPr>
          <p:cNvSpPr>
            <a:spLocks noGrp="1"/>
          </p:cNvSpPr>
          <p:nvPr>
            <p:ph type="sldNum" sz="quarter" idx="5"/>
          </p:nvPr>
        </p:nvSpPr>
        <p:spPr/>
        <p:txBody>
          <a:bodyPr/>
          <a:lstStyle/>
          <a:p>
            <a:fld id="{A5B4ED3A-914E-6443-A2E7-C28A873C6BCA}" type="slidenum">
              <a:rPr lang="en-US" smtClean="0"/>
              <a:t>19</a:t>
            </a:fld>
            <a:endParaRPr lang="en-US"/>
          </a:p>
        </p:txBody>
      </p:sp>
    </p:spTree>
    <p:extLst>
      <p:ext uri="{BB962C8B-B14F-4D97-AF65-F5344CB8AC3E}">
        <p14:creationId xmlns:p14="http://schemas.microsoft.com/office/powerpoint/2010/main" val="17555376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Expereicne level using statistical software (R, Python, SAS, Stata, etc.)</a:t>
            </a:r>
          </a:p>
          <a:p>
            <a:r>
              <a:rPr lang="en-US"/>
              <a:t>https://www.polleverywhere.com/multiple_choice_polls/BJYxlK9hpVgbmrRRtfpvr?state=opened&amp;flow=Default&amp;onscreen=persist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20</a:t>
            </a:fld>
            <a:endParaRPr lang="en-US"/>
          </a:p>
        </p:txBody>
      </p:sp>
    </p:spTree>
    <p:extLst>
      <p:ext uri="{BB962C8B-B14F-4D97-AF65-F5344CB8AC3E}">
        <p14:creationId xmlns:p14="http://schemas.microsoft.com/office/powerpoint/2010/main" val="15382435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3FD1E-2D15-3138-E3DC-152A160854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FAA03A-41B4-AF11-AD00-39E7C6F159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54BBA-09F9-FA1E-8A39-FCF325469B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BA5E514-90DD-3596-E573-222C1FF45109}"/>
              </a:ext>
            </a:extLst>
          </p:cNvPr>
          <p:cNvSpPr>
            <a:spLocks noGrp="1"/>
          </p:cNvSpPr>
          <p:nvPr>
            <p:ph type="sldNum" sz="quarter" idx="5"/>
          </p:nvPr>
        </p:nvSpPr>
        <p:spPr/>
        <p:txBody>
          <a:bodyPr/>
          <a:lstStyle/>
          <a:p>
            <a:fld id="{A5B4ED3A-914E-6443-A2E7-C28A873C6BCA}" type="slidenum">
              <a:rPr lang="en-US" smtClean="0"/>
              <a:t>21</a:t>
            </a:fld>
            <a:endParaRPr lang="en-US"/>
          </a:p>
        </p:txBody>
      </p:sp>
    </p:spTree>
    <p:extLst>
      <p:ext uri="{BB962C8B-B14F-4D97-AF65-F5344CB8AC3E}">
        <p14:creationId xmlns:p14="http://schemas.microsoft.com/office/powerpoint/2010/main" val="27744207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02B32-7C5C-7377-DBA0-1BB24CEDC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7A3698-1072-70B1-3EAA-3E3A55A5B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3370EE-DCCD-374A-E0C0-9414292CF2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4DB6FC3-2189-790B-D345-701874AD6D76}"/>
              </a:ext>
            </a:extLst>
          </p:cNvPr>
          <p:cNvSpPr>
            <a:spLocks noGrp="1"/>
          </p:cNvSpPr>
          <p:nvPr>
            <p:ph type="sldNum" sz="quarter" idx="5"/>
          </p:nvPr>
        </p:nvSpPr>
        <p:spPr/>
        <p:txBody>
          <a:bodyPr/>
          <a:lstStyle/>
          <a:p>
            <a:fld id="{A5B4ED3A-914E-6443-A2E7-C28A873C6BCA}" type="slidenum">
              <a:rPr lang="en-US" smtClean="0"/>
              <a:t>22</a:t>
            </a:fld>
            <a:endParaRPr lang="en-US"/>
          </a:p>
        </p:txBody>
      </p:sp>
    </p:spTree>
    <p:extLst>
      <p:ext uri="{BB962C8B-B14F-4D97-AF65-F5344CB8AC3E}">
        <p14:creationId xmlns:p14="http://schemas.microsoft.com/office/powerpoint/2010/main" val="16438365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EE8C-70D8-C71A-D0A9-D83C23B5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83E43B-E646-D5CA-AEF4-9BA6FF607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DB11B-99B5-2EE2-F268-88CE067207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814629-3521-C622-08C1-893CC2DB7E3A}"/>
              </a:ext>
            </a:extLst>
          </p:cNvPr>
          <p:cNvSpPr>
            <a:spLocks noGrp="1"/>
          </p:cNvSpPr>
          <p:nvPr>
            <p:ph type="sldNum" sz="quarter" idx="5"/>
          </p:nvPr>
        </p:nvSpPr>
        <p:spPr/>
        <p:txBody>
          <a:bodyPr/>
          <a:lstStyle/>
          <a:p>
            <a:fld id="{50049E44-D13C-C54E-8DA3-DB5207EAD25C}" type="slidenum">
              <a:rPr lang="en-US" smtClean="0"/>
              <a:t>23</a:t>
            </a:fld>
            <a:endParaRPr lang="en-US"/>
          </a:p>
        </p:txBody>
      </p:sp>
    </p:spTree>
    <p:extLst>
      <p:ext uri="{BB962C8B-B14F-4D97-AF65-F5344CB8AC3E}">
        <p14:creationId xmlns:p14="http://schemas.microsoft.com/office/powerpoint/2010/main" val="24878181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24</a:t>
            </a:fld>
            <a:endParaRPr lang="en-US"/>
          </a:p>
        </p:txBody>
      </p:sp>
    </p:spTree>
    <p:extLst>
      <p:ext uri="{BB962C8B-B14F-4D97-AF65-F5344CB8AC3E}">
        <p14:creationId xmlns:p14="http://schemas.microsoft.com/office/powerpoint/2010/main" val="8572878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B94CB-9310-91F0-F809-57D034213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B3548-C75D-EAE5-9154-6B6583424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153435-4635-38C0-806D-EF0EF6280C3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E5018FF-3058-27F4-ABB4-1CC76677D414}"/>
              </a:ext>
            </a:extLst>
          </p:cNvPr>
          <p:cNvSpPr>
            <a:spLocks noGrp="1"/>
          </p:cNvSpPr>
          <p:nvPr>
            <p:ph type="sldNum" sz="quarter" idx="5"/>
          </p:nvPr>
        </p:nvSpPr>
        <p:spPr/>
        <p:txBody>
          <a:bodyPr/>
          <a:lstStyle/>
          <a:p>
            <a:fld id="{A5B4ED3A-914E-6443-A2E7-C28A873C6BCA}" type="slidenum">
              <a:rPr lang="en-US" smtClean="0"/>
              <a:t>25</a:t>
            </a:fld>
            <a:endParaRPr lang="en-US"/>
          </a:p>
        </p:txBody>
      </p:sp>
    </p:spTree>
    <p:extLst>
      <p:ext uri="{BB962C8B-B14F-4D97-AF65-F5344CB8AC3E}">
        <p14:creationId xmlns:p14="http://schemas.microsoft.com/office/powerpoint/2010/main" val="7746642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6B97C-4C1A-03B8-A3DD-B9C0A3A1C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DA5B876-A50D-034D-9B14-0DDE736DB3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BBEDA1-FE61-C5C1-BA54-C07E1E658C2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A83337E-EC2E-A055-1483-DE6E44A00D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01970-2584-87CC-E2B6-E0D6DA21658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597512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E98E7-526F-D1A7-9EFC-B5E2F030F2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7A694-587E-6D13-689A-C7109140F1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860662-31C5-F3F4-E750-31898567E2C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6D408C-563D-75ED-E0D5-1B5847C6E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B8748-BBDA-C11A-ED71-885585953CD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218361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ABAE8-4284-CA94-5CFE-FFBBB828745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2D64AB-7659-299C-850B-1C36A639667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23949E-A634-75FD-33B2-74FE7B02399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04B7182-B497-9455-BD6C-05C466A086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2FE9AB-6A4B-7D0B-D1CC-DD3CCD6B780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25171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21C80-EB2C-F8D3-AAA6-8749A94066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E437AA-97D4-45EE-4619-3AD2FA11BD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281501-60F6-F7E1-B983-A52A3DDF64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16908-516D-E7DC-F476-C59D5DD32FB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C5327502-5134-B776-FFDE-83B27025C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38BE9F-CE14-D105-9F68-AFC0A83FB8C0}"/>
              </a:ext>
            </a:extLst>
          </p:cNvPr>
          <p:cNvSpPr>
            <a:spLocks noGrp="1"/>
          </p:cNvSpPr>
          <p:nvPr>
            <p:ph type="sldNum" sz="quarter" idx="12"/>
          </p:nvPr>
        </p:nvSpPr>
        <p:spPr/>
        <p:txBody>
          <a:bodyPr/>
          <a:lstStyle/>
          <a:p>
            <a:fld id="{548469FB-C78A-B94B-B04A-B5BC8C934F85}" type="slidenum">
              <a:rPr lang="en-US" smtClean="0"/>
              <a:t>‹#›</a:t>
            </a:fld>
            <a:endParaRPr lang="en-US" dirty="0"/>
          </a:p>
        </p:txBody>
      </p:sp>
    </p:spTree>
    <p:extLst>
      <p:ext uri="{BB962C8B-B14F-4D97-AF65-F5344CB8AC3E}">
        <p14:creationId xmlns:p14="http://schemas.microsoft.com/office/powerpoint/2010/main" val="1602849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D7DB8-F1DB-CB2F-918A-6A6D109128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679869-EB07-5325-16E8-7191C57AAB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BB0C29-2E76-EA66-C222-8A7C6328F0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D00DC11-C03A-0CDB-EFF5-CE327382DD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E430CE-218F-8B4B-F86C-9C20A6839B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2555C8-8E0D-AC4D-E85A-8E27E9B993CE}"/>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4643A247-ECD4-CBA0-EBD7-A5D45A5C86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6FC183-68CB-386A-E597-D2CAA031C839}"/>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330739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70F31-AA59-4934-89AD-A34DC2CC28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F9AD29-AC6C-96A9-FFBD-8AA505806BE0}"/>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A1147E0A-9E38-8B67-4624-3AABC055C3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EFAB42-556B-C4E1-8EE0-B4AB3BCB7C7B}"/>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613496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1C23C3-6C97-5B33-657B-4BE2CC02C96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54009330-B12B-6F5D-C9A2-E9EAE619219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773F0C-93BD-6E06-0F00-3544809C215E}"/>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105649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29BF4-0CC6-D361-AE31-5B9F05B02C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699F95-E1BE-907F-152D-985FDEB65C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1BA835-ADAD-7C04-2BBA-F1F360BBE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D758C0-48B9-E14E-EA7C-443F2711603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41F910-0937-5947-A729-3A2BBB34B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3A5DEA-8E0B-2C59-3951-2C189845B27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4363777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87244-5442-DA1D-81D3-66A24E6612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769CD3-32BF-647C-C96E-D5E5DF26F9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F5B485-EA9C-58EE-331E-C942362646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98ECCA-E7FD-8295-497B-FE0A8EFA8C6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B735F6B-319B-79BC-262D-A5CB6DC943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2C3440-1103-7FA3-0971-270A8C78F792}"/>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928306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9E50A-06B4-00FE-058D-F65D96D7ED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F63146-DBC6-A9CA-CAEA-A1CCA7AC3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7FF714-3DBB-45E5-E3CF-C07E381C2F3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BA940BF9-F466-47DB-60EF-74E006350B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7DF60-BD61-0D9D-4F53-9D84A2E43527}"/>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993234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1509D8-31A0-70F4-29A7-7ED442BD93D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B62898-FA6E-7840-FA29-62C83FC734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159DB9-5F9E-E3F3-3E22-102A75329C9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539D7E8-0A95-40E2-5D51-F1A0D93FCB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A320A7-6DDE-06AD-E1AB-6042D1F7457F}"/>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7140551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ver slide with name and title whit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328A0A-C662-74EC-D228-434B49036BF5}"/>
              </a:ext>
            </a:extLst>
          </p:cNvPr>
          <p:cNvSpPr/>
          <p:nvPr userDrawn="1"/>
        </p:nvSpPr>
        <p:spPr>
          <a:xfrm>
            <a:off x="0" y="0"/>
            <a:ext cx="4043680" cy="69088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27BA40FD-F3BD-03E1-4F9A-24F5093BFD27}"/>
              </a:ext>
            </a:extLst>
          </p:cNvPr>
          <p:cNvSpPr>
            <a:spLocks noGrp="1"/>
          </p:cNvSpPr>
          <p:nvPr>
            <p:ph type="pic" sz="quarter" idx="12"/>
          </p:nvPr>
        </p:nvSpPr>
        <p:spPr>
          <a:xfrm>
            <a:off x="0" y="0"/>
            <a:ext cx="4044950" cy="6858000"/>
          </a:xfrm>
        </p:spPr>
        <p:txBody>
          <a:bodyPr/>
          <a:lstStyle/>
          <a:p>
            <a:endParaRPr lang="en-US" dirty="0"/>
          </a:p>
        </p:txBody>
      </p:sp>
      <p:sp>
        <p:nvSpPr>
          <p:cNvPr id="3" name="Text Placeholder 2">
            <a:extLst>
              <a:ext uri="{FF2B5EF4-FFF2-40B4-BE49-F238E27FC236}">
                <a16:creationId xmlns:a16="http://schemas.microsoft.com/office/drawing/2014/main" id="{E78AE731-F2CF-F141-4254-D13FFBB02056}"/>
              </a:ext>
            </a:extLst>
          </p:cNvPr>
          <p:cNvSpPr>
            <a:spLocks noGrp="1"/>
          </p:cNvSpPr>
          <p:nvPr>
            <p:ph type="body" sz="quarter" idx="10" hasCustomPrompt="1"/>
          </p:nvPr>
        </p:nvSpPr>
        <p:spPr>
          <a:xfrm>
            <a:off x="4598988" y="1311274"/>
            <a:ext cx="6423025" cy="1500187"/>
          </a:xfrm>
        </p:spPr>
        <p:txBody>
          <a:bodyPr>
            <a:noAutofit/>
          </a:bodyPr>
          <a:lstStyle>
            <a:lvl1pPr marL="0" indent="0">
              <a:buNone/>
              <a:defRPr sz="4800">
                <a:solidFill>
                  <a:schemeClr val="tx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Cover slide presentation title</a:t>
            </a:r>
          </a:p>
        </p:txBody>
      </p:sp>
      <p:sp>
        <p:nvSpPr>
          <p:cNvPr id="6" name="Text Placeholder 5">
            <a:extLst>
              <a:ext uri="{FF2B5EF4-FFF2-40B4-BE49-F238E27FC236}">
                <a16:creationId xmlns:a16="http://schemas.microsoft.com/office/drawing/2014/main" id="{38926FA2-06C0-DF0E-0BE4-60126FAB68AF}"/>
              </a:ext>
            </a:extLst>
          </p:cNvPr>
          <p:cNvSpPr>
            <a:spLocks noGrp="1"/>
          </p:cNvSpPr>
          <p:nvPr>
            <p:ph type="body" sz="quarter" idx="13" hasCustomPrompt="1"/>
          </p:nvPr>
        </p:nvSpPr>
        <p:spPr>
          <a:xfrm>
            <a:off x="4598988" y="3471040"/>
            <a:ext cx="5732462" cy="879475"/>
          </a:xfrm>
        </p:spPr>
        <p:txBody>
          <a:bodyPr>
            <a:normAutofit/>
          </a:bodyPr>
          <a:lstStyle>
            <a:lvl1pPr marL="0" indent="0">
              <a:buNone/>
              <a:defRPr sz="1500" b="0" i="1">
                <a:solidFill>
                  <a:schemeClr val="tx1"/>
                </a:solidFill>
                <a:latin typeface="YaleNew" panose="02000602050000020003" pitchFamily="2" charset="77"/>
              </a:defRPr>
            </a:lvl1pPr>
          </a:lstStyle>
          <a:p>
            <a:pPr lvl="0"/>
            <a:r>
              <a:rPr lang="en-US" dirty="0"/>
              <a:t>Position title or role, Presenting Organization</a:t>
            </a:r>
          </a:p>
        </p:txBody>
      </p:sp>
      <p:sp>
        <p:nvSpPr>
          <p:cNvPr id="12" name="Text Placeholder 11">
            <a:extLst>
              <a:ext uri="{FF2B5EF4-FFF2-40B4-BE49-F238E27FC236}">
                <a16:creationId xmlns:a16="http://schemas.microsoft.com/office/drawing/2014/main" id="{8D92629E-BF76-30D0-FEAC-BDCA393C8776}"/>
              </a:ext>
            </a:extLst>
          </p:cNvPr>
          <p:cNvSpPr>
            <a:spLocks noGrp="1"/>
          </p:cNvSpPr>
          <p:nvPr>
            <p:ph type="body" sz="quarter" idx="14" hasCustomPrompt="1"/>
          </p:nvPr>
        </p:nvSpPr>
        <p:spPr>
          <a:xfrm>
            <a:off x="4598988" y="3162300"/>
            <a:ext cx="5554662" cy="266700"/>
          </a:xfrm>
        </p:spPr>
        <p:txBody>
          <a:bodyPr>
            <a:normAutofit/>
          </a:bodyPr>
          <a:lstStyle>
            <a:lvl1pPr marL="0" indent="0">
              <a:buNone/>
              <a:defRPr sz="1200" b="0" i="0" spc="300">
                <a:latin typeface="YaleNew" panose="02000602050000020003" pitchFamily="2" charset="77"/>
                <a:cs typeface="Calibri" panose="020F0502020204030204" pitchFamily="34" charset="0"/>
              </a:defRPr>
            </a:lvl1pPr>
          </a:lstStyle>
          <a:p>
            <a:pPr lvl="0"/>
            <a:r>
              <a:rPr lang="en-US" dirty="0"/>
              <a:t>ALL CAPS • PRESENTER NAME HERE</a:t>
            </a:r>
          </a:p>
        </p:txBody>
      </p:sp>
      <p:sp>
        <p:nvSpPr>
          <p:cNvPr id="8" name="Picture Placeholder 5">
            <a:extLst>
              <a:ext uri="{FF2B5EF4-FFF2-40B4-BE49-F238E27FC236}">
                <a16:creationId xmlns:a16="http://schemas.microsoft.com/office/drawing/2014/main" id="{7EBB38DD-BEEE-0800-08EF-1371600DA7C9}"/>
              </a:ext>
            </a:extLst>
          </p:cNvPr>
          <p:cNvSpPr>
            <a:spLocks noGrp="1"/>
          </p:cNvSpPr>
          <p:nvPr>
            <p:ph type="pic" sz="quarter" idx="15" hasCustomPrompt="1"/>
          </p:nvPr>
        </p:nvSpPr>
        <p:spPr>
          <a:xfrm>
            <a:off x="4697844" y="5659438"/>
            <a:ext cx="3074987" cy="593725"/>
          </a:xfrm>
        </p:spPr>
        <p:txBody>
          <a:bodyPr/>
          <a:lstStyle/>
          <a:p>
            <a:r>
              <a:rPr lang="en-US" dirty="0"/>
              <a:t>Wordmark</a:t>
            </a:r>
          </a:p>
        </p:txBody>
      </p:sp>
    </p:spTree>
    <p:extLst>
      <p:ext uri="{BB962C8B-B14F-4D97-AF65-F5344CB8AC3E}">
        <p14:creationId xmlns:p14="http://schemas.microsoft.com/office/powerpoint/2010/main" val="656309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with pictur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FC19243-FD55-0C4B-85ED-C961C8BBE12B}"/>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0748675B-48D6-79E2-5C34-D4B438BAC43D}"/>
              </a:ext>
            </a:extLst>
          </p:cNvPr>
          <p:cNvSpPr>
            <a:spLocks noGrp="1"/>
          </p:cNvSpPr>
          <p:nvPr>
            <p:ph type="pic" sz="quarter" idx="12"/>
          </p:nvPr>
        </p:nvSpPr>
        <p:spPr>
          <a:xfrm>
            <a:off x="4043680" y="0"/>
            <a:ext cx="8148320" cy="6858000"/>
          </a:xfrm>
        </p:spPr>
        <p:txBody>
          <a:bodyPr/>
          <a:lstStyle/>
          <a:p>
            <a:endParaRPr lang="en-US" dirty="0"/>
          </a:p>
        </p:txBody>
      </p:sp>
      <p:sp>
        <p:nvSpPr>
          <p:cNvPr id="3" name="Text Placeholder 2">
            <a:extLst>
              <a:ext uri="{FF2B5EF4-FFF2-40B4-BE49-F238E27FC236}">
                <a16:creationId xmlns:a16="http://schemas.microsoft.com/office/drawing/2014/main" id="{D8F8D125-6703-D6A3-E599-4C3C1DC56332}"/>
              </a:ext>
            </a:extLst>
          </p:cNvPr>
          <p:cNvSpPr>
            <a:spLocks noGrp="1"/>
          </p:cNvSpPr>
          <p:nvPr>
            <p:ph type="body" sz="quarter" idx="11" hasCustomPrompt="1"/>
          </p:nvPr>
        </p:nvSpPr>
        <p:spPr>
          <a:xfrm>
            <a:off x="494357" y="1597735"/>
            <a:ext cx="3034570"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Presentation section title</a:t>
            </a:r>
          </a:p>
        </p:txBody>
      </p:sp>
      <p:sp>
        <p:nvSpPr>
          <p:cNvPr id="6" name="Text Placeholder 11">
            <a:extLst>
              <a:ext uri="{FF2B5EF4-FFF2-40B4-BE49-F238E27FC236}">
                <a16:creationId xmlns:a16="http://schemas.microsoft.com/office/drawing/2014/main" id="{A1C18EDC-9FCD-1109-ADAE-E5F5E5125E06}"/>
              </a:ext>
            </a:extLst>
          </p:cNvPr>
          <p:cNvSpPr>
            <a:spLocks noGrp="1"/>
          </p:cNvSpPr>
          <p:nvPr>
            <p:ph type="body" sz="quarter" idx="15" hasCustomPrompt="1"/>
          </p:nvPr>
        </p:nvSpPr>
        <p:spPr>
          <a:xfrm>
            <a:off x="497984" y="3185056"/>
            <a:ext cx="3030943"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Date Placeholder 8">
            <a:extLst>
              <a:ext uri="{FF2B5EF4-FFF2-40B4-BE49-F238E27FC236}">
                <a16:creationId xmlns:a16="http://schemas.microsoft.com/office/drawing/2014/main" id="{A5A8D130-1C69-1BD2-F58D-F50B260A6987}"/>
              </a:ext>
            </a:extLst>
          </p:cNvPr>
          <p:cNvSpPr>
            <a:spLocks noGrp="1"/>
          </p:cNvSpPr>
          <p:nvPr>
            <p:ph type="dt" sz="half" idx="16"/>
          </p:nvPr>
        </p:nvSpPr>
        <p:spPr/>
        <p:txBody>
          <a:bodyPr/>
          <a:lstStyle/>
          <a:p>
            <a:endParaRPr lang="en-US"/>
          </a:p>
        </p:txBody>
      </p:sp>
      <p:sp>
        <p:nvSpPr>
          <p:cNvPr id="10" name="Footer Placeholder 9">
            <a:extLst>
              <a:ext uri="{FF2B5EF4-FFF2-40B4-BE49-F238E27FC236}">
                <a16:creationId xmlns:a16="http://schemas.microsoft.com/office/drawing/2014/main" id="{B20536CB-881F-59B7-31D9-62AE33FA4BE4}"/>
              </a:ext>
            </a:extLst>
          </p:cNvPr>
          <p:cNvSpPr>
            <a:spLocks noGrp="1"/>
          </p:cNvSpPr>
          <p:nvPr>
            <p:ph type="ftr" sz="quarter" idx="17"/>
          </p:nvPr>
        </p:nvSpPr>
        <p:spPr/>
        <p:txBody>
          <a:bodyPr/>
          <a:lstStyle/>
          <a:p>
            <a:endParaRPr lang="en-US"/>
          </a:p>
        </p:txBody>
      </p:sp>
      <p:sp>
        <p:nvSpPr>
          <p:cNvPr id="11" name="Slide Number Placeholder 10">
            <a:extLst>
              <a:ext uri="{FF2B5EF4-FFF2-40B4-BE49-F238E27FC236}">
                <a16:creationId xmlns:a16="http://schemas.microsoft.com/office/drawing/2014/main" id="{7776CA37-87B5-8A7A-347E-D52BED399904}"/>
              </a:ext>
            </a:extLst>
          </p:cNvPr>
          <p:cNvSpPr>
            <a:spLocks noGrp="1"/>
          </p:cNvSpPr>
          <p:nvPr>
            <p:ph type="sldNum" sz="quarter" idx="18"/>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751800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49ADC4-D502-9A83-6384-9233334EFF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8A1307-9E8A-6474-361F-E233CD66DB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EAC099-F335-CB92-CCC4-9867E5A0C6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4DBE6948-D0AB-67B5-6861-F587A0B445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CC3F612-68C7-BC6A-9EB2-EFBBBC06D8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8469FB-C78A-B94B-B04A-B5BC8C934F85}" type="slidenum">
              <a:rPr lang="en-US" smtClean="0"/>
              <a:t>‹#›</a:t>
            </a:fld>
            <a:endParaRPr lang="en-US"/>
          </a:p>
        </p:txBody>
      </p:sp>
    </p:spTree>
    <p:extLst>
      <p:ext uri="{BB962C8B-B14F-4D97-AF65-F5344CB8AC3E}">
        <p14:creationId xmlns:p14="http://schemas.microsoft.com/office/powerpoint/2010/main" val="5565968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3" r:id="rId12"/>
    <p:sldLayoutId id="2147483674"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3.xml"/><Relationship Id="rId5" Type="http://schemas.openxmlformats.org/officeDocument/2006/relationships/image" Target="../media/image3.png"/><Relationship Id="rId4" Type="http://schemas.openxmlformats.org/officeDocument/2006/relationships/hyperlink" Target="https://ai-chat.yale.edu/signin-oidc"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www.ibm.com/think/topics/generative-ai" TargetMode="External"/><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hyperlink" Target="https://medium.com/data-science-at-microsoft/accelerating-data-and-applied-sciences-using-llms-for-programming-64627449a6f0" TargetMode="External"/><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8" Type="http://schemas.openxmlformats.org/officeDocument/2006/relationships/hyperlink" Target="https://medicine.yale.edu/news/yale-medicine-magazine/article/supercharged-data/#:~:text=Now%2C%20researchers%20across%20the%20country,physicians%20to%20customize%20treatment%20plans." TargetMode="External"/><Relationship Id="rId3" Type="http://schemas.openxmlformats.org/officeDocument/2006/relationships/hyperlink" Target="https://ai.yale.edu/seed-grant-awards-2025#:~:text=Our%20project%20will%20use%20AI,predictions%20and%20patient%20care%20quality." TargetMode="External"/><Relationship Id="rId7" Type="http://schemas.openxmlformats.org/officeDocument/2006/relationships/hyperlink" Target="https://medicine.yale.edu/neurology/divisions/vascular-neuro/research/#:~:text=These%20publications%20were%20inputted%20into,publication%20at%20zero%20added%20cost." TargetMode="External"/><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ventures.yale.edu/yale-technologies/closing-ai-human-validation-loop-accelerate-drug-discovery#:~:text=The%20team%20demonstrated%20Pfizer%2Dcollaborated,IL%2D6%20signaling%20or%20cancer." TargetMode="External"/><Relationship Id="rId5" Type="http://schemas.openxmlformats.org/officeDocument/2006/relationships/hyperlink" Target="https://ysph.yale.edu/news-article/new-ai-tool-helps-scientists-see-how-cells-work-together-inside-diseased-tissue/#:~:text=In%20the%20study%2C%20researchers%20introduce,in%20a%20more%20complete%20and" TargetMode="External"/><Relationship Id="rId4" Type="http://schemas.openxmlformats.org/officeDocument/2006/relationships/hyperlink" Target="https://medicine.yale.edu/news/yale-medicine-magazine/article/supercharged-data/#:~:text=One%20of%20the%20first%20applications,ease%20administrative%20burdens%20on%20clinicians."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ai.yale.edu/yales-ai-tools-and-resources/clarity-platform#:~:text=What%20is%20Clarity,support%20their%20work%20and%20research." TargetMode="External"/><Relationship Id="rId2" Type="http://schemas.openxmlformats.org/officeDocument/2006/relationships/notesSlide" Target="../notesSlides/notesSlide11.xml"/><Relationship Id="rId1" Type="http://schemas.openxmlformats.org/officeDocument/2006/relationships/slideLayout" Target="../slideLayouts/slideLayout13.xml"/><Relationship Id="rId5" Type="http://schemas.openxmlformats.org/officeDocument/2006/relationships/hyperlink" Target="https://ai.yale.edu/yales-ai-tools-and-resources/clarity-platform#:~:text=Choice%20of%20AI%20Models%3A%20Users,and%20another%20for%20generating%20answers." TargetMode="External"/><Relationship Id="rId4" Type="http://schemas.openxmlformats.org/officeDocument/2006/relationships/hyperlink" Target="https://provost.yale.edu/news/advancing-yales-leadership-artificial-intelligence-support-faculty-students-and-staff#:~:text=Importantly%2C%20Clarity%20provides%20a%20&#8220;walled,to%20train%20external%20AI%20models."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3.xml"/><Relationship Id="rId4" Type="http://schemas.openxmlformats.org/officeDocument/2006/relationships/image" Target="../media/image9.svg"/></Relationships>
</file>

<file path=ppt/slides/_rels/slide24.xml.rels><?xml version="1.0" encoding="UTF-8" standalone="yes"?>
<Relationships xmlns="http://schemas.openxmlformats.org/package/2006/relationships"><Relationship Id="rId3" Type="http://schemas.openxmlformats.org/officeDocument/2006/relationships/hyperlink" Target="https://yalesurvey.ca1.qualtrics.com/jfe/form/SV_cZOk3RQmTrQLhYy" TargetMode="External"/><Relationship Id="rId2" Type="http://schemas.openxmlformats.org/officeDocument/2006/relationships/notesSlide" Target="../notesSlides/notesSlide24.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hyperlink" Target="https://ai.yale.edu/guidance" TargetMode="External"/><Relationship Id="rId7" Type="http://schemas.openxmlformats.org/officeDocument/2006/relationships/hyperlink" Target="https://ysph-dsde.github.io/ai-resources-page/Pages/tools.html" TargetMode="External"/><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hyperlink" Target="https://ai.yale.edu/yales-ai-tools-and-resources" TargetMode="External"/><Relationship Id="rId5" Type="http://schemas.openxmlformats.org/officeDocument/2006/relationships/hyperlink" Target="https://ai.yale.edu/yales-ai-tools-and-resources/yale-standards-for-using-ai-tools-and-chatbots-in-health-sciences" TargetMode="External"/><Relationship Id="rId4" Type="http://schemas.openxmlformats.org/officeDocument/2006/relationships/hyperlink" Target="https://ai.yale.edu/yales-ai-tools-and-resources/health-sciences/using-ai-safely-and-responsibly-in-health-ca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Harkness Tower with a clock on it&#10;&#10;Description automatically generated">
            <a:extLst>
              <a:ext uri="{FF2B5EF4-FFF2-40B4-BE49-F238E27FC236}">
                <a16:creationId xmlns:a16="http://schemas.microsoft.com/office/drawing/2014/main" id="{4458EC05-FEAA-4B87-E8E9-F4758DF7F5D1}"/>
              </a:ext>
            </a:extLst>
          </p:cNvPr>
          <p:cNvPicPr>
            <a:picLocks noGrp="1" noChangeAspect="1"/>
          </p:cNvPicPr>
          <p:nvPr>
            <p:ph type="pic" sz="quarter" idx="12"/>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067E9D32-155A-42C2-3E4E-CF95336F72F4}"/>
              </a:ext>
            </a:extLst>
          </p:cNvPr>
          <p:cNvSpPr>
            <a:spLocks noGrp="1"/>
          </p:cNvSpPr>
          <p:nvPr>
            <p:ph type="body" sz="quarter" idx="10"/>
          </p:nvPr>
        </p:nvSpPr>
        <p:spPr>
          <a:xfrm>
            <a:off x="4790060" y="1433524"/>
            <a:ext cx="6423025" cy="1964794"/>
          </a:xfrm>
        </p:spPr>
        <p:txBody>
          <a:bodyPr/>
          <a:lstStyle/>
          <a:p>
            <a:r>
              <a:rPr lang="en-US" sz="4000" dirty="0">
                <a:latin typeface="Avenir Book" panose="02000503020000020003" pitchFamily="2" charset="0"/>
              </a:rPr>
              <a:t>Coding with Clarity:</a:t>
            </a:r>
          </a:p>
          <a:p>
            <a:r>
              <a:rPr lang="en-US" sz="4000" dirty="0">
                <a:latin typeface="Avenir Book" panose="02000503020000020003" pitchFamily="2" charset="0"/>
              </a:rPr>
              <a:t>AI-Powered Programming for Researchers</a:t>
            </a:r>
          </a:p>
        </p:txBody>
      </p:sp>
      <p:sp>
        <p:nvSpPr>
          <p:cNvPr id="4" name="Text Placeholder 3">
            <a:extLst>
              <a:ext uri="{FF2B5EF4-FFF2-40B4-BE49-F238E27FC236}">
                <a16:creationId xmlns:a16="http://schemas.microsoft.com/office/drawing/2014/main" id="{037FB169-D746-444C-A487-68B7FECB9A10}"/>
              </a:ext>
            </a:extLst>
          </p:cNvPr>
          <p:cNvSpPr>
            <a:spLocks noGrp="1"/>
          </p:cNvSpPr>
          <p:nvPr>
            <p:ph type="body" sz="quarter" idx="13"/>
          </p:nvPr>
        </p:nvSpPr>
        <p:spPr>
          <a:xfrm>
            <a:off x="4790061" y="4057896"/>
            <a:ext cx="2802726" cy="879475"/>
          </a:xfrm>
        </p:spPr>
        <p:txBody>
          <a:bodyPr/>
          <a:lstStyle/>
          <a:p>
            <a:r>
              <a:rPr lang="en-US" dirty="0"/>
              <a:t>Biomedical Informatics Librarian Cushing/Whitney Medical Library</a:t>
            </a:r>
          </a:p>
        </p:txBody>
      </p:sp>
      <p:sp>
        <p:nvSpPr>
          <p:cNvPr id="5" name="Text Placeholder 4">
            <a:extLst>
              <a:ext uri="{FF2B5EF4-FFF2-40B4-BE49-F238E27FC236}">
                <a16:creationId xmlns:a16="http://schemas.microsoft.com/office/drawing/2014/main" id="{1CE8B407-CDA5-C8A6-7744-CE476FDBA860}"/>
              </a:ext>
            </a:extLst>
          </p:cNvPr>
          <p:cNvSpPr>
            <a:spLocks noGrp="1"/>
          </p:cNvSpPr>
          <p:nvPr>
            <p:ph type="body" sz="quarter" idx="14"/>
          </p:nvPr>
        </p:nvSpPr>
        <p:spPr>
          <a:xfrm>
            <a:off x="4790060" y="3749156"/>
            <a:ext cx="2952401" cy="266700"/>
          </a:xfrm>
        </p:spPr>
        <p:txBody>
          <a:bodyPr>
            <a:noAutofit/>
          </a:bodyPr>
          <a:lstStyle/>
          <a:p>
            <a:r>
              <a:rPr lang="en-US" dirty="0"/>
              <a:t>MAXIMILIAN WEGENER, MPH</a:t>
            </a:r>
          </a:p>
        </p:txBody>
      </p:sp>
      <p:sp>
        <p:nvSpPr>
          <p:cNvPr id="8" name="Textbox 2">
            <a:extLst>
              <a:ext uri="{FF2B5EF4-FFF2-40B4-BE49-F238E27FC236}">
                <a16:creationId xmlns:a16="http://schemas.microsoft.com/office/drawing/2014/main" id="{2E796189-C640-B851-789E-23EE623573E5}"/>
              </a:ext>
            </a:extLst>
          </p:cNvPr>
          <p:cNvSpPr txBox="1">
            <a:spLocks/>
          </p:cNvSpPr>
          <p:nvPr/>
        </p:nvSpPr>
        <p:spPr>
          <a:xfrm>
            <a:off x="4790060" y="6259467"/>
            <a:ext cx="4287841" cy="462280"/>
          </a:xfrm>
          <a:prstGeom prst="rect">
            <a:avLst/>
          </a:prstGeom>
        </p:spPr>
        <p:txBody>
          <a:bodyPr wrap="square" lIns="0" tIns="0" rIns="0" bIns="0" rtlCol="0">
            <a:noAutofit/>
          </a:bodyPr>
          <a:lstStyle/>
          <a:p>
            <a:pPr marL="12700" marR="0">
              <a:spcBef>
                <a:spcPts val="40"/>
              </a:spcBef>
            </a:pPr>
            <a:r>
              <a:rPr lang="en-US" sz="2400"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16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arvey</a:t>
            </a:r>
            <a:r>
              <a:rPr lang="en-US" sz="1200" i="1" spc="-8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Cushing</a:t>
            </a:r>
            <a:r>
              <a:rPr lang="en-US" sz="1200" i="1" spc="-10" dirty="0">
                <a:solidFill>
                  <a:srgbClr val="5B5B5B"/>
                </a:solidFill>
                <a:effectLst/>
                <a:latin typeface="YaleNew" panose="02000602050000020003" pitchFamily="2" charset="77"/>
                <a:ea typeface="Arial" panose="020B0604020202020204" pitchFamily="34" charset="0"/>
                <a:cs typeface="Arial" panose="020B0604020202020204" pitchFamily="34" charset="0"/>
              </a:rPr>
              <a:t>/</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John</a:t>
            </a:r>
            <a:r>
              <a:rPr lang="en-US" sz="1200" i="1" spc="4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ay</a:t>
            </a:r>
            <a:r>
              <a:rPr lang="en-US" sz="1200" i="1" spc="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Whitney</a:t>
            </a:r>
            <a:r>
              <a:rPr lang="en-US" sz="1200" i="1" spc="-1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Medical</a:t>
            </a:r>
            <a:r>
              <a:rPr lang="en-US" sz="1200" i="1" spc="90"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Library</a:t>
            </a:r>
            <a:endParaRPr lang="en-US" dirty="0">
              <a:effectLst/>
              <a:latin typeface="YaleNew" panose="02000602050000020003" pitchFamily="2" charset="77"/>
              <a:ea typeface="Arial" panose="020B0604020202020204" pitchFamily="34" charset="0"/>
            </a:endParaRPr>
          </a:p>
        </p:txBody>
      </p:sp>
      <p:sp>
        <p:nvSpPr>
          <p:cNvPr id="2" name="Text Placeholder 3">
            <a:extLst>
              <a:ext uri="{FF2B5EF4-FFF2-40B4-BE49-F238E27FC236}">
                <a16:creationId xmlns:a16="http://schemas.microsoft.com/office/drawing/2014/main" id="{54276299-72ED-1E63-925C-055A05217004}"/>
              </a:ext>
            </a:extLst>
          </p:cNvPr>
          <p:cNvSpPr txBox="1">
            <a:spLocks/>
          </p:cNvSpPr>
          <p:nvPr/>
        </p:nvSpPr>
        <p:spPr>
          <a:xfrm>
            <a:off x="8444941" y="4057896"/>
            <a:ext cx="2952401" cy="87947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500" b="0" i="1" kern="1200">
                <a:solidFill>
                  <a:schemeClr val="tx1"/>
                </a:solidFill>
                <a:latin typeface="YaleNew" panose="02000602050000020003"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i="0" dirty="0"/>
              <a:t>System and Application Specialist</a:t>
            </a:r>
            <a:r>
              <a:rPr lang="en-US" dirty="0"/>
              <a:t> Cushing/Whitney Medical Library</a:t>
            </a:r>
          </a:p>
        </p:txBody>
      </p:sp>
      <p:sp>
        <p:nvSpPr>
          <p:cNvPr id="7" name="Text Placeholder 4">
            <a:extLst>
              <a:ext uri="{FF2B5EF4-FFF2-40B4-BE49-F238E27FC236}">
                <a16:creationId xmlns:a16="http://schemas.microsoft.com/office/drawing/2014/main" id="{DEDFEAF9-5725-4735-D224-56515316ECFC}"/>
              </a:ext>
            </a:extLst>
          </p:cNvPr>
          <p:cNvSpPr txBox="1">
            <a:spLocks/>
          </p:cNvSpPr>
          <p:nvPr/>
        </p:nvSpPr>
        <p:spPr>
          <a:xfrm>
            <a:off x="8444941" y="3749156"/>
            <a:ext cx="2549633" cy="26670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200" b="0" i="0" kern="1200" spc="300">
                <a:solidFill>
                  <a:schemeClr val="tx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Justin DeMayo</a:t>
            </a:r>
          </a:p>
        </p:txBody>
      </p:sp>
    </p:spTree>
    <p:extLst>
      <p:ext uri="{BB962C8B-B14F-4D97-AF65-F5344CB8AC3E}">
        <p14:creationId xmlns:p14="http://schemas.microsoft.com/office/powerpoint/2010/main" val="30917222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6E680CD-B7B5-C696-BB7C-21441F51CADA}"/>
              </a:ext>
            </a:extLst>
          </p:cNvPr>
          <p:cNvSpPr>
            <a:spLocks noGrp="1"/>
          </p:cNvSpPr>
          <p:nvPr>
            <p:ph type="body" sz="quarter" idx="11"/>
          </p:nvPr>
        </p:nvSpPr>
        <p:spPr>
          <a:xfrm>
            <a:off x="486192" y="2740653"/>
            <a:ext cx="3171407" cy="1376693"/>
          </a:xfrm>
        </p:spPr>
        <p:txBody>
          <a:bodyPr/>
          <a:lstStyle/>
          <a:p>
            <a:r>
              <a:rPr lang="en-US" dirty="0"/>
              <a:t>Before we begin the lesson</a:t>
            </a:r>
          </a:p>
        </p:txBody>
      </p:sp>
      <p:sp>
        <p:nvSpPr>
          <p:cNvPr id="5" name="Slide Number Placeholder 4">
            <a:extLst>
              <a:ext uri="{FF2B5EF4-FFF2-40B4-BE49-F238E27FC236}">
                <a16:creationId xmlns:a16="http://schemas.microsoft.com/office/drawing/2014/main" id="{C47C55B8-2D07-2855-4581-568EAA02A738}"/>
              </a:ext>
            </a:extLst>
          </p:cNvPr>
          <p:cNvSpPr>
            <a:spLocks noGrp="1"/>
          </p:cNvSpPr>
          <p:nvPr>
            <p:ph type="sldNum" sz="quarter" idx="18"/>
          </p:nvPr>
        </p:nvSpPr>
        <p:spPr/>
        <p:txBody>
          <a:bodyPr/>
          <a:lstStyle/>
          <a:p>
            <a:fld id="{548469FB-C78A-B94B-B04A-B5BC8C934F85}" type="slidenum">
              <a:rPr lang="en-US" smtClean="0"/>
              <a:t>2</a:t>
            </a:fld>
            <a:endParaRPr lang="en-US"/>
          </a:p>
        </p:txBody>
      </p:sp>
      <p:pic>
        <p:nvPicPr>
          <p:cNvPr id="6" name="Picture 5">
            <a:extLst>
              <a:ext uri="{FF2B5EF4-FFF2-40B4-BE49-F238E27FC236}">
                <a16:creationId xmlns:a16="http://schemas.microsoft.com/office/drawing/2014/main" id="{BD996526-26F4-3115-3CE8-8F33F0DD0006}"/>
              </a:ext>
            </a:extLst>
          </p:cNvPr>
          <p:cNvPicPr>
            <a:picLocks noChangeAspect="1"/>
          </p:cNvPicPr>
          <p:nvPr/>
        </p:nvPicPr>
        <p:blipFill>
          <a:blip r:embed="rId3"/>
          <a:stretch>
            <a:fillRect/>
          </a:stretch>
        </p:blipFill>
        <p:spPr>
          <a:xfrm>
            <a:off x="7072993" y="264944"/>
            <a:ext cx="2642507" cy="2642507"/>
          </a:xfrm>
          <a:prstGeom prst="rect">
            <a:avLst/>
          </a:prstGeom>
        </p:spPr>
      </p:pic>
      <p:sp>
        <p:nvSpPr>
          <p:cNvPr id="8" name="TextBox 7">
            <a:extLst>
              <a:ext uri="{FF2B5EF4-FFF2-40B4-BE49-F238E27FC236}">
                <a16:creationId xmlns:a16="http://schemas.microsoft.com/office/drawing/2014/main" id="{39FB48DB-63B4-71ED-B10C-B60B0BA7CEAD}"/>
              </a:ext>
            </a:extLst>
          </p:cNvPr>
          <p:cNvSpPr txBox="1"/>
          <p:nvPr/>
        </p:nvSpPr>
        <p:spPr>
          <a:xfrm>
            <a:off x="4250873" y="482918"/>
            <a:ext cx="3619498" cy="1200329"/>
          </a:xfrm>
          <a:prstGeom prst="rect">
            <a:avLst/>
          </a:prstGeom>
          <a:noFill/>
        </p:spPr>
        <p:txBody>
          <a:bodyPr wrap="square">
            <a:spAutoFit/>
          </a:bodyPr>
          <a:lstStyle/>
          <a:p>
            <a:r>
              <a:rPr lang="en-US" sz="3600" dirty="0">
                <a:latin typeface="YaleNew" panose="02000602050000020003" pitchFamily="2" charset="77"/>
              </a:rPr>
              <a:t>Interactive poll questions</a:t>
            </a:r>
          </a:p>
        </p:txBody>
      </p:sp>
      <p:sp>
        <p:nvSpPr>
          <p:cNvPr id="9" name="TextBox 8">
            <a:extLst>
              <a:ext uri="{FF2B5EF4-FFF2-40B4-BE49-F238E27FC236}">
                <a16:creationId xmlns:a16="http://schemas.microsoft.com/office/drawing/2014/main" id="{AFF1008B-585E-0AD9-2E35-A3EF2ECC0C0B}"/>
              </a:ext>
            </a:extLst>
          </p:cNvPr>
          <p:cNvSpPr txBox="1"/>
          <p:nvPr/>
        </p:nvSpPr>
        <p:spPr>
          <a:xfrm>
            <a:off x="4454978" y="3428711"/>
            <a:ext cx="6813437" cy="646331"/>
          </a:xfrm>
          <a:prstGeom prst="rect">
            <a:avLst/>
          </a:prstGeom>
          <a:noFill/>
        </p:spPr>
        <p:txBody>
          <a:bodyPr wrap="square">
            <a:spAutoFit/>
          </a:bodyPr>
          <a:lstStyle/>
          <a:p>
            <a:r>
              <a:rPr lang="en-US" sz="3600" dirty="0">
                <a:latin typeface="YaleNew" panose="02000602050000020003" pitchFamily="2" charset="77"/>
              </a:rPr>
              <a:t>Sign into Clarity at </a:t>
            </a:r>
            <a:r>
              <a:rPr lang="en-US" sz="3600" dirty="0" err="1">
                <a:latin typeface="YaleNew" panose="02000602050000020003" pitchFamily="2" charset="77"/>
                <a:hlinkClick r:id="rId4"/>
              </a:rPr>
              <a:t>clarity.yale.edu</a:t>
            </a:r>
            <a:r>
              <a:rPr lang="en-US" sz="3600" dirty="0">
                <a:latin typeface="YaleNew" panose="02000602050000020003" pitchFamily="2" charset="77"/>
                <a:hlinkClick r:id="rId4"/>
              </a:rPr>
              <a:t> </a:t>
            </a:r>
            <a:endParaRPr lang="en-US" sz="3600" dirty="0">
              <a:latin typeface="YaleNew" panose="02000602050000020003" pitchFamily="2" charset="77"/>
            </a:endParaRPr>
          </a:p>
        </p:txBody>
      </p:sp>
      <p:sp>
        <p:nvSpPr>
          <p:cNvPr id="10" name="TextBox 9">
            <a:extLst>
              <a:ext uri="{FF2B5EF4-FFF2-40B4-BE49-F238E27FC236}">
                <a16:creationId xmlns:a16="http://schemas.microsoft.com/office/drawing/2014/main" id="{19D59128-63A1-E1A0-9FF7-7DFB0C3CF64D}"/>
              </a:ext>
            </a:extLst>
          </p:cNvPr>
          <p:cNvSpPr txBox="1"/>
          <p:nvPr/>
        </p:nvSpPr>
        <p:spPr>
          <a:xfrm>
            <a:off x="4463652" y="4800409"/>
            <a:ext cx="6813437" cy="1200329"/>
          </a:xfrm>
          <a:prstGeom prst="rect">
            <a:avLst/>
          </a:prstGeom>
          <a:noFill/>
        </p:spPr>
        <p:txBody>
          <a:bodyPr wrap="square">
            <a:spAutoFit/>
          </a:bodyPr>
          <a:lstStyle/>
          <a:p>
            <a:r>
              <a:rPr lang="en-US" sz="3600" dirty="0">
                <a:latin typeface="YaleNew" panose="02000602050000020003" pitchFamily="2" charset="77"/>
              </a:rPr>
              <a:t>Download sample dataset from </a:t>
            </a:r>
            <a:r>
              <a:rPr lang="en-US" sz="3600" dirty="0" err="1">
                <a:highlight>
                  <a:srgbClr val="FFFF00"/>
                </a:highlight>
                <a:latin typeface="YaleNew" panose="02000602050000020003" pitchFamily="2" charset="77"/>
              </a:rPr>
              <a:t>Github</a:t>
            </a:r>
            <a:endParaRPr lang="en-US" sz="3600" dirty="0">
              <a:highlight>
                <a:srgbClr val="FFFF00"/>
              </a:highlight>
              <a:latin typeface="YaleNew" panose="02000602050000020003" pitchFamily="2" charset="77"/>
            </a:endParaRPr>
          </a:p>
        </p:txBody>
      </p:sp>
      <p:pic>
        <p:nvPicPr>
          <p:cNvPr id="11" name="Picture 10">
            <a:extLst>
              <a:ext uri="{FF2B5EF4-FFF2-40B4-BE49-F238E27FC236}">
                <a16:creationId xmlns:a16="http://schemas.microsoft.com/office/drawing/2014/main" id="{1ABD0FC0-A9E4-7B2E-4798-CBEA5C6EAD36}"/>
              </a:ext>
            </a:extLst>
          </p:cNvPr>
          <p:cNvPicPr>
            <a:picLocks noChangeAspect="1"/>
          </p:cNvPicPr>
          <p:nvPr/>
        </p:nvPicPr>
        <p:blipFill>
          <a:blip r:embed="rId5"/>
          <a:stretch>
            <a:fillRect/>
          </a:stretch>
        </p:blipFill>
        <p:spPr>
          <a:xfrm>
            <a:off x="9715500" y="264944"/>
            <a:ext cx="2343150" cy="2604109"/>
          </a:xfrm>
          <a:prstGeom prst="rect">
            <a:avLst/>
          </a:prstGeom>
        </p:spPr>
      </p:pic>
      <p:sp>
        <p:nvSpPr>
          <p:cNvPr id="12" name="Oval 11">
            <a:extLst>
              <a:ext uri="{FF2B5EF4-FFF2-40B4-BE49-F238E27FC236}">
                <a16:creationId xmlns:a16="http://schemas.microsoft.com/office/drawing/2014/main" id="{F8CDB292-324C-F089-4553-88DF1A23FEF8}"/>
              </a:ext>
            </a:extLst>
          </p:cNvPr>
          <p:cNvSpPr/>
          <p:nvPr/>
        </p:nvSpPr>
        <p:spPr>
          <a:xfrm>
            <a:off x="9764484" y="2286558"/>
            <a:ext cx="648447" cy="253093"/>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36489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226959" y="1010911"/>
            <a:ext cx="5941351" cy="4922433"/>
          </a:xfrm>
        </p:spPr>
        <p:txBody>
          <a:bodyPr>
            <a:normAutofit/>
          </a:bodyPr>
          <a:lstStyle/>
          <a:p>
            <a:pPr marL="514350" lvl="1" indent="-514350">
              <a:lnSpc>
                <a:spcPct val="100000"/>
              </a:lnSpc>
              <a:spcBef>
                <a:spcPts val="1000"/>
              </a:spcBef>
              <a:buFont typeface="+mj-lt"/>
              <a:buAutoNum type="arabicPeriod"/>
            </a:pPr>
            <a:r>
              <a:rPr lang="en-US" sz="2000" dirty="0">
                <a:latin typeface="Avenir Book" panose="02000503020000020003" pitchFamily="2" charset="0"/>
              </a:rPr>
              <a:t>Navigate to Yale’s Clarity Platform</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Craft effective prompts to get better coding assistance </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Implement AI coding assistants into your programming software</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Apply best practices for AI-assisted programming</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Import and clean data using coding assistant</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p:txBody>
          <a:bodyPr/>
          <a:lstStyle/>
          <a:p>
            <a:r>
              <a:rPr lang="en-US" dirty="0">
                <a:latin typeface="YaleNew" panose="02000602050000020003" pitchFamily="2" charset="77"/>
              </a:rPr>
              <a:t>Learning</a:t>
            </a:r>
          </a:p>
          <a:p>
            <a:r>
              <a:rPr lang="en-US" dirty="0">
                <a:latin typeface="YaleNew" panose="02000602050000020003" pitchFamily="2" charset="77"/>
              </a:rPr>
              <a:t>Objectives</a:t>
            </a:r>
          </a:p>
        </p:txBody>
      </p:sp>
      <p:sp>
        <p:nvSpPr>
          <p:cNvPr id="4" name="Text Placeholder 3">
            <a:extLst>
              <a:ext uri="{FF2B5EF4-FFF2-40B4-BE49-F238E27FC236}">
                <a16:creationId xmlns:a16="http://schemas.microsoft.com/office/drawing/2014/main" id="{1CC9A701-DDC6-F93D-058B-9F0D97EB1A84}"/>
              </a:ext>
            </a:extLst>
          </p:cNvPr>
          <p:cNvSpPr>
            <a:spLocks noGrp="1"/>
          </p:cNvSpPr>
          <p:nvPr>
            <p:ph type="body" sz="quarter" idx="15"/>
          </p:nvPr>
        </p:nvSpPr>
        <p:spPr>
          <a:xfrm>
            <a:off x="497984" y="3185056"/>
            <a:ext cx="3030943" cy="574144"/>
          </a:xfrm>
        </p:spPr>
        <p:txBody>
          <a:bodyPr/>
          <a:lstStyle/>
          <a:p>
            <a:r>
              <a:rPr lang="en-US" i="0" dirty="0">
                <a:cs typeface="+mn-cs"/>
              </a:rPr>
              <a:t>After this training, you should be able to:</a:t>
            </a:r>
          </a:p>
        </p:txBody>
      </p:sp>
      <p:sp>
        <p:nvSpPr>
          <p:cNvPr id="5" name="Slide Number Placeholder 4">
            <a:extLst>
              <a:ext uri="{FF2B5EF4-FFF2-40B4-BE49-F238E27FC236}">
                <a16:creationId xmlns:a16="http://schemas.microsoft.com/office/drawing/2014/main" id="{DD651F43-F33E-D73A-4158-B22BE6C5B9BB}"/>
              </a:ext>
            </a:extLst>
          </p:cNvPr>
          <p:cNvSpPr>
            <a:spLocks noGrp="1"/>
          </p:cNvSpPr>
          <p:nvPr>
            <p:ph type="sldNum" sz="quarter" idx="18"/>
          </p:nvPr>
        </p:nvSpPr>
        <p:spPr/>
        <p:txBody>
          <a:bodyPr/>
          <a:lstStyle/>
          <a:p>
            <a:fld id="{548469FB-C78A-B94B-B04A-B5BC8C934F85}" type="slidenum">
              <a:rPr lang="en-US" smtClean="0"/>
              <a:t>3</a:t>
            </a:fld>
            <a:endParaRPr lang="en-US"/>
          </a:p>
        </p:txBody>
      </p:sp>
    </p:spTree>
    <p:extLst>
      <p:ext uri="{BB962C8B-B14F-4D97-AF65-F5344CB8AC3E}">
        <p14:creationId xmlns:p14="http://schemas.microsoft.com/office/powerpoint/2010/main" val="34723419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904E8-FE71-7102-7561-05F046E7A718}"/>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FB4190B-27CA-E911-E62B-858FB9E062DC}"/>
              </a:ext>
            </a:extLst>
          </p:cNvPr>
          <p:cNvSpPr>
            <a:spLocks noGrp="1"/>
          </p:cNvSpPr>
          <p:nvPr>
            <p:ph type="pic" sz="quarter" idx="12"/>
          </p:nvPr>
        </p:nvSpPr>
        <p:spPr>
          <a:xfrm>
            <a:off x="5181600" y="1283863"/>
            <a:ext cx="6628457" cy="4537273"/>
          </a:xfrm>
        </p:spPr>
        <p:txBody>
          <a:bodyPr>
            <a:normAutofit/>
          </a:bodyPr>
          <a:lstStyle/>
          <a:p>
            <a:r>
              <a:rPr lang="en-US" sz="2000" dirty="0">
                <a:latin typeface="Avenir Book" panose="02000503020000020003" pitchFamily="2" charset="0"/>
              </a:rPr>
              <a:t>Generative AI Overview</a:t>
            </a:r>
          </a:p>
          <a:p>
            <a:endParaRPr lang="en-US" sz="2000" dirty="0">
              <a:latin typeface="Avenir Book" panose="02000503020000020003" pitchFamily="2" charset="0"/>
            </a:endParaRPr>
          </a:p>
          <a:p>
            <a:r>
              <a:rPr lang="en-US" sz="2000" dirty="0">
                <a:latin typeface="Avenir Book" panose="02000503020000020003" pitchFamily="2" charset="0"/>
              </a:rPr>
              <a:t>Yale’s Clarity Platform</a:t>
            </a:r>
          </a:p>
          <a:p>
            <a:endParaRPr lang="en-US" sz="2000" dirty="0">
              <a:latin typeface="Avenir Book" panose="02000503020000020003" pitchFamily="2" charset="0"/>
            </a:endParaRPr>
          </a:p>
          <a:p>
            <a:r>
              <a:rPr lang="en-US" sz="2000" dirty="0">
                <a:latin typeface="Avenir Book" panose="02000503020000020003" pitchFamily="2" charset="0"/>
              </a:rPr>
              <a:t>Prompting</a:t>
            </a:r>
          </a:p>
          <a:p>
            <a:pPr marL="0" indent="0">
              <a:buNone/>
            </a:pPr>
            <a:endParaRPr lang="en-US" sz="2000" dirty="0">
              <a:latin typeface="Avenir Book" panose="02000503020000020003" pitchFamily="2" charset="0"/>
            </a:endParaRPr>
          </a:p>
          <a:p>
            <a:r>
              <a:rPr lang="en-US" sz="2000" dirty="0">
                <a:latin typeface="Avenir Book" panose="02000503020000020003" pitchFamily="2" charset="0"/>
              </a:rPr>
              <a:t>Workshop Activity – Hands on R Coding</a:t>
            </a:r>
          </a:p>
          <a:p>
            <a:endParaRPr lang="en-US" sz="2000" dirty="0">
              <a:latin typeface="Avenir Book" panose="02000503020000020003" pitchFamily="2" charset="0"/>
            </a:endParaRPr>
          </a:p>
          <a:p>
            <a:r>
              <a:rPr lang="en-US" sz="2000" dirty="0">
                <a:latin typeface="Avenir Book" panose="02000503020000020003" pitchFamily="2" charset="0"/>
              </a:rPr>
              <a:t>Coding with AI Agents (Live demo)</a:t>
            </a:r>
          </a:p>
          <a:p>
            <a:endParaRPr lang="en-US" sz="1400" dirty="0">
              <a:latin typeface="Avenir Book" panose="02000503020000020003" pitchFamily="2" charset="0"/>
            </a:endParaRPr>
          </a:p>
        </p:txBody>
      </p:sp>
      <p:sp>
        <p:nvSpPr>
          <p:cNvPr id="3" name="Text Placeholder 2">
            <a:extLst>
              <a:ext uri="{FF2B5EF4-FFF2-40B4-BE49-F238E27FC236}">
                <a16:creationId xmlns:a16="http://schemas.microsoft.com/office/drawing/2014/main" id="{1857C7A0-5DE4-540F-C3DA-F3A1D0A8FDF2}"/>
              </a:ext>
            </a:extLst>
          </p:cNvPr>
          <p:cNvSpPr>
            <a:spLocks noGrp="1"/>
          </p:cNvSpPr>
          <p:nvPr>
            <p:ph type="body" sz="quarter" idx="11"/>
          </p:nvPr>
        </p:nvSpPr>
        <p:spPr>
          <a:xfrm>
            <a:off x="458143" y="3143633"/>
            <a:ext cx="3034570" cy="722197"/>
          </a:xfrm>
        </p:spPr>
        <p:txBody>
          <a:bodyPr/>
          <a:lstStyle/>
          <a:p>
            <a:pPr algn="ctr"/>
            <a:r>
              <a:rPr lang="en-US" dirty="0">
                <a:latin typeface="YaleNew" panose="02000602050000020003" pitchFamily="2" charset="77"/>
              </a:rPr>
              <a:t>Agenda</a:t>
            </a:r>
          </a:p>
        </p:txBody>
      </p:sp>
      <p:sp>
        <p:nvSpPr>
          <p:cNvPr id="6" name="Slide Number Placeholder 5">
            <a:extLst>
              <a:ext uri="{FF2B5EF4-FFF2-40B4-BE49-F238E27FC236}">
                <a16:creationId xmlns:a16="http://schemas.microsoft.com/office/drawing/2014/main" id="{ED04705E-0536-8195-659A-45C71DEAB971}"/>
              </a:ext>
            </a:extLst>
          </p:cNvPr>
          <p:cNvSpPr>
            <a:spLocks noGrp="1"/>
          </p:cNvSpPr>
          <p:nvPr>
            <p:ph type="sldNum" sz="quarter" idx="18"/>
          </p:nvPr>
        </p:nvSpPr>
        <p:spPr/>
        <p:txBody>
          <a:bodyPr/>
          <a:lstStyle/>
          <a:p>
            <a:fld id="{548469FB-C78A-B94B-B04A-B5BC8C934F85}" type="slidenum">
              <a:rPr lang="en-US" smtClean="0"/>
              <a:t>4</a:t>
            </a:fld>
            <a:endParaRPr lang="en-US"/>
          </a:p>
        </p:txBody>
      </p:sp>
    </p:spTree>
    <p:extLst>
      <p:ext uri="{BB962C8B-B14F-4D97-AF65-F5344CB8AC3E}">
        <p14:creationId xmlns:p14="http://schemas.microsoft.com/office/powerpoint/2010/main" val="2450962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2E1C7F5-A95A-8EDF-116F-175F8BD17E45}"/>
              </a:ext>
            </a:extLst>
          </p:cNvPr>
          <p:cNvSpPr>
            <a:spLocks noGrp="1"/>
          </p:cNvSpPr>
          <p:nvPr>
            <p:ph type="body" sz="quarter" idx="11"/>
          </p:nvPr>
        </p:nvSpPr>
        <p:spPr/>
        <p:txBody>
          <a:bodyPr/>
          <a:lstStyle/>
          <a:p>
            <a:r>
              <a:rPr lang="en-US" dirty="0">
                <a:latin typeface="YaleNew" panose="02000602050000020003" pitchFamily="2" charset="77"/>
              </a:rPr>
              <a:t>Generative AI Overview</a:t>
            </a:r>
          </a:p>
          <a:p>
            <a:endParaRPr lang="en-US" dirty="0"/>
          </a:p>
        </p:txBody>
      </p:sp>
      <p:sp>
        <p:nvSpPr>
          <p:cNvPr id="4" name="Text Placeholder 3">
            <a:extLst>
              <a:ext uri="{FF2B5EF4-FFF2-40B4-BE49-F238E27FC236}">
                <a16:creationId xmlns:a16="http://schemas.microsoft.com/office/drawing/2014/main" id="{DEDA7DA6-DC81-870B-9646-A6805394DF1C}"/>
              </a:ext>
            </a:extLst>
          </p:cNvPr>
          <p:cNvSpPr>
            <a:spLocks noGrp="1"/>
          </p:cNvSpPr>
          <p:nvPr>
            <p:ph type="body" sz="quarter" idx="15"/>
          </p:nvPr>
        </p:nvSpPr>
        <p:spPr/>
        <p:txBody>
          <a:bodyPr/>
          <a:lstStyle/>
          <a:p>
            <a:r>
              <a:rPr lang="en-US" dirty="0">
                <a:hlinkClick r:id="rId3"/>
              </a:rPr>
              <a:t>What is generative AI?</a:t>
            </a:r>
            <a:endParaRPr lang="en-US" dirty="0"/>
          </a:p>
          <a:p>
            <a:endParaRPr lang="en-US" dirty="0"/>
          </a:p>
        </p:txBody>
      </p:sp>
      <p:sp>
        <p:nvSpPr>
          <p:cNvPr id="5" name="Slide Number Placeholder 4">
            <a:extLst>
              <a:ext uri="{FF2B5EF4-FFF2-40B4-BE49-F238E27FC236}">
                <a16:creationId xmlns:a16="http://schemas.microsoft.com/office/drawing/2014/main" id="{F8841B4C-14E3-F203-A910-D1496E4A4DA0}"/>
              </a:ext>
            </a:extLst>
          </p:cNvPr>
          <p:cNvSpPr>
            <a:spLocks noGrp="1"/>
          </p:cNvSpPr>
          <p:nvPr>
            <p:ph type="sldNum" sz="quarter" idx="18"/>
          </p:nvPr>
        </p:nvSpPr>
        <p:spPr/>
        <p:txBody>
          <a:bodyPr/>
          <a:lstStyle/>
          <a:p>
            <a:fld id="{548469FB-C78A-B94B-B04A-B5BC8C934F85}" type="slidenum">
              <a:rPr lang="en-US" smtClean="0"/>
              <a:t>5</a:t>
            </a:fld>
            <a:endParaRPr lang="en-US"/>
          </a:p>
        </p:txBody>
      </p:sp>
      <p:sp>
        <p:nvSpPr>
          <p:cNvPr id="9" name="TextBox 8">
            <a:extLst>
              <a:ext uri="{FF2B5EF4-FFF2-40B4-BE49-F238E27FC236}">
                <a16:creationId xmlns:a16="http://schemas.microsoft.com/office/drawing/2014/main" id="{B8B8CBF1-DAAB-470C-9FE9-8EDD851C35CD}"/>
              </a:ext>
            </a:extLst>
          </p:cNvPr>
          <p:cNvSpPr txBox="1"/>
          <p:nvPr/>
        </p:nvSpPr>
        <p:spPr>
          <a:xfrm>
            <a:off x="4460510" y="1117803"/>
            <a:ext cx="7358324" cy="4401205"/>
          </a:xfrm>
          <a:prstGeom prst="rect">
            <a:avLst/>
          </a:prstGeom>
          <a:noFill/>
        </p:spPr>
        <p:txBody>
          <a:bodyPr wrap="square" rtlCol="0">
            <a:spAutoFit/>
          </a:bodyPr>
          <a:lstStyle/>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A subset of AI that uses deep-learning models to create new content (text, code, images) rather than just classifying existing data</a:t>
            </a:r>
          </a:p>
          <a:p>
            <a:pPr marL="171450" lvl="0" indent="-17145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Learns statistical patterns from massive datasets to predict and synthesize probable outputs</a:t>
            </a:r>
          </a:p>
          <a:p>
            <a:pPr marL="171450" lvl="0" indent="-17145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Converting natural language instructions into functional programming syntax</a:t>
            </a:r>
          </a:p>
          <a:p>
            <a:pPr marL="171450" lvl="0" indent="-17145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For use in programing, it understands the structural rules of R, Python, SQL, etc.</a:t>
            </a:r>
          </a:p>
          <a:p>
            <a:pPr marL="171450" lvl="0" indent="-17145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Can "read" and explain existing logic or debug errors.</a:t>
            </a:r>
          </a:p>
        </p:txBody>
      </p:sp>
    </p:spTree>
    <p:extLst>
      <p:ext uri="{BB962C8B-B14F-4D97-AF65-F5344CB8AC3E}">
        <p14:creationId xmlns:p14="http://schemas.microsoft.com/office/powerpoint/2010/main" val="1106045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26366-48D0-2E85-3840-3408C85A9E5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5018344-BE91-F1ED-4B1E-87EE7AC547F6}"/>
              </a:ext>
            </a:extLst>
          </p:cNvPr>
          <p:cNvSpPr>
            <a:spLocks noGrp="1"/>
          </p:cNvSpPr>
          <p:nvPr>
            <p:ph type="body" sz="quarter" idx="11"/>
          </p:nvPr>
        </p:nvSpPr>
        <p:spPr/>
        <p:txBody>
          <a:bodyPr/>
          <a:lstStyle/>
          <a:p>
            <a:r>
              <a:rPr lang="en-US" dirty="0">
                <a:latin typeface="YaleNew" panose="02000602050000020003" pitchFamily="2" charset="77"/>
              </a:rPr>
              <a:t>Generative AI Overview</a:t>
            </a:r>
          </a:p>
          <a:p>
            <a:endParaRPr lang="en-US" dirty="0"/>
          </a:p>
        </p:txBody>
      </p:sp>
      <p:sp>
        <p:nvSpPr>
          <p:cNvPr id="4" name="Text Placeholder 3">
            <a:extLst>
              <a:ext uri="{FF2B5EF4-FFF2-40B4-BE49-F238E27FC236}">
                <a16:creationId xmlns:a16="http://schemas.microsoft.com/office/drawing/2014/main" id="{A24A6694-AD37-D986-4FD9-DCEF4F008702}"/>
              </a:ext>
            </a:extLst>
          </p:cNvPr>
          <p:cNvSpPr>
            <a:spLocks noGrp="1"/>
          </p:cNvSpPr>
          <p:nvPr>
            <p:ph type="body" sz="quarter" idx="15"/>
          </p:nvPr>
        </p:nvSpPr>
        <p:spPr/>
        <p:txBody>
          <a:bodyPr/>
          <a:lstStyle/>
          <a:p>
            <a:r>
              <a:rPr lang="en-US" dirty="0"/>
              <a:t>A few examples how it is used in research</a:t>
            </a:r>
          </a:p>
          <a:p>
            <a:endParaRPr lang="en-US" dirty="0"/>
          </a:p>
        </p:txBody>
      </p:sp>
      <p:sp>
        <p:nvSpPr>
          <p:cNvPr id="5" name="Slide Number Placeholder 4">
            <a:extLst>
              <a:ext uri="{FF2B5EF4-FFF2-40B4-BE49-F238E27FC236}">
                <a16:creationId xmlns:a16="http://schemas.microsoft.com/office/drawing/2014/main" id="{C8D9A98C-7CE2-A34A-D318-7B629BE9C50B}"/>
              </a:ext>
            </a:extLst>
          </p:cNvPr>
          <p:cNvSpPr>
            <a:spLocks noGrp="1"/>
          </p:cNvSpPr>
          <p:nvPr>
            <p:ph type="sldNum" sz="quarter" idx="18"/>
          </p:nvPr>
        </p:nvSpPr>
        <p:spPr/>
        <p:txBody>
          <a:bodyPr/>
          <a:lstStyle/>
          <a:p>
            <a:fld id="{548469FB-C78A-B94B-B04A-B5BC8C934F85}" type="slidenum">
              <a:rPr lang="en-US" smtClean="0"/>
              <a:t>6</a:t>
            </a:fld>
            <a:endParaRPr lang="en-US"/>
          </a:p>
        </p:txBody>
      </p:sp>
      <p:sp>
        <p:nvSpPr>
          <p:cNvPr id="6" name="TextBox 5">
            <a:extLst>
              <a:ext uri="{FF2B5EF4-FFF2-40B4-BE49-F238E27FC236}">
                <a16:creationId xmlns:a16="http://schemas.microsoft.com/office/drawing/2014/main" id="{2C8F9E86-B793-BBC9-51C7-487B4DD51170}"/>
              </a:ext>
            </a:extLst>
          </p:cNvPr>
          <p:cNvSpPr txBox="1"/>
          <p:nvPr/>
        </p:nvSpPr>
        <p:spPr>
          <a:xfrm>
            <a:off x="4455016" y="1251153"/>
            <a:ext cx="7289800" cy="4462760"/>
          </a:xfrm>
          <a:prstGeom prst="rect">
            <a:avLst/>
          </a:prstGeom>
          <a:noFill/>
        </p:spPr>
        <p:txBody>
          <a:bodyPr wrap="square" rtlCol="0">
            <a:spAutoFit/>
          </a:bodyPr>
          <a:lstStyle/>
          <a:p>
            <a:pPr marL="342900" indent="-342900">
              <a:buFont typeface="Arial" panose="020B0604020202020204" pitchFamily="34" charset="0"/>
              <a:buChar char="•"/>
            </a:pPr>
            <a:r>
              <a:rPr lang="en-US" sz="2000" dirty="0">
                <a:latin typeface="Avenir Book" panose="02000503020000020003" pitchFamily="2" charset="0"/>
              </a:rPr>
              <a:t>Generate code (R, Python, etc.) for data cleaning complex statistical tests</a:t>
            </a:r>
          </a:p>
          <a:p>
            <a:pPr marL="285750" indent="-285750">
              <a:buFont typeface="Arial" panose="020B0604020202020204" pitchFamily="34" charset="0"/>
              <a:buChar char="•"/>
            </a:pPr>
            <a:endParaRPr lang="en-US" sz="2000" dirty="0">
              <a:latin typeface="Avenir Book" panose="02000503020000020003" pitchFamily="2" charset="0"/>
            </a:endParaRPr>
          </a:p>
          <a:p>
            <a:pPr marL="342900" indent="-342900">
              <a:buFont typeface="Arial" panose="020B0604020202020204" pitchFamily="34" charset="0"/>
              <a:buChar char="•"/>
            </a:pPr>
            <a:r>
              <a:rPr lang="en-US" sz="2000" dirty="0">
                <a:latin typeface="Avenir Book" panose="02000503020000020003" pitchFamily="2" charset="0"/>
              </a:rPr>
              <a:t>Create mock datasets used to test code or for teaching without the risks of exposing PHI data</a:t>
            </a:r>
          </a:p>
          <a:p>
            <a:pPr marL="285750" indent="-285750">
              <a:buFont typeface="Arial" panose="020B0604020202020204" pitchFamily="34" charset="0"/>
              <a:buChar char="•"/>
            </a:pPr>
            <a:endParaRPr lang="en-US" sz="2000" dirty="0">
              <a:latin typeface="Avenir Book" panose="02000503020000020003" pitchFamily="2" charset="0"/>
            </a:endParaRPr>
          </a:p>
          <a:p>
            <a:pPr marL="342900" indent="-342900">
              <a:buFont typeface="Arial" panose="020B0604020202020204" pitchFamily="34" charset="0"/>
              <a:buChar char="•"/>
            </a:pPr>
            <a:r>
              <a:rPr lang="en-US" sz="2000" dirty="0">
                <a:latin typeface="Avenir Book" panose="02000503020000020003" pitchFamily="2" charset="0"/>
              </a:rPr>
              <a:t>Accelerate pipeline development used to automate multi-step omics processing</a:t>
            </a:r>
          </a:p>
          <a:p>
            <a:pPr marL="285750" indent="-285750">
              <a:buFont typeface="Arial" panose="020B0604020202020204" pitchFamily="34" charset="0"/>
              <a:buChar char="•"/>
            </a:pPr>
            <a:endParaRPr lang="en-US" sz="2000" dirty="0">
              <a:latin typeface="Avenir Book" panose="02000503020000020003" pitchFamily="2" charset="0"/>
            </a:endParaRPr>
          </a:p>
          <a:p>
            <a:pPr marL="342900" indent="-342900">
              <a:buFont typeface="Arial" panose="020B0604020202020204" pitchFamily="34" charset="0"/>
              <a:buChar char="•"/>
            </a:pPr>
            <a:r>
              <a:rPr lang="en-US" sz="2000" dirty="0">
                <a:latin typeface="Avenir Book" panose="02000503020000020003" pitchFamily="2" charset="0"/>
              </a:rPr>
              <a:t>Extract clinical information from physician notes, discharge summaries, radiology reports, and pathology reports that would otherwise require manual chart review</a:t>
            </a:r>
          </a:p>
          <a:p>
            <a:endParaRPr lang="en-US" sz="800" dirty="0">
              <a:latin typeface="Avenir Book" panose="02000503020000020003" pitchFamily="2" charset="0"/>
            </a:endParaRPr>
          </a:p>
          <a:p>
            <a:pPr marL="800100" lvl="1" indent="-342900">
              <a:buFont typeface="Courier New" panose="02070309020205020404" pitchFamily="49" charset="0"/>
              <a:buChar char="o"/>
            </a:pPr>
            <a:r>
              <a:rPr lang="en-US" dirty="0">
                <a:latin typeface="Avenir Book" panose="02000503020000020003" pitchFamily="2" charset="0"/>
              </a:rPr>
              <a:t>Diagnoses, medications, procedures, lab values, symptoms, anatomical locations, etc.</a:t>
            </a:r>
          </a:p>
        </p:txBody>
      </p:sp>
    </p:spTree>
    <p:extLst>
      <p:ext uri="{BB962C8B-B14F-4D97-AF65-F5344CB8AC3E}">
        <p14:creationId xmlns:p14="http://schemas.microsoft.com/office/powerpoint/2010/main" val="2142179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4604A-A837-7181-0590-750E5768D19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06EDD635-F1B4-AE83-3A95-ADF58996DD5B}"/>
              </a:ext>
            </a:extLst>
          </p:cNvPr>
          <p:cNvSpPr>
            <a:spLocks noGrp="1"/>
          </p:cNvSpPr>
          <p:nvPr>
            <p:ph type="body" sz="quarter" idx="11"/>
          </p:nvPr>
        </p:nvSpPr>
        <p:spPr/>
        <p:txBody>
          <a:bodyPr/>
          <a:lstStyle/>
          <a:p>
            <a:r>
              <a:rPr lang="en-US" dirty="0">
                <a:latin typeface="YaleNew" panose="02000602050000020003" pitchFamily="2" charset="77"/>
              </a:rPr>
              <a:t>Generative AI Overview</a:t>
            </a:r>
          </a:p>
          <a:p>
            <a:endParaRPr lang="en-US" dirty="0"/>
          </a:p>
        </p:txBody>
      </p:sp>
      <p:sp>
        <p:nvSpPr>
          <p:cNvPr id="4" name="Text Placeholder 3">
            <a:extLst>
              <a:ext uri="{FF2B5EF4-FFF2-40B4-BE49-F238E27FC236}">
                <a16:creationId xmlns:a16="http://schemas.microsoft.com/office/drawing/2014/main" id="{D6712E7E-82DD-F6F4-A0D1-B0F47CFA51BB}"/>
              </a:ext>
            </a:extLst>
          </p:cNvPr>
          <p:cNvSpPr>
            <a:spLocks noGrp="1"/>
          </p:cNvSpPr>
          <p:nvPr>
            <p:ph type="body" sz="quarter" idx="15"/>
          </p:nvPr>
        </p:nvSpPr>
        <p:spPr/>
        <p:txBody>
          <a:bodyPr/>
          <a:lstStyle/>
          <a:p>
            <a:r>
              <a:rPr lang="en-US" dirty="0">
                <a:hlinkClick r:id="rId3"/>
              </a:rPr>
              <a:t>How can it benefit you?</a:t>
            </a:r>
            <a:endParaRPr lang="en-US" dirty="0"/>
          </a:p>
          <a:p>
            <a:endParaRPr lang="en-US" dirty="0"/>
          </a:p>
        </p:txBody>
      </p:sp>
      <p:sp>
        <p:nvSpPr>
          <p:cNvPr id="5" name="Slide Number Placeholder 4">
            <a:extLst>
              <a:ext uri="{FF2B5EF4-FFF2-40B4-BE49-F238E27FC236}">
                <a16:creationId xmlns:a16="http://schemas.microsoft.com/office/drawing/2014/main" id="{C35867B7-6710-8006-3E74-EF87B35709AF}"/>
              </a:ext>
            </a:extLst>
          </p:cNvPr>
          <p:cNvSpPr>
            <a:spLocks noGrp="1"/>
          </p:cNvSpPr>
          <p:nvPr>
            <p:ph type="sldNum" sz="quarter" idx="18"/>
          </p:nvPr>
        </p:nvSpPr>
        <p:spPr/>
        <p:txBody>
          <a:bodyPr/>
          <a:lstStyle/>
          <a:p>
            <a:fld id="{548469FB-C78A-B94B-B04A-B5BC8C934F85}" type="slidenum">
              <a:rPr lang="en-US" smtClean="0"/>
              <a:t>7</a:t>
            </a:fld>
            <a:endParaRPr lang="en-US"/>
          </a:p>
        </p:txBody>
      </p:sp>
      <p:sp>
        <p:nvSpPr>
          <p:cNvPr id="8" name="TextBox 7">
            <a:extLst>
              <a:ext uri="{FF2B5EF4-FFF2-40B4-BE49-F238E27FC236}">
                <a16:creationId xmlns:a16="http://schemas.microsoft.com/office/drawing/2014/main" id="{570AB034-4FF9-5F74-4FCE-B53CF981A8C4}"/>
              </a:ext>
            </a:extLst>
          </p:cNvPr>
          <p:cNvSpPr txBox="1"/>
          <p:nvPr/>
        </p:nvSpPr>
        <p:spPr>
          <a:xfrm>
            <a:off x="4385734" y="481712"/>
            <a:ext cx="7577666" cy="6247864"/>
          </a:xfrm>
          <a:prstGeom prst="rect">
            <a:avLst/>
          </a:prstGeom>
          <a:noFill/>
        </p:spPr>
        <p:txBody>
          <a:bodyPr wrap="square" rtlCol="0">
            <a:spAutoFit/>
          </a:bodyPr>
          <a:lstStyle/>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Generates boilerplate code and initial drafts of functions instantly.</a:t>
            </a:r>
          </a:p>
          <a:p>
            <a:pPr marL="342900" lvl="0" indent="-34290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Speeds up routine data manipulation and cleaning</a:t>
            </a:r>
          </a:p>
          <a:p>
            <a:pPr lvl="0" eaLnBrk="0" fontAlgn="base" hangingPunct="0">
              <a:spcBef>
                <a:spcPct val="0"/>
              </a:spcBef>
              <a:spcAft>
                <a:spcPct val="0"/>
              </a:spcAft>
            </a:pPr>
            <a:endParaRPr lang="en-US" altLang="en-US" sz="600" dirty="0">
              <a:solidFill>
                <a:srgbClr val="000000"/>
              </a:solidFill>
              <a:latin typeface="Avenir Book" panose="02000503020000020003" pitchFamily="2" charset="0"/>
            </a:endParaRPr>
          </a:p>
          <a:p>
            <a:pPr marL="800100" lvl="1" indent="-342900" eaLnBrk="0" fontAlgn="base" hangingPunct="0">
              <a:spcBef>
                <a:spcPct val="0"/>
              </a:spcBef>
              <a:spcAft>
                <a:spcPct val="0"/>
              </a:spcAft>
              <a:buFont typeface="Courier New" panose="02070309020205020404" pitchFamily="49" charset="0"/>
              <a:buChar char="o"/>
            </a:pPr>
            <a:r>
              <a:rPr lang="en-US" altLang="en-US" sz="2000" dirty="0">
                <a:solidFill>
                  <a:srgbClr val="000000"/>
                </a:solidFill>
                <a:latin typeface="Avenir Book" panose="02000503020000020003" pitchFamily="2" charset="0"/>
              </a:rPr>
              <a:t>handling missing values, reformatting datasets, etc.</a:t>
            </a:r>
          </a:p>
          <a:p>
            <a:pPr marL="800100" lvl="1" indent="-342900" eaLnBrk="0" fontAlgn="base" hangingPunct="0">
              <a:spcBef>
                <a:spcPct val="0"/>
              </a:spcBef>
              <a:spcAft>
                <a:spcPct val="0"/>
              </a:spcAft>
              <a:buFont typeface="Courier New" panose="02070309020205020404" pitchFamily="49" charset="0"/>
              <a:buChar char="o"/>
            </a:pPr>
            <a:endParaRPr lang="en-US" altLang="en-US" sz="2000" dirty="0">
              <a:solidFill>
                <a:srgbClr val="000000"/>
              </a:solidFill>
              <a:latin typeface="Avenir Book" panose="02000503020000020003" pitchFamily="2" charset="0"/>
            </a:endParaRPr>
          </a:p>
          <a:p>
            <a:pPr marL="34290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Rapid Visualization by creating complex plots from simple descriptions without you having to spend hours looking up syntax</a:t>
            </a:r>
          </a:p>
          <a:p>
            <a:pPr marL="342900" indent="-34290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Real-time troubleshooting by providing instant explanations for error messages and suggests specific fixes</a:t>
            </a:r>
          </a:p>
          <a:p>
            <a:pPr marL="342900" indent="-34290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Can acts as a personalized tutor for researchers switching between programming languages </a:t>
            </a:r>
          </a:p>
          <a:p>
            <a:pPr marL="342900" indent="-342900" eaLnBrk="0" fontAlgn="base" hangingPunct="0">
              <a:spcBef>
                <a:spcPct val="0"/>
              </a:spcBef>
              <a:spcAft>
                <a:spcPct val="0"/>
              </a:spcAft>
              <a:buFont typeface="Arial" panose="020B0604020202020204" pitchFamily="34" charset="0"/>
              <a:buChar char="•"/>
            </a:pPr>
            <a:endParaRPr lang="en-US" altLang="en-US" sz="2000" dirty="0">
              <a:solidFill>
                <a:srgbClr val="000000"/>
              </a:solidFill>
              <a:latin typeface="Avenir Book" panose="02000503020000020003" pitchFamily="2" charset="0"/>
            </a:endParaRPr>
          </a:p>
          <a:p>
            <a:pPr marL="342900" indent="-342900" eaLnBrk="0" fontAlgn="base" hangingPunct="0">
              <a:spcBef>
                <a:spcPct val="0"/>
              </a:spcBef>
              <a:spcAft>
                <a:spcPct val="0"/>
              </a:spcAft>
              <a:buFont typeface="Arial" panose="020B0604020202020204" pitchFamily="34" charset="0"/>
              <a:buChar char="•"/>
            </a:pPr>
            <a:r>
              <a:rPr lang="en-US" altLang="en-US" sz="2000" dirty="0">
                <a:solidFill>
                  <a:srgbClr val="000000"/>
                </a:solidFill>
                <a:latin typeface="Avenir Book" panose="02000503020000020003" pitchFamily="2" charset="0"/>
              </a:rPr>
              <a:t>Can automatically generate comments and docstrings to make research code reproducible</a:t>
            </a:r>
            <a:endParaRPr lang="en-US" altLang="en-US" sz="2000" dirty="0">
              <a:latin typeface="Avenir Book" panose="02000503020000020003" pitchFamily="2" charset="0"/>
            </a:endParaRPr>
          </a:p>
          <a:p>
            <a:endParaRPr lang="en-US" sz="2000" dirty="0">
              <a:latin typeface="Avenir Book" panose="02000503020000020003" pitchFamily="2" charset="0"/>
            </a:endParaRPr>
          </a:p>
        </p:txBody>
      </p:sp>
    </p:spTree>
    <p:extLst>
      <p:ext uri="{BB962C8B-B14F-4D97-AF65-F5344CB8AC3E}">
        <p14:creationId xmlns:p14="http://schemas.microsoft.com/office/powerpoint/2010/main" val="87568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20B5-D5CF-62DD-2A6B-9E0D2CBF12C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D29AD98-2741-37D4-421A-BA0086FDC7DC}"/>
              </a:ext>
            </a:extLst>
          </p:cNvPr>
          <p:cNvSpPr>
            <a:spLocks noGrp="1"/>
          </p:cNvSpPr>
          <p:nvPr>
            <p:ph type="body" sz="quarter" idx="11"/>
          </p:nvPr>
        </p:nvSpPr>
        <p:spPr/>
        <p:txBody>
          <a:bodyPr/>
          <a:lstStyle/>
          <a:p>
            <a:r>
              <a:rPr lang="en-US" dirty="0">
                <a:latin typeface="YaleNew" panose="02000602050000020003" pitchFamily="2" charset="77"/>
              </a:rPr>
              <a:t>Generative AI Overview</a:t>
            </a:r>
          </a:p>
          <a:p>
            <a:endParaRPr lang="en-US" dirty="0"/>
          </a:p>
        </p:txBody>
      </p:sp>
      <p:sp>
        <p:nvSpPr>
          <p:cNvPr id="4" name="Text Placeholder 3">
            <a:extLst>
              <a:ext uri="{FF2B5EF4-FFF2-40B4-BE49-F238E27FC236}">
                <a16:creationId xmlns:a16="http://schemas.microsoft.com/office/drawing/2014/main" id="{E66356D7-79FC-8E0D-AC40-3055E28C6D44}"/>
              </a:ext>
            </a:extLst>
          </p:cNvPr>
          <p:cNvSpPr>
            <a:spLocks noGrp="1"/>
          </p:cNvSpPr>
          <p:nvPr>
            <p:ph type="body" sz="quarter" idx="15"/>
          </p:nvPr>
        </p:nvSpPr>
        <p:spPr/>
        <p:txBody>
          <a:bodyPr/>
          <a:lstStyle/>
          <a:p>
            <a:r>
              <a:rPr lang="en-US" dirty="0"/>
              <a:t>How is it being used at Yale currently</a:t>
            </a:r>
          </a:p>
          <a:p>
            <a:endParaRPr lang="en-US" dirty="0"/>
          </a:p>
        </p:txBody>
      </p:sp>
      <p:sp>
        <p:nvSpPr>
          <p:cNvPr id="5" name="Slide Number Placeholder 4">
            <a:extLst>
              <a:ext uri="{FF2B5EF4-FFF2-40B4-BE49-F238E27FC236}">
                <a16:creationId xmlns:a16="http://schemas.microsoft.com/office/drawing/2014/main" id="{0EB3136A-1C46-8C08-C74B-561171893715}"/>
              </a:ext>
            </a:extLst>
          </p:cNvPr>
          <p:cNvSpPr>
            <a:spLocks noGrp="1"/>
          </p:cNvSpPr>
          <p:nvPr>
            <p:ph type="sldNum" sz="quarter" idx="18"/>
          </p:nvPr>
        </p:nvSpPr>
        <p:spPr/>
        <p:txBody>
          <a:bodyPr/>
          <a:lstStyle/>
          <a:p>
            <a:fld id="{548469FB-C78A-B94B-B04A-B5BC8C934F85}" type="slidenum">
              <a:rPr lang="en-US" smtClean="0"/>
              <a:t>8</a:t>
            </a:fld>
            <a:endParaRPr lang="en-US"/>
          </a:p>
        </p:txBody>
      </p:sp>
      <p:sp>
        <p:nvSpPr>
          <p:cNvPr id="10" name="Rectangle 2">
            <a:extLst>
              <a:ext uri="{FF2B5EF4-FFF2-40B4-BE49-F238E27FC236}">
                <a16:creationId xmlns:a16="http://schemas.microsoft.com/office/drawing/2014/main" id="{143AF03F-C51C-4AB7-3BA9-82EBA5C35BD5}"/>
              </a:ext>
            </a:extLst>
          </p:cNvPr>
          <p:cNvSpPr>
            <a:spLocks noChangeArrowheads="1"/>
          </p:cNvSpPr>
          <p:nvPr/>
        </p:nvSpPr>
        <p:spPr bwMode="auto">
          <a:xfrm>
            <a:off x="4141824" y="136525"/>
            <a:ext cx="8171261" cy="6494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R="0" lvl="0" algn="l" defTabSz="914400" rtl="0" eaLnBrk="0" fontAlgn="base" latinLnBrk="0" hangingPunct="0">
              <a:lnSpc>
                <a:spcPct val="100000"/>
              </a:lnSpc>
              <a:spcBef>
                <a:spcPct val="0"/>
              </a:spcBef>
              <a:spcAft>
                <a:spcPct val="0"/>
              </a:spcAft>
              <a:buClrTx/>
              <a:buSzTx/>
              <a:tabLst/>
            </a:pPr>
            <a:r>
              <a:rPr kumimoji="0" lang="en-US" altLang="en-US" sz="1600" b="1" i="0" u="none" strike="noStrike" cap="none" normalizeH="0" baseline="0" dirty="0">
                <a:ln>
                  <a:noFill/>
                </a:ln>
                <a:solidFill>
                  <a:srgbClr val="000000"/>
                </a:solidFill>
                <a:effectLst/>
                <a:latin typeface="Avenir Book" panose="02000503020000020003" pitchFamily="2" charset="0"/>
                <a:hlinkClick r:id="rId3"/>
              </a:rPr>
              <a:t>Precision Oncology</a:t>
            </a:r>
            <a:endParaRPr lang="en-US" altLang="en-US" sz="1600" dirty="0">
              <a:solidFill>
                <a:srgbClr val="000000"/>
              </a:solidFill>
              <a:latin typeface="Avenir Book" panose="02000503020000020003" pitchFamily="2" charset="0"/>
            </a:endParaRPr>
          </a:p>
          <a:p>
            <a:r>
              <a:rPr lang="en-US" sz="1600" dirty="0">
                <a:latin typeface="Avenir Book" panose="02000503020000020003" pitchFamily="2" charset="0"/>
              </a:rPr>
              <a:t>AI frameworks to integrate clinical, genetic, and phenotypic data to create patient-specific prognostic tests, particularly for aggressive cancers like glioblastoma.</a:t>
            </a:r>
          </a:p>
          <a:p>
            <a:pPr marR="0" lvl="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venir Book" panose="02000503020000020003"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000000"/>
                </a:solidFill>
                <a:effectLst/>
                <a:latin typeface="Avenir Book" panose="02000503020000020003" pitchFamily="2" charset="0"/>
                <a:hlinkClick r:id="rId4"/>
              </a:rPr>
              <a:t>Me-</a:t>
            </a:r>
            <a:r>
              <a:rPr kumimoji="0" lang="en-US" altLang="en-US" sz="1600" b="1" i="0" u="none" strike="noStrike" cap="none" normalizeH="0" baseline="0" dirty="0" err="1">
                <a:ln>
                  <a:noFill/>
                </a:ln>
                <a:solidFill>
                  <a:srgbClr val="000000"/>
                </a:solidFill>
                <a:effectLst/>
                <a:latin typeface="Avenir Book" panose="02000503020000020003" pitchFamily="2" charset="0"/>
                <a:hlinkClick r:id="rId4"/>
              </a:rPr>
              <a:t>LLaMA</a:t>
            </a:r>
            <a:r>
              <a:rPr kumimoji="0" lang="en-US" altLang="en-US" sz="1600" b="1" i="0" u="none" strike="noStrike" cap="none" normalizeH="0" baseline="0" dirty="0">
                <a:ln>
                  <a:noFill/>
                </a:ln>
                <a:solidFill>
                  <a:srgbClr val="000000"/>
                </a:solidFill>
                <a:effectLst/>
                <a:latin typeface="Avenir Book" panose="02000503020000020003" pitchFamily="2" charset="0"/>
                <a:hlinkClick r:id="rId4"/>
              </a:rPr>
              <a:t> Clinical Chatbot</a:t>
            </a:r>
            <a:r>
              <a:rPr kumimoji="0" lang="en-US" altLang="en-US" sz="1600" b="0" i="0" u="none" strike="noStrike" cap="none" normalizeH="0" baseline="0" dirty="0">
                <a:ln>
                  <a:noFill/>
                </a:ln>
                <a:solidFill>
                  <a:srgbClr val="000000"/>
                </a:solidFill>
                <a:effectLst/>
                <a:latin typeface="Avenir Book" panose="02000503020000020003" pitchFamily="2" charset="0"/>
                <a:hlinkClick r:id="rId4"/>
              </a:rPr>
              <a:t> </a:t>
            </a:r>
            <a:endParaRPr kumimoji="0" lang="en-US" altLang="en-US" sz="1600" b="0" i="0" u="none" strike="noStrike" cap="none" normalizeH="0" baseline="0" dirty="0">
              <a:ln>
                <a:noFill/>
              </a:ln>
              <a:solidFill>
                <a:srgbClr val="000000"/>
              </a:solidFill>
              <a:effectLst/>
              <a:latin typeface="Avenir Book" panose="02000503020000020003" pitchFamily="2" charset="0"/>
            </a:endParaRPr>
          </a:p>
          <a:p>
            <a:r>
              <a:rPr lang="en-US" sz="1600" dirty="0">
                <a:latin typeface="Avenir Book" panose="02000503020000020003" pitchFamily="2" charset="0"/>
              </a:rPr>
              <a:t>clinical chatbot designed to assist in diagnosing complex medical cases and summarizing clinical data, built to handle the nuances of medical terminology better than general-purpose AI.</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venir Book" panose="02000503020000020003"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err="1">
                <a:ln>
                  <a:noFill/>
                </a:ln>
                <a:solidFill>
                  <a:srgbClr val="000000"/>
                </a:solidFill>
                <a:effectLst/>
                <a:latin typeface="Avenir Book" panose="02000503020000020003" pitchFamily="2" charset="0"/>
                <a:hlinkClick r:id="rId5"/>
              </a:rPr>
              <a:t>spEMO</a:t>
            </a:r>
            <a:r>
              <a:rPr kumimoji="0" lang="en-US" altLang="en-US" sz="1600" b="1" i="0" u="none" strike="noStrike" cap="none" normalizeH="0" baseline="0" dirty="0">
                <a:ln>
                  <a:noFill/>
                </a:ln>
                <a:solidFill>
                  <a:srgbClr val="000000"/>
                </a:solidFill>
                <a:effectLst/>
                <a:latin typeface="Avenir Book" panose="02000503020000020003" pitchFamily="2" charset="0"/>
                <a:hlinkClick r:id="rId5"/>
              </a:rPr>
              <a:t> (Spatial Multi-Modal Embeddings)</a:t>
            </a:r>
            <a:endParaRPr lang="en-US" altLang="en-US" sz="1600" dirty="0">
              <a:solidFill>
                <a:srgbClr val="000000"/>
              </a:solidFill>
              <a:latin typeface="Avenir Book" panose="02000503020000020003" pitchFamily="2" charset="0"/>
            </a:endParaRPr>
          </a:p>
          <a:p>
            <a:r>
              <a:rPr lang="en-US" sz="1600" dirty="0">
                <a:latin typeface="Avenir Book" panose="02000503020000020003" pitchFamily="2" charset="0"/>
              </a:rPr>
              <a:t>A new tool from the YSPH that uses AI to combine tissue slide images with gene and protein activity. It helps scientists "see" how cells interact in diseased tissue and even drafts medical reports for pathologists.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venir Book" panose="02000503020000020003"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err="1">
                <a:ln>
                  <a:noFill/>
                </a:ln>
                <a:solidFill>
                  <a:srgbClr val="000000"/>
                </a:solidFill>
                <a:effectLst/>
                <a:latin typeface="Avenir Book" panose="02000503020000020003" pitchFamily="2" charset="0"/>
                <a:hlinkClick r:id="rId6"/>
              </a:rPr>
              <a:t>CardioGenAI</a:t>
            </a:r>
            <a:r>
              <a:rPr kumimoji="0" lang="en-US" altLang="en-US" sz="1600" b="1" i="0" u="none" strike="noStrike" cap="none" normalizeH="0" baseline="0" dirty="0">
                <a:ln>
                  <a:noFill/>
                </a:ln>
                <a:solidFill>
                  <a:srgbClr val="000000"/>
                </a:solidFill>
                <a:effectLst/>
                <a:latin typeface="Avenir Book" panose="02000503020000020003" pitchFamily="2" charset="0"/>
                <a:hlinkClick r:id="rId6"/>
              </a:rPr>
              <a:t> &amp; Drug Discovery</a:t>
            </a:r>
            <a:endParaRPr lang="en-US" altLang="en-US" sz="1600" dirty="0">
              <a:solidFill>
                <a:srgbClr val="000000"/>
              </a:solidFill>
              <a:latin typeface="Avenir Book" panose="02000503020000020003" pitchFamily="2" charset="0"/>
            </a:endParaRPr>
          </a:p>
          <a:p>
            <a:r>
              <a:rPr lang="en-US" sz="1600" dirty="0">
                <a:latin typeface="Avenir Book" panose="02000503020000020003" pitchFamily="2" charset="0"/>
              </a:rPr>
              <a:t>Generative models designed to synthesize novel small molecules for autoimmune diseases and cancer, drastically shortening the time to validate new drug leads.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venir Book" panose="02000503020000020003"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000000"/>
                </a:solidFill>
                <a:effectLst/>
                <a:latin typeface="Avenir Book" panose="02000503020000020003" pitchFamily="2" charset="0"/>
                <a:hlinkClick r:id="rId7"/>
              </a:rPr>
              <a:t>Science Dissemination (Neurology)</a:t>
            </a:r>
            <a:endParaRPr lang="en-US" altLang="en-US" sz="1600" dirty="0">
              <a:solidFill>
                <a:srgbClr val="000000"/>
              </a:solidFill>
              <a:latin typeface="Avenir Book" panose="02000503020000020003" pitchFamily="2" charset="0"/>
            </a:endParaRPr>
          </a:p>
          <a:p>
            <a:r>
              <a:rPr lang="en-US" sz="1600" dirty="0">
                <a:latin typeface="Avenir Book" panose="02000503020000020003" pitchFamily="2" charset="0"/>
              </a:rPr>
              <a:t>GenAI (Google Notebook-LM) to transform complex flagship guidelines into synthetic podcasts and FAQs to make cutting-edge stroke research more accessible to clinicians.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venir Book" panose="02000503020000020003"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000000"/>
                </a:solidFill>
                <a:effectLst/>
                <a:latin typeface="Avenir Book" panose="02000503020000020003" pitchFamily="2" charset="0"/>
                <a:hlinkClick r:id="rId8"/>
              </a:rPr>
              <a:t>Digital Twin Simulations</a:t>
            </a:r>
            <a:endParaRPr lang="en-US" altLang="en-US" sz="1600" dirty="0">
              <a:solidFill>
                <a:srgbClr val="000000"/>
              </a:solidFill>
              <a:latin typeface="Avenir Book" panose="02000503020000020003" pitchFamily="2" charset="0"/>
            </a:endParaRPr>
          </a:p>
          <a:p>
            <a:r>
              <a:rPr lang="en-US" sz="1600" dirty="0">
                <a:latin typeface="Avenir Book" panose="02000503020000020003" pitchFamily="2" charset="0"/>
              </a:rPr>
              <a:t>Ongoing research in therapeutic radiology at Yale uses AI to build computational replicas of patients to simulate how they might respond to specific radiation therapies before treatment begins.</a:t>
            </a:r>
          </a:p>
        </p:txBody>
      </p:sp>
    </p:spTree>
    <p:extLst>
      <p:ext uri="{BB962C8B-B14F-4D97-AF65-F5344CB8AC3E}">
        <p14:creationId xmlns:p14="http://schemas.microsoft.com/office/powerpoint/2010/main" val="1626000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8D604-FD5D-97BE-293F-7D52CA2F69E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1AC0B59D-66F6-A91F-EC36-7407A842E445}"/>
              </a:ext>
            </a:extLst>
          </p:cNvPr>
          <p:cNvSpPr>
            <a:spLocks noGrp="1"/>
          </p:cNvSpPr>
          <p:nvPr>
            <p:ph type="subTitle" idx="1"/>
          </p:nvPr>
        </p:nvSpPr>
        <p:spPr/>
        <p:txBody>
          <a:bodyPr/>
          <a:lstStyle/>
          <a:p>
            <a:endParaRPr lang="en-US"/>
          </a:p>
        </p:txBody>
      </p:sp>
      <p:pic>
        <p:nvPicPr>
          <p:cNvPr id="5" name="slide.url=https://www.polleverywhere.com/multiple_choice_polls/viXjqA8KjImbZMPArxaVL?state=opened&amp;flow=Default&amp;onscreen=persist">
            <a:extLst>
              <a:ext uri="{FF2B5EF4-FFF2-40B4-BE49-F238E27FC236}">
                <a16:creationId xmlns:a16="http://schemas.microsoft.com/office/drawing/2014/main" id="{F4A2F03A-AD65-B8CD-5ADE-CA77FAFA1620}"/>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79794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03553-D68A-795C-5CEC-B724C68CE552}"/>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592A9979-2F96-149F-9C62-42495F5A925F}"/>
              </a:ext>
            </a:extLst>
          </p:cNvPr>
          <p:cNvSpPr>
            <a:spLocks noGrp="1"/>
          </p:cNvSpPr>
          <p:nvPr>
            <p:ph type="subTitle" idx="1"/>
          </p:nvPr>
        </p:nvSpPr>
        <p:spPr/>
        <p:txBody>
          <a:bodyPr/>
          <a:lstStyle/>
          <a:p>
            <a:endParaRPr lang="en-US"/>
          </a:p>
        </p:txBody>
      </p:sp>
      <p:pic>
        <p:nvPicPr>
          <p:cNvPr id="5" name="slide.url=https://www.polleverywhere.com/multiple_choice_polls/gFSc3Cu7azVJShfC6M9zV?state=opened&amp;flow=Default&amp;onscreen=persist">
            <a:extLst>
              <a:ext uri="{FF2B5EF4-FFF2-40B4-BE49-F238E27FC236}">
                <a16:creationId xmlns:a16="http://schemas.microsoft.com/office/drawing/2014/main" id="{1ED6A270-B8E5-E7F8-38BB-AEEE6BE8B16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273289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7941F-1CFE-A344-F8D9-0974E23034F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8929056-9198-BF6B-1158-8F7A1C4CAC7E}"/>
              </a:ext>
            </a:extLst>
          </p:cNvPr>
          <p:cNvSpPr>
            <a:spLocks noGrp="1"/>
          </p:cNvSpPr>
          <p:nvPr>
            <p:ph type="body" sz="quarter" idx="11"/>
          </p:nvPr>
        </p:nvSpPr>
        <p:spPr>
          <a:xfrm>
            <a:off x="575147" y="1706582"/>
            <a:ext cx="2866553" cy="1643569"/>
          </a:xfrm>
        </p:spPr>
        <p:txBody>
          <a:bodyPr/>
          <a:lstStyle/>
          <a:p>
            <a:r>
              <a:rPr lang="en-US" dirty="0">
                <a:latin typeface="YaleNew" panose="02000602050000020003" pitchFamily="2" charset="77"/>
              </a:rPr>
              <a:t>Yale’s Clarity Platform</a:t>
            </a:r>
          </a:p>
        </p:txBody>
      </p:sp>
      <p:sp>
        <p:nvSpPr>
          <p:cNvPr id="5" name="Text Placeholder 3">
            <a:extLst>
              <a:ext uri="{FF2B5EF4-FFF2-40B4-BE49-F238E27FC236}">
                <a16:creationId xmlns:a16="http://schemas.microsoft.com/office/drawing/2014/main" id="{D5F37129-9098-CCDD-6B6A-6F9131F81EC7}"/>
              </a:ext>
            </a:extLst>
          </p:cNvPr>
          <p:cNvSpPr>
            <a:spLocks noGrp="1"/>
          </p:cNvSpPr>
          <p:nvPr>
            <p:ph type="body" sz="quarter" idx="15"/>
          </p:nvPr>
        </p:nvSpPr>
        <p:spPr>
          <a:xfrm>
            <a:off x="658821" y="3162300"/>
            <a:ext cx="3030943" cy="266700"/>
          </a:xfrm>
        </p:spPr>
        <p:txBody>
          <a:bodyPr/>
          <a:lstStyle/>
          <a:p>
            <a:r>
              <a:rPr lang="en-US" dirty="0">
                <a:solidFill>
                  <a:schemeClr val="bg1"/>
                </a:solidFill>
              </a:rPr>
              <a:t>Overview</a:t>
            </a:r>
            <a:endParaRPr lang="en-US" dirty="0"/>
          </a:p>
        </p:txBody>
      </p:sp>
      <p:sp>
        <p:nvSpPr>
          <p:cNvPr id="4" name="Slide Number Placeholder 3">
            <a:extLst>
              <a:ext uri="{FF2B5EF4-FFF2-40B4-BE49-F238E27FC236}">
                <a16:creationId xmlns:a16="http://schemas.microsoft.com/office/drawing/2014/main" id="{C57B6852-9624-DD1F-CA17-9928032AE298}"/>
              </a:ext>
            </a:extLst>
          </p:cNvPr>
          <p:cNvSpPr>
            <a:spLocks noGrp="1"/>
          </p:cNvSpPr>
          <p:nvPr>
            <p:ph type="sldNum" sz="quarter" idx="18"/>
          </p:nvPr>
        </p:nvSpPr>
        <p:spPr/>
        <p:txBody>
          <a:bodyPr/>
          <a:lstStyle/>
          <a:p>
            <a:fld id="{548469FB-C78A-B94B-B04A-B5BC8C934F85}" type="slidenum">
              <a:rPr lang="en-US" smtClean="0"/>
              <a:t>11</a:t>
            </a:fld>
            <a:endParaRPr lang="en-US"/>
          </a:p>
        </p:txBody>
      </p:sp>
      <p:sp>
        <p:nvSpPr>
          <p:cNvPr id="7" name="TextBox 6">
            <a:extLst>
              <a:ext uri="{FF2B5EF4-FFF2-40B4-BE49-F238E27FC236}">
                <a16:creationId xmlns:a16="http://schemas.microsoft.com/office/drawing/2014/main" id="{806BA540-4790-BD28-D363-C523E30DB0DA}"/>
              </a:ext>
            </a:extLst>
          </p:cNvPr>
          <p:cNvSpPr txBox="1"/>
          <p:nvPr/>
        </p:nvSpPr>
        <p:spPr>
          <a:xfrm>
            <a:off x="4318408" y="351234"/>
            <a:ext cx="7529306" cy="6155531"/>
          </a:xfrm>
          <a:prstGeom prst="rect">
            <a:avLst/>
          </a:prstGeom>
          <a:noFill/>
        </p:spPr>
        <p:txBody>
          <a:bodyPr wrap="square" rtlCol="0">
            <a:spAutoFit/>
          </a:bodyPr>
          <a:lstStyle/>
          <a:p>
            <a:r>
              <a:rPr lang="en-US" altLang="en-US" sz="2000" b="1" dirty="0">
                <a:solidFill>
                  <a:srgbClr val="000000"/>
                </a:solidFill>
                <a:latin typeface="Avenir Book" panose="02000503020000020003" pitchFamily="2" charset="0"/>
              </a:rPr>
              <a:t>Yale’s secure home for generative AI</a:t>
            </a:r>
            <a:endParaRPr lang="en-US" altLang="en-US" sz="2000" b="1" dirty="0">
              <a:latin typeface="Avenir Book" panose="02000503020000020003" pitchFamily="2" charset="0"/>
            </a:endParaRPr>
          </a:p>
          <a:p>
            <a:endParaRPr lang="en-US" altLang="en-US" sz="1100" b="1" dirty="0">
              <a:solidFill>
                <a:srgbClr val="000000"/>
              </a:solidFill>
              <a:latin typeface="Avenir Book" panose="02000503020000020003" pitchFamily="2" charset="0"/>
              <a:hlinkClick r:id="rId3"/>
            </a:endParaRPr>
          </a:p>
          <a:p>
            <a:r>
              <a:rPr lang="en-US" altLang="en-US" b="1" dirty="0">
                <a:solidFill>
                  <a:srgbClr val="000000"/>
                </a:solidFill>
                <a:latin typeface="Avenir Book" panose="02000503020000020003" pitchFamily="2" charset="0"/>
                <a:hlinkClick r:id="rId3"/>
              </a:rPr>
              <a:t>Secure AI Gateway</a:t>
            </a:r>
            <a:endParaRPr lang="en-US" altLang="en-US" b="1" dirty="0">
              <a:solidFill>
                <a:srgbClr val="000000"/>
              </a:solidFill>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Provides access to multiple advanced AI models (GPT-4o, Claude 3.5 Sonnet, Gemini Pro, and others) within a secure, Yale-controlled environment </a:t>
            </a:r>
          </a:p>
          <a:p>
            <a:pPr marL="285750" indent="-285750">
              <a:buFont typeface="Arial" panose="020B0604020202020204" pitchFamily="34" charset="0"/>
              <a:buChar char="•"/>
            </a:pPr>
            <a:endParaRPr lang="en-US" sz="1200" dirty="0">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Free for Yale community (students, faculty, staff) with Yale NetID authentication </a:t>
            </a:r>
          </a:p>
          <a:p>
            <a:pPr marL="285750" indent="-285750">
              <a:buFont typeface="Arial" panose="020B0604020202020204" pitchFamily="34" charset="0"/>
              <a:buChar char="•"/>
            </a:pPr>
            <a:endParaRPr lang="en-US" sz="1200" dirty="0">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Enterprise-grade security infrastructure maintained by Yale IT</a:t>
            </a:r>
            <a:endParaRPr lang="en-US" altLang="en-US" sz="1600" dirty="0">
              <a:solidFill>
                <a:srgbClr val="000000"/>
              </a:solidFill>
              <a:latin typeface="Avenir Book" panose="02000503020000020003" pitchFamily="2" charset="0"/>
            </a:endParaRPr>
          </a:p>
          <a:p>
            <a:endParaRPr lang="en-US" altLang="en-US" sz="1200" dirty="0">
              <a:solidFill>
                <a:srgbClr val="000000"/>
              </a:solidFill>
              <a:latin typeface="Avenir Book" panose="02000503020000020003" pitchFamily="2" charset="0"/>
            </a:endParaRPr>
          </a:p>
          <a:p>
            <a:r>
              <a:rPr lang="en-US" b="1" dirty="0">
                <a:latin typeface="Avenir Book" panose="02000503020000020003" pitchFamily="2" charset="0"/>
                <a:hlinkClick r:id="rId4"/>
              </a:rPr>
              <a:t>Data Privacy Guarantee</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Your conversations and uploaded data are NOT used to train external AI models </a:t>
            </a:r>
          </a:p>
          <a:p>
            <a:pPr marL="285750" indent="-285750">
              <a:buFont typeface="Arial" panose="020B0604020202020204" pitchFamily="34" charset="0"/>
              <a:buChar char="•"/>
            </a:pPr>
            <a:endParaRPr lang="en-US" sz="1100" dirty="0">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Suitable for working with de-identified health data (check current Yale IRB guidance for specific use cases) </a:t>
            </a:r>
          </a:p>
          <a:p>
            <a:pPr marL="285750" indent="-285750">
              <a:buFont typeface="Arial" panose="020B0604020202020204" pitchFamily="34" charset="0"/>
              <a:buChar char="•"/>
            </a:pPr>
            <a:endParaRPr lang="en-US" sz="1200" dirty="0">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Information stays within Yale's controlled systems, not sent to public AI services </a:t>
            </a:r>
          </a:p>
          <a:p>
            <a:pPr marL="285750" indent="-285750">
              <a:buFont typeface="Arial" panose="020B0604020202020204" pitchFamily="34" charset="0"/>
              <a:buChar char="•"/>
            </a:pPr>
            <a:endParaRPr lang="en-US" sz="1100" dirty="0">
              <a:latin typeface="Avenir Book" panose="02000503020000020003" pitchFamily="2" charset="0"/>
            </a:endParaRPr>
          </a:p>
          <a:p>
            <a:pPr marL="285750" indent="-285750">
              <a:buFont typeface="Arial" panose="020B0604020202020204" pitchFamily="34" charset="0"/>
              <a:buChar char="•"/>
            </a:pPr>
            <a:r>
              <a:rPr lang="en-US" sz="1600" dirty="0">
                <a:latin typeface="Avenir Book" panose="02000503020000020003" pitchFamily="2" charset="0"/>
              </a:rPr>
              <a:t>Meets Yale's data governance and security requirements</a:t>
            </a:r>
          </a:p>
          <a:p>
            <a:endParaRPr lang="en-US" sz="1100" dirty="0">
              <a:latin typeface="Avenir Book" panose="02000503020000020003" pitchFamily="2" charset="0"/>
            </a:endParaRPr>
          </a:p>
          <a:p>
            <a:pPr lvl="0" eaLnBrk="0" fontAlgn="base" hangingPunct="0">
              <a:spcBef>
                <a:spcPct val="0"/>
              </a:spcBef>
              <a:spcAft>
                <a:spcPct val="0"/>
              </a:spcAft>
            </a:pPr>
            <a:r>
              <a:rPr lang="en-US" altLang="en-US" dirty="0">
                <a:solidFill>
                  <a:srgbClr val="000000"/>
                </a:solidFill>
                <a:latin typeface="Arial" panose="020B0604020202020204" pitchFamily="34" charset="0"/>
                <a:hlinkClick r:id="rId5"/>
              </a:rPr>
              <a:t>Model Flexibility</a:t>
            </a:r>
            <a:endParaRPr lang="en-US" altLang="en-US" dirty="0">
              <a:solidFill>
                <a:srgbClr val="000000"/>
              </a:solidFill>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Allows researchers to "toggle" between different AI models to compare results (i.e. validating code accuracy)</a:t>
            </a:r>
            <a:endParaRPr lang="en-US" altLang="en-US" dirty="0">
              <a:solidFill>
                <a:srgbClr val="000000"/>
              </a:solidFill>
              <a:latin typeface="Arial" panose="020B0604020202020204" pitchFamily="34" charset="0"/>
            </a:endParaRPr>
          </a:p>
        </p:txBody>
      </p:sp>
      <p:sp>
        <p:nvSpPr>
          <p:cNvPr id="2" name="TextBox 1">
            <a:extLst>
              <a:ext uri="{FF2B5EF4-FFF2-40B4-BE49-F238E27FC236}">
                <a16:creationId xmlns:a16="http://schemas.microsoft.com/office/drawing/2014/main" id="{56604705-061E-969F-C711-2713975C1ADE}"/>
              </a:ext>
            </a:extLst>
          </p:cNvPr>
          <p:cNvSpPr txBox="1"/>
          <p:nvPr/>
        </p:nvSpPr>
        <p:spPr>
          <a:xfrm>
            <a:off x="-196298" y="5529129"/>
            <a:ext cx="184731" cy="646331"/>
          </a:xfrm>
          <a:prstGeom prst="rect">
            <a:avLst/>
          </a:prstGeom>
          <a:noFill/>
        </p:spPr>
        <p:txBody>
          <a:bodyPr wrap="none" rtlCol="0">
            <a:spAutoFit/>
          </a:bodyPr>
          <a:lstStyle/>
          <a:p>
            <a:pPr lvl="0" eaLnBrk="0" fontAlgn="base" hangingPunct="0">
              <a:spcBef>
                <a:spcPct val="0"/>
              </a:spcBef>
              <a:spcAft>
                <a:spcPct val="0"/>
              </a:spcAft>
            </a:pPr>
            <a:endParaRPr lang="en-US" altLang="en-US" dirty="0">
              <a:latin typeface="Arial" panose="020B0604020202020204" pitchFamily="34" charset="0"/>
            </a:endParaRPr>
          </a:p>
          <a:p>
            <a:endParaRPr lang="en-US" dirty="0"/>
          </a:p>
        </p:txBody>
      </p:sp>
    </p:spTree>
    <p:extLst>
      <p:ext uri="{BB962C8B-B14F-4D97-AF65-F5344CB8AC3E}">
        <p14:creationId xmlns:p14="http://schemas.microsoft.com/office/powerpoint/2010/main" val="4410200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81B46-0B9E-1A19-AAE7-64C2E19B0AB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9D6F1A5-FEC3-C3B1-2D90-8F292000FD56}"/>
              </a:ext>
            </a:extLst>
          </p:cNvPr>
          <p:cNvSpPr>
            <a:spLocks noGrp="1"/>
          </p:cNvSpPr>
          <p:nvPr>
            <p:ph type="body" sz="quarter" idx="11"/>
          </p:nvPr>
        </p:nvSpPr>
        <p:spPr>
          <a:xfrm>
            <a:off x="575147" y="1706582"/>
            <a:ext cx="2866553" cy="1643569"/>
          </a:xfrm>
        </p:spPr>
        <p:txBody>
          <a:bodyPr/>
          <a:lstStyle/>
          <a:p>
            <a:r>
              <a:rPr lang="en-US" dirty="0">
                <a:latin typeface="YaleNew" panose="02000602050000020003" pitchFamily="2" charset="77"/>
              </a:rPr>
              <a:t>Yale’s Clarity Platform</a:t>
            </a:r>
          </a:p>
          <a:p>
            <a:endParaRPr lang="en-US" dirty="0">
              <a:latin typeface="YaleNew" panose="02000602050000020003" pitchFamily="2" charset="77"/>
            </a:endParaRPr>
          </a:p>
        </p:txBody>
      </p:sp>
      <p:sp>
        <p:nvSpPr>
          <p:cNvPr id="5" name="Text Placeholder 3">
            <a:extLst>
              <a:ext uri="{FF2B5EF4-FFF2-40B4-BE49-F238E27FC236}">
                <a16:creationId xmlns:a16="http://schemas.microsoft.com/office/drawing/2014/main" id="{59F07A57-3951-62D6-40E4-F8AD9E3090F2}"/>
              </a:ext>
            </a:extLst>
          </p:cNvPr>
          <p:cNvSpPr>
            <a:spLocks noGrp="1"/>
          </p:cNvSpPr>
          <p:nvPr>
            <p:ph type="body" sz="quarter" idx="15"/>
          </p:nvPr>
        </p:nvSpPr>
        <p:spPr>
          <a:xfrm>
            <a:off x="658821" y="3162300"/>
            <a:ext cx="3030943" cy="266700"/>
          </a:xfrm>
        </p:spPr>
        <p:txBody>
          <a:bodyPr/>
          <a:lstStyle/>
          <a:p>
            <a:r>
              <a:rPr lang="en-US" dirty="0">
                <a:solidFill>
                  <a:schemeClr val="bg1"/>
                </a:solidFill>
              </a:rPr>
              <a:t>Best practices</a:t>
            </a:r>
            <a:endParaRPr lang="en-US" dirty="0"/>
          </a:p>
        </p:txBody>
      </p:sp>
      <p:sp>
        <p:nvSpPr>
          <p:cNvPr id="4" name="Slide Number Placeholder 3">
            <a:extLst>
              <a:ext uri="{FF2B5EF4-FFF2-40B4-BE49-F238E27FC236}">
                <a16:creationId xmlns:a16="http://schemas.microsoft.com/office/drawing/2014/main" id="{5482B0AE-C21D-C3EE-6B57-E096D2EF75D2}"/>
              </a:ext>
            </a:extLst>
          </p:cNvPr>
          <p:cNvSpPr>
            <a:spLocks noGrp="1"/>
          </p:cNvSpPr>
          <p:nvPr>
            <p:ph type="sldNum" sz="quarter" idx="18"/>
          </p:nvPr>
        </p:nvSpPr>
        <p:spPr/>
        <p:txBody>
          <a:bodyPr/>
          <a:lstStyle/>
          <a:p>
            <a:fld id="{548469FB-C78A-B94B-B04A-B5BC8C934F85}" type="slidenum">
              <a:rPr lang="en-US" smtClean="0"/>
              <a:t>12</a:t>
            </a:fld>
            <a:endParaRPr lang="en-US"/>
          </a:p>
        </p:txBody>
      </p:sp>
      <p:sp>
        <p:nvSpPr>
          <p:cNvPr id="7" name="TextBox 6">
            <a:extLst>
              <a:ext uri="{FF2B5EF4-FFF2-40B4-BE49-F238E27FC236}">
                <a16:creationId xmlns:a16="http://schemas.microsoft.com/office/drawing/2014/main" id="{A147E2D3-5F44-F5A8-B6B4-D23062E8484F}"/>
              </a:ext>
            </a:extLst>
          </p:cNvPr>
          <p:cNvSpPr txBox="1"/>
          <p:nvPr/>
        </p:nvSpPr>
        <p:spPr>
          <a:xfrm>
            <a:off x="4271286" y="443567"/>
            <a:ext cx="7739373" cy="6324808"/>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Avenir Book" panose="02000503020000020003" pitchFamily="2" charset="0"/>
              </a:rPr>
              <a:t>Upload large script files</a:t>
            </a:r>
          </a:p>
          <a:p>
            <a:endParaRPr lang="en-US" sz="500" dirty="0">
              <a:latin typeface="Avenir Book" panose="02000503020000020003" pitchFamily="2" charset="0"/>
            </a:endParaRPr>
          </a:p>
          <a:p>
            <a:pPr marL="742950" lvl="1" indent="-285750">
              <a:buFont typeface="Courier New" panose="02070309020205020404" pitchFamily="49" charset="0"/>
              <a:buChar char="o"/>
            </a:pPr>
            <a:r>
              <a:rPr lang="en-US" sz="1600" dirty="0">
                <a:latin typeface="Avenir Book" panose="02000503020000020003" pitchFamily="2" charset="0"/>
              </a:rPr>
              <a:t>Save your file as (</a:t>
            </a:r>
            <a:r>
              <a:rPr lang="en-US" sz="1600" i="1" dirty="0">
                <a:latin typeface="Avenir Book" panose="02000503020000020003" pitchFamily="2" charset="0"/>
              </a:rPr>
              <a:t>save as</a:t>
            </a:r>
            <a:r>
              <a:rPr lang="en-US" sz="1600" dirty="0">
                <a:latin typeface="Avenir Book" panose="02000503020000020003" pitchFamily="2" charset="0"/>
              </a:rPr>
              <a:t>) a text (.txt) file</a:t>
            </a:r>
          </a:p>
          <a:p>
            <a:pPr marL="742950" lvl="1" indent="-285750">
              <a:buFont typeface="Courier New" panose="02070309020205020404" pitchFamily="49" charset="0"/>
              <a:buChar char="o"/>
            </a:pPr>
            <a:r>
              <a:rPr lang="en-US" sz="1600" dirty="0">
                <a:latin typeface="Avenir Book" panose="02000503020000020003" pitchFamily="2" charset="0"/>
              </a:rPr>
              <a:t>This can be used on common script file types: .R, .md, .</a:t>
            </a:r>
            <a:r>
              <a:rPr lang="en-US" sz="1600" dirty="0" err="1">
                <a:latin typeface="Avenir Book" panose="02000503020000020003" pitchFamily="2" charset="0"/>
              </a:rPr>
              <a:t>rmd</a:t>
            </a:r>
            <a:r>
              <a:rPr lang="en-US" sz="1600" dirty="0">
                <a:latin typeface="Avenir Book" panose="02000503020000020003" pitchFamily="2" charset="0"/>
              </a:rPr>
              <a:t>, .</a:t>
            </a:r>
            <a:r>
              <a:rPr lang="en-US" sz="1600" dirty="0" err="1">
                <a:latin typeface="Avenir Book" panose="02000503020000020003" pitchFamily="2" charset="0"/>
              </a:rPr>
              <a:t>qmd</a:t>
            </a:r>
            <a:r>
              <a:rPr lang="en-US" sz="1600" dirty="0">
                <a:latin typeface="Avenir Book" panose="02000503020000020003" pitchFamily="2" charset="0"/>
              </a:rPr>
              <a:t>, .</a:t>
            </a:r>
            <a:r>
              <a:rPr lang="en-US" sz="1600" dirty="0" err="1">
                <a:latin typeface="Avenir Book" panose="02000503020000020003" pitchFamily="2" charset="0"/>
              </a:rPr>
              <a:t>py</a:t>
            </a:r>
            <a:r>
              <a:rPr lang="en-US" sz="1600" dirty="0">
                <a:latin typeface="Avenir Book" panose="02000503020000020003" pitchFamily="2" charset="0"/>
              </a:rPr>
              <a:t>, .</a:t>
            </a:r>
            <a:r>
              <a:rPr lang="en-US" sz="1600" dirty="0" err="1">
                <a:latin typeface="Avenir Book" panose="02000503020000020003" pitchFamily="2" charset="0"/>
              </a:rPr>
              <a:t>ipnyd</a:t>
            </a:r>
            <a:r>
              <a:rPr lang="en-US" sz="1600" dirty="0">
                <a:latin typeface="Avenir Book" panose="02000503020000020003" pitchFamily="2" charset="0"/>
              </a:rPr>
              <a:t> (might be easier to do this manually)</a:t>
            </a:r>
          </a:p>
          <a:p>
            <a:endParaRPr lang="en-US" sz="1400" dirty="0">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Copy/paste smaller code chunks directly into prompt bar</a:t>
            </a:r>
          </a:p>
          <a:p>
            <a:pPr marL="285750" indent="-285750">
              <a:buFont typeface="Arial" panose="020B0604020202020204" pitchFamily="34" charset="0"/>
              <a:buChar char="•"/>
            </a:pPr>
            <a:endParaRPr lang="en-US" dirty="0">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Never upload identifiable patient data (PHI/PII) even in Clarity without proper IRB approval and data use agreements</a:t>
            </a:r>
          </a:p>
          <a:p>
            <a:pPr marL="285750" indent="-285750">
              <a:buFont typeface="Arial" panose="020B0604020202020204" pitchFamily="34" charset="0"/>
              <a:buChar char="•"/>
            </a:pPr>
            <a:endParaRPr lang="en-US" dirty="0">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De-identify data (remove names, MRNs, etc.) before uploading to the platform unless specifically required for the analysis</a:t>
            </a:r>
          </a:p>
          <a:p>
            <a:pPr marL="285750" indent="-285750">
              <a:buFont typeface="Arial" panose="020B0604020202020204" pitchFamily="34" charset="0"/>
              <a:buChar char="•"/>
            </a:pPr>
            <a:endParaRPr lang="en-US" dirty="0">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Always test AI-generated code before using in production research </a:t>
            </a:r>
          </a:p>
          <a:p>
            <a:pPr marL="285750" indent="-285750">
              <a:buFont typeface="Arial" panose="020B0604020202020204" pitchFamily="34" charset="0"/>
              <a:buChar char="•"/>
            </a:pPr>
            <a:endParaRPr lang="en-US" dirty="0">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Iterative Prompting (building block approach):</a:t>
            </a:r>
          </a:p>
          <a:p>
            <a:endParaRPr lang="en-US" sz="500" dirty="0">
              <a:latin typeface="Avenir Book" panose="02000503020000020003" pitchFamily="2" charset="0"/>
            </a:endParaRPr>
          </a:p>
          <a:p>
            <a:pPr marL="742950" lvl="1" indent="-285750">
              <a:buFont typeface="Courier New" panose="02070309020205020404" pitchFamily="49" charset="0"/>
              <a:buChar char="o"/>
            </a:pPr>
            <a:r>
              <a:rPr lang="en-US" sz="1600" dirty="0">
                <a:latin typeface="Avenir Book" panose="02000503020000020003" pitchFamily="2" charset="0"/>
              </a:rPr>
              <a:t>Don’t write complex 200-line script at once</a:t>
            </a:r>
          </a:p>
          <a:p>
            <a:pPr marL="742950" lvl="1" indent="-285750">
              <a:buFont typeface="Courier New" panose="02070309020205020404" pitchFamily="49" charset="0"/>
              <a:buChar char="o"/>
            </a:pPr>
            <a:r>
              <a:rPr lang="en-US" sz="1600" dirty="0">
                <a:latin typeface="Avenir Book" panose="02000503020000020003" pitchFamily="2" charset="0"/>
              </a:rPr>
              <a:t>Load data; Clean data; Run analysis; Create plot.</a:t>
            </a:r>
          </a:p>
          <a:p>
            <a:pPr marL="285750" indent="-285750">
              <a:buFont typeface="Arial" panose="020B0604020202020204" pitchFamily="34" charset="0"/>
              <a:buChar char="•"/>
            </a:pPr>
            <a:endParaRPr lang="en-US" dirty="0">
              <a:latin typeface="Avenir Book" panose="02000503020000020003" pitchFamily="2" charset="0"/>
            </a:endParaRP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Always evaluate and manually review code generated by AI, especially for statistical calculations or data-cleaning steps that impact study results</a:t>
            </a:r>
            <a:endParaRPr lang="en-US" altLang="en-US" dirty="0">
              <a:latin typeface="Avenir Book" panose="02000503020000020003" pitchFamily="2" charset="0"/>
            </a:endParaRPr>
          </a:p>
        </p:txBody>
      </p:sp>
    </p:spTree>
    <p:extLst>
      <p:ext uri="{BB962C8B-B14F-4D97-AF65-F5344CB8AC3E}">
        <p14:creationId xmlns:p14="http://schemas.microsoft.com/office/powerpoint/2010/main" val="39977852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4608B-48E5-0080-ED4F-5036DBF0675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DC3DB79-66ED-DA06-B364-99E97A3E8220}"/>
              </a:ext>
            </a:extLst>
          </p:cNvPr>
          <p:cNvSpPr>
            <a:spLocks noGrp="1"/>
          </p:cNvSpPr>
          <p:nvPr>
            <p:ph type="subTitle" idx="1"/>
          </p:nvPr>
        </p:nvSpPr>
        <p:spPr/>
        <p:txBody>
          <a:bodyPr/>
          <a:lstStyle/>
          <a:p>
            <a:endParaRPr lang="en-US"/>
          </a:p>
        </p:txBody>
      </p:sp>
      <p:pic>
        <p:nvPicPr>
          <p:cNvPr id="5" name="slide.url=https://www.polleverywhere.com/ranking_polls/6V0rBP2FWxZcxNCaVjD7y">
            <a:extLst>
              <a:ext uri="{FF2B5EF4-FFF2-40B4-BE49-F238E27FC236}">
                <a16:creationId xmlns:a16="http://schemas.microsoft.com/office/drawing/2014/main" id="{345E8465-04C9-C895-4C9F-C0E62C911119}"/>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394257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93B78-0AAC-A929-8049-590ED1A6451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730C12A-9DEF-669B-B170-E8DC5A8F045E}"/>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Prompting</a:t>
            </a:r>
          </a:p>
        </p:txBody>
      </p:sp>
      <p:sp>
        <p:nvSpPr>
          <p:cNvPr id="4" name="Text Placeholder 3">
            <a:extLst>
              <a:ext uri="{FF2B5EF4-FFF2-40B4-BE49-F238E27FC236}">
                <a16:creationId xmlns:a16="http://schemas.microsoft.com/office/drawing/2014/main" id="{CFCA11BF-8E71-CA2C-447F-5848EEE36835}"/>
              </a:ext>
            </a:extLst>
          </p:cNvPr>
          <p:cNvSpPr>
            <a:spLocks noGrp="1"/>
          </p:cNvSpPr>
          <p:nvPr>
            <p:ph type="body" sz="quarter" idx="15"/>
          </p:nvPr>
        </p:nvSpPr>
        <p:spPr>
          <a:xfrm>
            <a:off x="624113" y="2816751"/>
            <a:ext cx="3030943" cy="266700"/>
          </a:xfrm>
        </p:spPr>
        <p:txBody>
          <a:bodyPr/>
          <a:lstStyle/>
          <a:p>
            <a:r>
              <a:rPr lang="en-US" dirty="0"/>
              <a:t>Overview</a:t>
            </a:r>
          </a:p>
        </p:txBody>
      </p:sp>
      <p:sp>
        <p:nvSpPr>
          <p:cNvPr id="5" name="Slide Number Placeholder 4">
            <a:extLst>
              <a:ext uri="{FF2B5EF4-FFF2-40B4-BE49-F238E27FC236}">
                <a16:creationId xmlns:a16="http://schemas.microsoft.com/office/drawing/2014/main" id="{71DAC22B-755E-9700-E891-2273B6E0A593}"/>
              </a:ext>
            </a:extLst>
          </p:cNvPr>
          <p:cNvSpPr>
            <a:spLocks noGrp="1"/>
          </p:cNvSpPr>
          <p:nvPr>
            <p:ph type="sldNum" sz="quarter" idx="18"/>
          </p:nvPr>
        </p:nvSpPr>
        <p:spPr/>
        <p:txBody>
          <a:bodyPr/>
          <a:lstStyle/>
          <a:p>
            <a:fld id="{548469FB-C78A-B94B-B04A-B5BC8C934F85}" type="slidenum">
              <a:rPr lang="en-US" smtClean="0"/>
              <a:t>14</a:t>
            </a:fld>
            <a:endParaRPr lang="en-US"/>
          </a:p>
        </p:txBody>
      </p:sp>
      <p:sp>
        <p:nvSpPr>
          <p:cNvPr id="6" name="TextBox 5">
            <a:extLst>
              <a:ext uri="{FF2B5EF4-FFF2-40B4-BE49-F238E27FC236}">
                <a16:creationId xmlns:a16="http://schemas.microsoft.com/office/drawing/2014/main" id="{BBF3EBBA-AC4C-04F2-8758-6D508C6777A4}"/>
              </a:ext>
            </a:extLst>
          </p:cNvPr>
          <p:cNvSpPr txBox="1"/>
          <p:nvPr/>
        </p:nvSpPr>
        <p:spPr>
          <a:xfrm>
            <a:off x="4503907" y="593389"/>
            <a:ext cx="7295744" cy="6309420"/>
          </a:xfrm>
          <a:prstGeom prst="rect">
            <a:avLst/>
          </a:prstGeom>
          <a:noFill/>
        </p:spPr>
        <p:txBody>
          <a:bodyPr wrap="square" rtlCol="0">
            <a:spAutoFit/>
          </a:bodyPr>
          <a:lstStyle/>
          <a:p>
            <a:r>
              <a:rPr lang="en-US" sz="2000" b="1" dirty="0">
                <a:solidFill>
                  <a:schemeClr val="tx2">
                    <a:lumMod val="90000"/>
                    <a:lumOff val="10000"/>
                  </a:schemeClr>
                </a:solidFill>
                <a:latin typeface="Avenir Book" panose="02000503020000020003" pitchFamily="2" charset="0"/>
              </a:rPr>
              <a:t>What is a </a:t>
            </a:r>
            <a:r>
              <a:rPr lang="en-US" sz="2000" b="1" dirty="0">
                <a:solidFill>
                  <a:srgbClr val="163E64"/>
                </a:solidFill>
                <a:latin typeface="Avenir Book" panose="02000503020000020003" pitchFamily="2" charset="0"/>
              </a:rPr>
              <a:t>prompt</a:t>
            </a:r>
            <a:r>
              <a:rPr lang="en-US" sz="2000" b="1" dirty="0">
                <a:solidFill>
                  <a:schemeClr val="tx2">
                    <a:lumMod val="90000"/>
                    <a:lumOff val="10000"/>
                  </a:schemeClr>
                </a:solidFill>
                <a:latin typeface="Avenir Book" panose="02000503020000020003" pitchFamily="2" charset="0"/>
              </a:rPr>
              <a:t>?</a:t>
            </a:r>
          </a:p>
          <a:p>
            <a:pPr marL="285750" indent="-285750">
              <a:buFont typeface="Arial" panose="020B0604020202020204" pitchFamily="34" charset="0"/>
              <a:buChar char="•"/>
            </a:pPr>
            <a:r>
              <a:rPr lang="en-US" dirty="0">
                <a:latin typeface="Avenir Book" panose="02000503020000020003" pitchFamily="2" charset="0"/>
              </a:rPr>
              <a:t>A clear, structured instruction given to an AI model</a:t>
            </a:r>
          </a:p>
          <a:p>
            <a:pPr marL="285750" indent="-285750">
              <a:buFont typeface="Arial" panose="020B0604020202020204" pitchFamily="34" charset="0"/>
              <a:buChar char="•"/>
            </a:pPr>
            <a:r>
              <a:rPr lang="en-US" dirty="0">
                <a:latin typeface="Avenir Book" panose="02000503020000020003" pitchFamily="2" charset="0"/>
              </a:rPr>
              <a:t>Acts as the interface between human intent and machine output</a:t>
            </a:r>
          </a:p>
          <a:p>
            <a:endParaRPr lang="en-US" dirty="0">
              <a:latin typeface="Avenir Book" panose="02000503020000020003" pitchFamily="2" charset="0"/>
            </a:endParaRPr>
          </a:p>
          <a:p>
            <a:r>
              <a:rPr lang="en-US" sz="2000" b="1" dirty="0">
                <a:solidFill>
                  <a:schemeClr val="tx2">
                    <a:lumMod val="90000"/>
                    <a:lumOff val="10000"/>
                  </a:schemeClr>
                </a:solidFill>
                <a:latin typeface="Avenir Book" panose="02000503020000020003" pitchFamily="2" charset="0"/>
              </a:rPr>
              <a:t>Key elements of effective prompts:</a:t>
            </a:r>
          </a:p>
          <a:p>
            <a:pPr marL="285750" indent="-285750">
              <a:buFont typeface="Arial" panose="020B0604020202020204" pitchFamily="34" charset="0"/>
              <a:buChar char="•"/>
            </a:pPr>
            <a:r>
              <a:rPr lang="en-US" dirty="0">
                <a:latin typeface="Avenir Book" panose="02000503020000020003" pitchFamily="2" charset="0"/>
              </a:rPr>
              <a:t>Unambiguous language and explicit instructions</a:t>
            </a:r>
          </a:p>
          <a:p>
            <a:pPr marL="285750" indent="-285750">
              <a:buFont typeface="Arial" panose="020B0604020202020204" pitchFamily="34" charset="0"/>
              <a:buChar char="•"/>
            </a:pPr>
            <a:r>
              <a:rPr lang="en-US" dirty="0">
                <a:latin typeface="Avenir Book" panose="02000503020000020003" pitchFamily="2" charset="0"/>
              </a:rPr>
              <a:t>Relevant background information and constraints </a:t>
            </a:r>
          </a:p>
          <a:p>
            <a:pPr marL="285750" indent="-285750">
              <a:buFont typeface="Arial" panose="020B0604020202020204" pitchFamily="34" charset="0"/>
              <a:buChar char="•"/>
            </a:pPr>
            <a:r>
              <a:rPr lang="en-US" dirty="0">
                <a:latin typeface="Avenir Book" panose="02000503020000020003" pitchFamily="2" charset="0"/>
              </a:rPr>
              <a:t>Precise details about data, methods, software, and expected outputs</a:t>
            </a:r>
          </a:p>
          <a:p>
            <a:pPr marL="285750" indent="-285750">
              <a:buFont typeface="Arial" panose="020B0604020202020204" pitchFamily="34" charset="0"/>
              <a:buChar char="•"/>
            </a:pPr>
            <a:r>
              <a:rPr lang="en-US" dirty="0">
                <a:latin typeface="Avenir Book" panose="02000503020000020003" pitchFamily="2" charset="0"/>
              </a:rPr>
              <a:t>Defined structure for the desired result</a:t>
            </a:r>
          </a:p>
          <a:p>
            <a:endParaRPr lang="en-US" dirty="0">
              <a:latin typeface="Avenir Book" panose="02000503020000020003" pitchFamily="2" charset="0"/>
            </a:endParaRPr>
          </a:p>
          <a:p>
            <a:r>
              <a:rPr lang="en-US" sz="2000" b="1" dirty="0">
                <a:solidFill>
                  <a:schemeClr val="tx2">
                    <a:lumMod val="90000"/>
                    <a:lumOff val="10000"/>
                  </a:schemeClr>
                </a:solidFill>
                <a:latin typeface="Avenir Book" panose="02000503020000020003" pitchFamily="2" charset="0"/>
              </a:rPr>
              <a:t>Why good prompting matters for research</a:t>
            </a:r>
            <a:r>
              <a:rPr lang="en-US" sz="2000" dirty="0">
                <a:solidFill>
                  <a:schemeClr val="tx2">
                    <a:lumMod val="90000"/>
                    <a:lumOff val="10000"/>
                  </a:schemeClr>
                </a:solidFill>
                <a:latin typeface="Avenir Book" panose="02000503020000020003" pitchFamily="2" charset="0"/>
              </a:rPr>
              <a:t>:</a:t>
            </a:r>
          </a:p>
          <a:p>
            <a:pPr marL="285750" indent="-285750">
              <a:buFont typeface="Arial" panose="020B0604020202020204" pitchFamily="34" charset="0"/>
              <a:buChar char="•"/>
            </a:pPr>
            <a:r>
              <a:rPr lang="en-US" dirty="0">
                <a:latin typeface="Avenir Book" panose="02000503020000020003" pitchFamily="2" charset="0"/>
              </a:rPr>
              <a:t>Reduces errors and misinterpretation</a:t>
            </a:r>
          </a:p>
          <a:p>
            <a:pPr marL="285750" indent="-285750">
              <a:buFont typeface="Arial" panose="020B0604020202020204" pitchFamily="34" charset="0"/>
              <a:buChar char="•"/>
            </a:pPr>
            <a:r>
              <a:rPr lang="en-US" dirty="0">
                <a:latin typeface="Avenir Book" panose="02000503020000020003" pitchFamily="2" charset="0"/>
              </a:rPr>
              <a:t>Ensures consistent, replicable results</a:t>
            </a:r>
          </a:p>
          <a:p>
            <a:pPr marL="285750" indent="-285750">
              <a:buFont typeface="Arial" panose="020B0604020202020204" pitchFamily="34" charset="0"/>
              <a:buChar char="•"/>
            </a:pPr>
            <a:r>
              <a:rPr lang="en-US" dirty="0">
                <a:latin typeface="Avenir Book" panose="02000503020000020003" pitchFamily="2" charset="0"/>
              </a:rPr>
              <a:t>Minimizes iterations and saves time</a:t>
            </a:r>
          </a:p>
          <a:p>
            <a:endParaRPr lang="en-US" dirty="0">
              <a:latin typeface="Avenir Book" panose="02000503020000020003" pitchFamily="2" charset="0"/>
            </a:endParaRPr>
          </a:p>
          <a:p>
            <a:r>
              <a:rPr lang="en-US" sz="2000" b="1" dirty="0">
                <a:solidFill>
                  <a:schemeClr val="tx2">
                    <a:lumMod val="90000"/>
                    <a:lumOff val="10000"/>
                  </a:schemeClr>
                </a:solidFill>
                <a:latin typeface="Avenir Book" panose="02000503020000020003" pitchFamily="2" charset="0"/>
              </a:rPr>
              <a:t>The iterative nature of prompting:</a:t>
            </a:r>
          </a:p>
          <a:p>
            <a:pPr marL="285750" indent="-285750">
              <a:buFont typeface="Arial" panose="020B0604020202020204" pitchFamily="34" charset="0"/>
              <a:buChar char="•"/>
            </a:pPr>
            <a:r>
              <a:rPr lang="en-US" dirty="0">
                <a:latin typeface="Avenir Book" panose="02000503020000020003" pitchFamily="2" charset="0"/>
              </a:rPr>
              <a:t>Less is more</a:t>
            </a:r>
          </a:p>
          <a:p>
            <a:pPr marL="285750" indent="-285750">
              <a:buFont typeface="Arial" panose="020B0604020202020204" pitchFamily="34" charset="0"/>
              <a:buChar char="•"/>
            </a:pPr>
            <a:r>
              <a:rPr lang="en-US" dirty="0">
                <a:latin typeface="Avenir Book" panose="02000503020000020003" pitchFamily="2" charset="0"/>
              </a:rPr>
              <a:t>Refine prompts based on initial outputs</a:t>
            </a:r>
          </a:p>
          <a:p>
            <a:pPr marL="285750" indent="-285750">
              <a:buFont typeface="Arial" panose="020B0604020202020204" pitchFamily="34" charset="0"/>
              <a:buChar char="•"/>
            </a:pPr>
            <a:r>
              <a:rPr lang="en-US" dirty="0">
                <a:latin typeface="Avenir Book" panose="02000503020000020003" pitchFamily="2" charset="0"/>
              </a:rPr>
              <a:t>Adjust specificity and context as needed</a:t>
            </a:r>
          </a:p>
          <a:p>
            <a:endParaRPr lang="en-US" dirty="0">
              <a:latin typeface="Avenir Book" panose="02000503020000020003" pitchFamily="2" charset="0"/>
            </a:endParaRPr>
          </a:p>
          <a:p>
            <a:endParaRPr lang="en-US" dirty="0">
              <a:latin typeface="Avenir Book" panose="02000503020000020003" pitchFamily="2" charset="0"/>
            </a:endParaRPr>
          </a:p>
        </p:txBody>
      </p:sp>
    </p:spTree>
    <p:extLst>
      <p:ext uri="{BB962C8B-B14F-4D97-AF65-F5344CB8AC3E}">
        <p14:creationId xmlns:p14="http://schemas.microsoft.com/office/powerpoint/2010/main" val="1642128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3FF1B-5D00-6F03-BB88-077E5983780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11A085D-7D6D-9EB4-1C97-C42B60BBE3C3}"/>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Prompting</a:t>
            </a:r>
          </a:p>
        </p:txBody>
      </p:sp>
      <p:sp>
        <p:nvSpPr>
          <p:cNvPr id="4" name="Text Placeholder 3">
            <a:extLst>
              <a:ext uri="{FF2B5EF4-FFF2-40B4-BE49-F238E27FC236}">
                <a16:creationId xmlns:a16="http://schemas.microsoft.com/office/drawing/2014/main" id="{4B689A39-389A-FAE1-B40D-565D338787F1}"/>
              </a:ext>
            </a:extLst>
          </p:cNvPr>
          <p:cNvSpPr>
            <a:spLocks noGrp="1"/>
          </p:cNvSpPr>
          <p:nvPr>
            <p:ph type="body" sz="quarter" idx="15"/>
          </p:nvPr>
        </p:nvSpPr>
        <p:spPr>
          <a:xfrm>
            <a:off x="624113" y="2816751"/>
            <a:ext cx="3030943" cy="266700"/>
          </a:xfrm>
        </p:spPr>
        <p:txBody>
          <a:bodyPr/>
          <a:lstStyle/>
          <a:p>
            <a:r>
              <a:rPr lang="en-US" dirty="0"/>
              <a:t>Framework for success</a:t>
            </a:r>
          </a:p>
        </p:txBody>
      </p:sp>
      <p:sp>
        <p:nvSpPr>
          <p:cNvPr id="5" name="Slide Number Placeholder 4">
            <a:extLst>
              <a:ext uri="{FF2B5EF4-FFF2-40B4-BE49-F238E27FC236}">
                <a16:creationId xmlns:a16="http://schemas.microsoft.com/office/drawing/2014/main" id="{7CB095A6-5803-DDC8-8750-454FC54C09C8}"/>
              </a:ext>
            </a:extLst>
          </p:cNvPr>
          <p:cNvSpPr>
            <a:spLocks noGrp="1"/>
          </p:cNvSpPr>
          <p:nvPr>
            <p:ph type="sldNum" sz="quarter" idx="18"/>
          </p:nvPr>
        </p:nvSpPr>
        <p:spPr/>
        <p:txBody>
          <a:bodyPr/>
          <a:lstStyle/>
          <a:p>
            <a:fld id="{548469FB-C78A-B94B-B04A-B5BC8C934F85}" type="slidenum">
              <a:rPr lang="en-US" smtClean="0"/>
              <a:t>15</a:t>
            </a:fld>
            <a:endParaRPr lang="en-US"/>
          </a:p>
        </p:txBody>
      </p:sp>
      <p:sp>
        <p:nvSpPr>
          <p:cNvPr id="8" name="TextBox 7">
            <a:extLst>
              <a:ext uri="{FF2B5EF4-FFF2-40B4-BE49-F238E27FC236}">
                <a16:creationId xmlns:a16="http://schemas.microsoft.com/office/drawing/2014/main" id="{734DD4A7-2766-CEEE-F8E6-E314195EAE3E}"/>
              </a:ext>
            </a:extLst>
          </p:cNvPr>
          <p:cNvSpPr txBox="1"/>
          <p:nvPr/>
        </p:nvSpPr>
        <p:spPr>
          <a:xfrm>
            <a:off x="4510203" y="288945"/>
            <a:ext cx="7444011" cy="6432530"/>
          </a:xfrm>
          <a:prstGeom prst="rect">
            <a:avLst/>
          </a:prstGeom>
          <a:noFill/>
        </p:spPr>
        <p:txBody>
          <a:bodyPr wrap="square" rtlCol="0">
            <a:spAutoFit/>
          </a:bodyPr>
          <a:lstStyle/>
          <a:p>
            <a:pPr lvl="0" eaLnBrk="0" fontAlgn="base" hangingPunct="0">
              <a:spcBef>
                <a:spcPct val="0"/>
              </a:spcBef>
              <a:spcAft>
                <a:spcPct val="0"/>
              </a:spcAft>
            </a:pPr>
            <a:r>
              <a:rPr lang="en-US" altLang="en-US" b="1" dirty="0">
                <a:solidFill>
                  <a:schemeClr val="tx2">
                    <a:lumMod val="90000"/>
                    <a:lumOff val="10000"/>
                  </a:schemeClr>
                </a:solidFill>
                <a:latin typeface="Avenir Book" panose="02000503020000020003" pitchFamily="2" charset="0"/>
              </a:rPr>
              <a:t>Role</a:t>
            </a:r>
            <a:endParaRPr lang="en-US" altLang="en-US" dirty="0">
              <a:solidFill>
                <a:schemeClr val="tx2">
                  <a:lumMod val="90000"/>
                  <a:lumOff val="10000"/>
                </a:schemeClr>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Assign the AI a persona:</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You are an expert Bioinformatician</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You are a senior data scientist</a:t>
            </a:r>
          </a:p>
          <a:p>
            <a:pPr marL="342900" lvl="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This sets the tone and complexity of the code</a:t>
            </a:r>
          </a:p>
          <a:p>
            <a:pPr lvl="0" eaLnBrk="0" fontAlgn="base" hangingPunct="0">
              <a:spcBef>
                <a:spcPct val="0"/>
              </a:spcBef>
              <a:spcAft>
                <a:spcPct val="0"/>
              </a:spcAft>
            </a:pPr>
            <a:r>
              <a:rPr lang="en-US" altLang="en-US" b="1" dirty="0">
                <a:solidFill>
                  <a:schemeClr val="tx2">
                    <a:lumMod val="90000"/>
                    <a:lumOff val="10000"/>
                  </a:schemeClr>
                </a:solidFill>
                <a:latin typeface="Avenir Book" panose="02000503020000020003" pitchFamily="2" charset="0"/>
              </a:rPr>
              <a:t>Task</a:t>
            </a:r>
          </a:p>
          <a:p>
            <a:pPr marL="342900" lvl="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Define the specific goal clearly</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Write a Python script to perform a t-test</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Write R code to change the values of variable X from 0 to Yes</a:t>
            </a:r>
          </a:p>
          <a:p>
            <a:pPr lvl="0" eaLnBrk="0" fontAlgn="base" hangingPunct="0">
              <a:spcBef>
                <a:spcPct val="0"/>
              </a:spcBef>
              <a:spcAft>
                <a:spcPct val="0"/>
              </a:spcAft>
            </a:pPr>
            <a:r>
              <a:rPr lang="en-US" altLang="en-US" b="1" dirty="0">
                <a:solidFill>
                  <a:schemeClr val="tx2">
                    <a:lumMod val="90000"/>
                    <a:lumOff val="10000"/>
                  </a:schemeClr>
                </a:solidFill>
                <a:latin typeface="Avenir Book" panose="02000503020000020003" pitchFamily="2" charset="0"/>
              </a:rPr>
              <a:t>Context</a:t>
            </a:r>
            <a:endParaRPr lang="en-US" altLang="en-US" dirty="0">
              <a:solidFill>
                <a:schemeClr val="tx2">
                  <a:lumMod val="90000"/>
                  <a:lumOff val="10000"/>
                </a:schemeClr>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Provide the "environment”</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My data is a CSV with 10 columns; the variable 'Group' is categorical”</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Provide DF names, variable names, etc. -&gt; </a:t>
            </a:r>
            <a:r>
              <a:rPr lang="en-US" altLang="en-US" sz="1600" dirty="0" err="1">
                <a:solidFill>
                  <a:srgbClr val="000000"/>
                </a:solidFill>
                <a:latin typeface="Avenir Book" panose="02000503020000020003" pitchFamily="2" charset="0"/>
              </a:rPr>
              <a:t>i.e</a:t>
            </a:r>
            <a:r>
              <a:rPr lang="en-US" altLang="en-US" sz="1600" dirty="0">
                <a:solidFill>
                  <a:srgbClr val="000000"/>
                </a:solidFill>
                <a:latin typeface="Avenir Book" panose="02000503020000020003" pitchFamily="2" charset="0"/>
              </a:rPr>
              <a:t> upload str() outputs</a:t>
            </a:r>
          </a:p>
          <a:p>
            <a:pPr lvl="0" eaLnBrk="0" fontAlgn="base" hangingPunct="0">
              <a:spcBef>
                <a:spcPct val="0"/>
              </a:spcBef>
              <a:spcAft>
                <a:spcPct val="0"/>
              </a:spcAft>
            </a:pPr>
            <a:r>
              <a:rPr lang="en-US" altLang="en-US" b="1" dirty="0">
                <a:solidFill>
                  <a:schemeClr val="tx2">
                    <a:lumMod val="90000"/>
                    <a:lumOff val="10000"/>
                  </a:schemeClr>
                </a:solidFill>
                <a:latin typeface="Avenir Book" panose="02000503020000020003" pitchFamily="2" charset="0"/>
              </a:rPr>
              <a:t>Constraints</a:t>
            </a:r>
            <a:endParaRPr lang="en-US" altLang="en-US" dirty="0">
              <a:solidFill>
                <a:schemeClr val="tx2">
                  <a:lumMod val="90000"/>
                  <a:lumOff val="10000"/>
                </a:schemeClr>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Set boundaries </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Use the </a:t>
            </a:r>
            <a:r>
              <a:rPr lang="en-US" altLang="en-US" sz="1600" dirty="0" err="1">
                <a:solidFill>
                  <a:srgbClr val="000000"/>
                </a:solidFill>
                <a:latin typeface="Avenir Book" panose="02000503020000020003" pitchFamily="2" charset="0"/>
              </a:rPr>
              <a:t>tidyverse</a:t>
            </a:r>
            <a:r>
              <a:rPr lang="en-US" altLang="en-US" sz="1600" dirty="0">
                <a:solidFill>
                  <a:srgbClr val="000000"/>
                </a:solidFill>
                <a:latin typeface="Avenir Book" panose="02000503020000020003" pitchFamily="2" charset="0"/>
              </a:rPr>
              <a:t> in R</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Do not use deprecated functions</a:t>
            </a:r>
          </a:p>
          <a:p>
            <a:pPr lvl="0" eaLnBrk="0" fontAlgn="base" hangingPunct="0">
              <a:spcBef>
                <a:spcPct val="0"/>
              </a:spcBef>
              <a:spcAft>
                <a:spcPct val="0"/>
              </a:spcAft>
            </a:pPr>
            <a:r>
              <a:rPr lang="en-US" altLang="en-US" b="1" dirty="0">
                <a:solidFill>
                  <a:schemeClr val="tx2">
                    <a:lumMod val="90000"/>
                    <a:lumOff val="10000"/>
                  </a:schemeClr>
                </a:solidFill>
                <a:latin typeface="Avenir Book" panose="02000503020000020003" pitchFamily="2" charset="0"/>
              </a:rPr>
              <a:t>Output (Format)</a:t>
            </a:r>
            <a:endParaRPr lang="en-US" altLang="en-US" dirty="0">
              <a:solidFill>
                <a:schemeClr val="tx2">
                  <a:lumMod val="90000"/>
                  <a:lumOff val="10000"/>
                </a:schemeClr>
              </a:solidFill>
              <a:latin typeface="Avenir Book" panose="02000503020000020003" pitchFamily="2" charset="0"/>
            </a:endParaRPr>
          </a:p>
          <a:p>
            <a:pPr marL="342900" lvl="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Specify how you want the code</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In a single block with detailed comments for each line</a:t>
            </a:r>
          </a:p>
          <a:p>
            <a:pPr eaLnBrk="0" fontAlgn="base" hangingPunct="0">
              <a:spcBef>
                <a:spcPct val="0"/>
              </a:spcBef>
              <a:spcAft>
                <a:spcPct val="0"/>
              </a:spcAft>
            </a:pPr>
            <a:r>
              <a:rPr lang="en-US" altLang="en-US" b="1" dirty="0">
                <a:solidFill>
                  <a:schemeClr val="tx2">
                    <a:lumMod val="90000"/>
                    <a:lumOff val="10000"/>
                  </a:schemeClr>
                </a:solidFill>
                <a:latin typeface="Avenir Book" panose="02000503020000020003" pitchFamily="2" charset="0"/>
              </a:rPr>
              <a:t>Examples (</a:t>
            </a:r>
            <a:r>
              <a:rPr lang="en-US" altLang="en-US" sz="1600" b="1" dirty="0">
                <a:solidFill>
                  <a:schemeClr val="tx2">
                    <a:lumMod val="90000"/>
                    <a:lumOff val="10000"/>
                  </a:schemeClr>
                </a:solidFill>
                <a:latin typeface="Avenir Book" panose="02000503020000020003" pitchFamily="2" charset="0"/>
              </a:rPr>
              <a:t>Ask for)</a:t>
            </a:r>
            <a:endParaRPr lang="en-US" altLang="en-US" sz="1600" dirty="0">
              <a:solidFill>
                <a:srgbClr val="000000"/>
              </a:solidFill>
              <a:latin typeface="Avenir Book" panose="02000503020000020003" pitchFamily="2" charset="0"/>
            </a:endParaRPr>
          </a:p>
          <a:p>
            <a:pPr marL="342900" indent="-342900" eaLnBrk="0" fontAlgn="base" hangingPunct="0">
              <a:spcBef>
                <a:spcPct val="0"/>
              </a:spcBef>
              <a:spcAft>
                <a:spcPct val="0"/>
              </a:spcAft>
              <a:buFont typeface="Arial" panose="020B0604020202020204" pitchFamily="34" charset="0"/>
              <a:buChar char="•"/>
            </a:pPr>
            <a:r>
              <a:rPr lang="en-US" altLang="en-US" sz="1600" dirty="0">
                <a:solidFill>
                  <a:srgbClr val="000000"/>
                </a:solidFill>
                <a:latin typeface="Avenir Book" panose="02000503020000020003" pitchFamily="2" charset="0"/>
              </a:rPr>
              <a:t>Show input/output sample</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Show the Expected output</a:t>
            </a:r>
          </a:p>
          <a:p>
            <a:pPr marL="800100" lvl="1" indent="-342900" eaLnBrk="0" fontAlgn="base" hangingPunct="0">
              <a:spcBef>
                <a:spcPct val="0"/>
              </a:spcBef>
              <a:spcAft>
                <a:spcPct val="0"/>
              </a:spcAft>
              <a:buFont typeface="Courier New" panose="02070309020205020404" pitchFamily="49" charset="0"/>
              <a:buChar char="o"/>
            </a:pPr>
            <a:r>
              <a:rPr lang="en-US" altLang="en-US" sz="1600" dirty="0">
                <a:solidFill>
                  <a:srgbClr val="000000"/>
                </a:solidFill>
                <a:latin typeface="Avenir Book" panose="02000503020000020003" pitchFamily="2" charset="0"/>
              </a:rPr>
              <a:t>What data for this analysis usually looks like</a:t>
            </a:r>
          </a:p>
        </p:txBody>
      </p:sp>
    </p:spTree>
    <p:extLst>
      <p:ext uri="{BB962C8B-B14F-4D97-AF65-F5344CB8AC3E}">
        <p14:creationId xmlns:p14="http://schemas.microsoft.com/office/powerpoint/2010/main" val="8736036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E4E7A-3AF4-A10A-E45A-D4B940919D2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D81A621-7469-197D-AD0A-4824A7B0CF71}"/>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Prompting</a:t>
            </a:r>
          </a:p>
        </p:txBody>
      </p:sp>
      <p:sp>
        <p:nvSpPr>
          <p:cNvPr id="4" name="Text Placeholder 3">
            <a:extLst>
              <a:ext uri="{FF2B5EF4-FFF2-40B4-BE49-F238E27FC236}">
                <a16:creationId xmlns:a16="http://schemas.microsoft.com/office/drawing/2014/main" id="{2ECBDBC0-58D6-5108-F801-75061D7D6311}"/>
              </a:ext>
            </a:extLst>
          </p:cNvPr>
          <p:cNvSpPr>
            <a:spLocks noGrp="1"/>
          </p:cNvSpPr>
          <p:nvPr>
            <p:ph type="body" sz="quarter" idx="15"/>
          </p:nvPr>
        </p:nvSpPr>
        <p:spPr>
          <a:xfrm>
            <a:off x="624113" y="2816751"/>
            <a:ext cx="3030943" cy="266700"/>
          </a:xfrm>
        </p:spPr>
        <p:txBody>
          <a:bodyPr/>
          <a:lstStyle/>
          <a:p>
            <a:r>
              <a:rPr lang="en-US" dirty="0"/>
              <a:t>Evaluation</a:t>
            </a:r>
          </a:p>
        </p:txBody>
      </p:sp>
      <p:sp>
        <p:nvSpPr>
          <p:cNvPr id="5" name="Slide Number Placeholder 4">
            <a:extLst>
              <a:ext uri="{FF2B5EF4-FFF2-40B4-BE49-F238E27FC236}">
                <a16:creationId xmlns:a16="http://schemas.microsoft.com/office/drawing/2014/main" id="{82F57BF1-8BD5-69AB-EA05-310BD2A8D0BF}"/>
              </a:ext>
            </a:extLst>
          </p:cNvPr>
          <p:cNvSpPr>
            <a:spLocks noGrp="1"/>
          </p:cNvSpPr>
          <p:nvPr>
            <p:ph type="sldNum" sz="quarter" idx="18"/>
          </p:nvPr>
        </p:nvSpPr>
        <p:spPr/>
        <p:txBody>
          <a:bodyPr/>
          <a:lstStyle/>
          <a:p>
            <a:fld id="{548469FB-C78A-B94B-B04A-B5BC8C934F85}" type="slidenum">
              <a:rPr lang="en-US" smtClean="0"/>
              <a:t>16</a:t>
            </a:fld>
            <a:endParaRPr lang="en-US"/>
          </a:p>
        </p:txBody>
      </p:sp>
      <p:sp>
        <p:nvSpPr>
          <p:cNvPr id="9" name="TextBox 8">
            <a:extLst>
              <a:ext uri="{FF2B5EF4-FFF2-40B4-BE49-F238E27FC236}">
                <a16:creationId xmlns:a16="http://schemas.microsoft.com/office/drawing/2014/main" id="{41157E34-AEC8-FD2F-50FA-8C482E075CAD}"/>
              </a:ext>
            </a:extLst>
          </p:cNvPr>
          <p:cNvSpPr txBox="1"/>
          <p:nvPr/>
        </p:nvSpPr>
        <p:spPr>
          <a:xfrm>
            <a:off x="4396901" y="305068"/>
            <a:ext cx="7450309" cy="6309420"/>
          </a:xfrm>
          <a:prstGeom prst="rect">
            <a:avLst/>
          </a:prstGeom>
          <a:noFill/>
        </p:spPr>
        <p:txBody>
          <a:bodyPr wrap="square" rtlCol="0">
            <a:spAutoFit/>
          </a:bodyPr>
          <a:lstStyle/>
          <a:p>
            <a:pPr lvl="0" eaLnBrk="0" fontAlgn="base" hangingPunct="0">
              <a:spcBef>
                <a:spcPct val="0"/>
              </a:spcBef>
              <a:spcAft>
                <a:spcPct val="0"/>
              </a:spcAft>
            </a:pPr>
            <a:r>
              <a:rPr lang="en-US" altLang="en-US" b="1" dirty="0">
                <a:solidFill>
                  <a:srgbClr val="163E64"/>
                </a:solidFill>
                <a:latin typeface="Avenir Book" panose="02000503020000020003" pitchFamily="2" charset="0"/>
              </a:rPr>
              <a:t>Test (Never assume code works)</a:t>
            </a:r>
          </a:p>
          <a:p>
            <a:pPr lvl="0" eaLnBrk="0" fontAlgn="base" hangingPunct="0">
              <a:spcBef>
                <a:spcPct val="0"/>
              </a:spcBef>
              <a:spcAft>
                <a:spcPct val="0"/>
              </a:spcAft>
            </a:pPr>
            <a:r>
              <a:rPr lang="en-US" altLang="en-US" dirty="0">
                <a:solidFill>
                  <a:srgbClr val="000000"/>
                </a:solidFill>
                <a:latin typeface="Avenir Book" panose="02000503020000020003" pitchFamily="2" charset="0"/>
              </a:rPr>
              <a:t>Copy it into your local RStudio or </a:t>
            </a:r>
            <a:r>
              <a:rPr lang="en-US" altLang="en-US" dirty="0" err="1">
                <a:solidFill>
                  <a:srgbClr val="000000"/>
                </a:solidFill>
                <a:latin typeface="Avenir Book" panose="02000503020000020003" pitchFamily="2" charset="0"/>
              </a:rPr>
              <a:t>Jupyter</a:t>
            </a:r>
            <a:r>
              <a:rPr lang="en-US" altLang="en-US" dirty="0">
                <a:solidFill>
                  <a:srgbClr val="000000"/>
                </a:solidFill>
                <a:latin typeface="Avenir Book" panose="02000503020000020003" pitchFamily="2" charset="0"/>
              </a:rPr>
              <a:t> Notebook and run it with a subset of your data first</a:t>
            </a:r>
          </a:p>
          <a:p>
            <a:pPr lvl="0" eaLnBrk="0" fontAlgn="base" hangingPunct="0">
              <a:spcBef>
                <a:spcPct val="0"/>
              </a:spcBef>
              <a:spcAft>
                <a:spcPct val="0"/>
              </a:spcAft>
            </a:pPr>
            <a:endParaRPr lang="en-US" altLang="en-US" sz="1600" dirty="0">
              <a:solidFill>
                <a:srgbClr val="000000"/>
              </a:solidFill>
              <a:latin typeface="Avenir Book" panose="02000503020000020003" pitchFamily="2" charset="0"/>
            </a:endParaRPr>
          </a:p>
          <a:p>
            <a:pPr eaLnBrk="0" fontAlgn="base" hangingPunct="0">
              <a:spcBef>
                <a:spcPct val="0"/>
              </a:spcBef>
              <a:spcAft>
                <a:spcPct val="0"/>
              </a:spcAft>
            </a:pPr>
            <a:r>
              <a:rPr lang="en-US" altLang="en-US" b="1" dirty="0">
                <a:solidFill>
                  <a:srgbClr val="163E64"/>
                </a:solidFill>
                <a:latin typeface="Avenir Book" panose="02000503020000020003" pitchFamily="2" charset="0"/>
              </a:rPr>
              <a:t>Verification (Read the code line-by-line)</a:t>
            </a:r>
          </a:p>
          <a:p>
            <a:pPr eaLnBrk="0" fontAlgn="base" hangingPunct="0">
              <a:spcBef>
                <a:spcPct val="0"/>
              </a:spcBef>
              <a:spcAft>
                <a:spcPct val="0"/>
              </a:spcAft>
            </a:pPr>
            <a:r>
              <a:rPr lang="en-US" altLang="en-US" dirty="0">
                <a:solidFill>
                  <a:srgbClr val="000000"/>
                </a:solidFill>
                <a:latin typeface="Avenir Book" panose="02000503020000020003" pitchFamily="2" charset="0"/>
              </a:rPr>
              <a:t>Do the methods the AI chose match your study design</a:t>
            </a:r>
          </a:p>
          <a:p>
            <a:pPr eaLnBrk="0" fontAlgn="base" hangingPunct="0">
              <a:spcBef>
                <a:spcPct val="0"/>
              </a:spcBef>
              <a:spcAft>
                <a:spcPct val="0"/>
              </a:spcAft>
            </a:pPr>
            <a:endParaRPr lang="en-US" altLang="en-US" sz="1600" dirty="0">
              <a:solidFill>
                <a:srgbClr val="000000"/>
              </a:solidFill>
              <a:latin typeface="Avenir Book" panose="02000503020000020003" pitchFamily="2" charset="0"/>
            </a:endParaRPr>
          </a:p>
          <a:p>
            <a:pPr lvl="0" eaLnBrk="0" fontAlgn="base" hangingPunct="0">
              <a:spcBef>
                <a:spcPct val="0"/>
              </a:spcBef>
              <a:spcAft>
                <a:spcPct val="0"/>
              </a:spcAft>
            </a:pPr>
            <a:r>
              <a:rPr lang="en-US" altLang="en-US" b="1" dirty="0">
                <a:solidFill>
                  <a:srgbClr val="163E64"/>
                </a:solidFill>
                <a:latin typeface="Avenir Book" panose="02000503020000020003" pitchFamily="2" charset="0"/>
              </a:rPr>
              <a:t>Check for Hallucinated Libraries</a:t>
            </a:r>
          </a:p>
          <a:p>
            <a:pPr lvl="0" eaLnBrk="0" fontAlgn="base" hangingPunct="0">
              <a:spcBef>
                <a:spcPct val="0"/>
              </a:spcBef>
              <a:spcAft>
                <a:spcPct val="0"/>
              </a:spcAft>
            </a:pPr>
            <a:r>
              <a:rPr lang="en-US" altLang="en-US" dirty="0">
                <a:solidFill>
                  <a:srgbClr val="000000"/>
                </a:solidFill>
                <a:latin typeface="Avenir Book" panose="02000503020000020003" pitchFamily="2" charset="0"/>
              </a:rPr>
              <a:t>AI occasionally invents packages, functions, dataset names that don't exist</a:t>
            </a:r>
          </a:p>
          <a:p>
            <a:pPr lvl="0" eaLnBrk="0" fontAlgn="base" hangingPunct="0">
              <a:spcBef>
                <a:spcPct val="0"/>
              </a:spcBef>
              <a:spcAft>
                <a:spcPct val="0"/>
              </a:spcAft>
            </a:pPr>
            <a:endParaRPr lang="en-US" altLang="en-US" sz="1600" dirty="0">
              <a:solidFill>
                <a:srgbClr val="000000"/>
              </a:solidFill>
              <a:latin typeface="Avenir Book" panose="02000503020000020003" pitchFamily="2" charset="0"/>
            </a:endParaRPr>
          </a:p>
          <a:p>
            <a:pPr eaLnBrk="0" fontAlgn="base" hangingPunct="0">
              <a:spcBef>
                <a:spcPct val="0"/>
              </a:spcBef>
              <a:spcAft>
                <a:spcPct val="0"/>
              </a:spcAft>
            </a:pPr>
            <a:r>
              <a:rPr lang="en-US" altLang="en-US" b="1" dirty="0">
                <a:solidFill>
                  <a:srgbClr val="163E64"/>
                </a:solidFill>
                <a:latin typeface="Avenir Book" panose="02000503020000020003" pitchFamily="2" charset="0"/>
              </a:rPr>
              <a:t>Security</a:t>
            </a:r>
          </a:p>
          <a:p>
            <a:pPr lvl="0" eaLnBrk="0" fontAlgn="base" hangingPunct="0">
              <a:spcBef>
                <a:spcPct val="0"/>
              </a:spcBef>
              <a:spcAft>
                <a:spcPct val="0"/>
              </a:spcAft>
            </a:pPr>
            <a:r>
              <a:rPr lang="en-US" altLang="en-US" dirty="0">
                <a:solidFill>
                  <a:srgbClr val="000000"/>
                </a:solidFill>
                <a:latin typeface="Avenir Book" panose="02000503020000020003" pitchFamily="2" charset="0"/>
              </a:rPr>
              <a:t>Before running, ensure the AI hasn't suggested an external API call that might send your data to an unverified third-party server.</a:t>
            </a:r>
          </a:p>
          <a:p>
            <a:pPr lvl="0" eaLnBrk="0" fontAlgn="base" hangingPunct="0">
              <a:spcBef>
                <a:spcPct val="0"/>
              </a:spcBef>
              <a:spcAft>
                <a:spcPct val="0"/>
              </a:spcAft>
            </a:pPr>
            <a:endParaRPr lang="en-US" altLang="en-US" sz="1600" dirty="0">
              <a:solidFill>
                <a:srgbClr val="163E64"/>
              </a:solidFill>
              <a:latin typeface="Avenir Book" panose="02000503020000020003" pitchFamily="2" charset="0"/>
            </a:endParaRPr>
          </a:p>
          <a:p>
            <a:pPr lvl="0" eaLnBrk="0" fontAlgn="base" hangingPunct="0">
              <a:spcBef>
                <a:spcPct val="0"/>
              </a:spcBef>
              <a:spcAft>
                <a:spcPct val="0"/>
              </a:spcAft>
            </a:pPr>
            <a:r>
              <a:rPr lang="en-US" altLang="en-US" b="1" dirty="0">
                <a:solidFill>
                  <a:srgbClr val="163E64"/>
                </a:solidFill>
                <a:latin typeface="Avenir Book" panose="02000503020000020003" pitchFamily="2" charset="0"/>
              </a:rPr>
              <a:t>Consistency Check</a:t>
            </a:r>
          </a:p>
          <a:p>
            <a:pPr lvl="0" eaLnBrk="0" fontAlgn="base" hangingPunct="0">
              <a:spcBef>
                <a:spcPct val="0"/>
              </a:spcBef>
              <a:spcAft>
                <a:spcPct val="0"/>
              </a:spcAft>
            </a:pPr>
            <a:r>
              <a:rPr lang="en-US" altLang="en-US" dirty="0">
                <a:solidFill>
                  <a:srgbClr val="000000"/>
                </a:solidFill>
                <a:latin typeface="Avenir Book" panose="02000503020000020003" pitchFamily="2" charset="0"/>
              </a:rPr>
              <a:t>Ask something like "Explain</a:t>
            </a:r>
            <a:r>
              <a:rPr lang="en-US" altLang="en-US" i="1" dirty="0">
                <a:solidFill>
                  <a:srgbClr val="000000"/>
                </a:solidFill>
                <a:latin typeface="Avenir Book" panose="02000503020000020003" pitchFamily="2" charset="0"/>
              </a:rPr>
              <a:t> the logic behind the function you just wrote"</a:t>
            </a:r>
            <a:r>
              <a:rPr lang="en-US" altLang="en-US" dirty="0">
                <a:solidFill>
                  <a:srgbClr val="000000"/>
                </a:solidFill>
                <a:latin typeface="Avenir Book" panose="02000503020000020003" pitchFamily="2" charset="0"/>
              </a:rPr>
              <a:t> If the explanation doesn't match the code, the output is unreliable</a:t>
            </a:r>
          </a:p>
          <a:p>
            <a:pPr lvl="0" eaLnBrk="0" fontAlgn="base" hangingPunct="0">
              <a:spcBef>
                <a:spcPct val="0"/>
              </a:spcBef>
              <a:spcAft>
                <a:spcPct val="0"/>
              </a:spcAft>
            </a:pPr>
            <a:endParaRPr lang="en-US" altLang="en-US" sz="1600" dirty="0">
              <a:latin typeface="Avenir Book" panose="02000503020000020003" pitchFamily="2" charset="0"/>
            </a:endParaRPr>
          </a:p>
          <a:p>
            <a:r>
              <a:rPr lang="en-US" altLang="en-US" b="1" dirty="0">
                <a:solidFill>
                  <a:srgbClr val="163E64"/>
                </a:solidFill>
                <a:latin typeface="Avenir Book" panose="02000503020000020003" pitchFamily="2" charset="0"/>
              </a:rPr>
              <a:t>Case Testing</a:t>
            </a:r>
          </a:p>
          <a:p>
            <a:r>
              <a:rPr lang="en-US" altLang="en-US" dirty="0">
                <a:latin typeface="Avenir Book" panose="02000503020000020003" pitchFamily="2" charset="0"/>
              </a:rPr>
              <a:t>Ask the AI, "What happens to this code if my data has missing values (NAs)?" Ensure the script handles medical data realities</a:t>
            </a:r>
          </a:p>
        </p:txBody>
      </p:sp>
    </p:spTree>
    <p:extLst>
      <p:ext uri="{BB962C8B-B14F-4D97-AF65-F5344CB8AC3E}">
        <p14:creationId xmlns:p14="http://schemas.microsoft.com/office/powerpoint/2010/main" val="37151773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Prompting</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624113" y="2816751"/>
            <a:ext cx="3030943" cy="266700"/>
          </a:xfrm>
        </p:spPr>
        <p:txBody>
          <a:bodyPr/>
          <a:lstStyle/>
          <a:p>
            <a:r>
              <a:rPr lang="en-US" dirty="0"/>
              <a:t>Bad vs Good</a:t>
            </a:r>
          </a:p>
        </p:txBody>
      </p:sp>
      <p:sp>
        <p:nvSpPr>
          <p:cNvPr id="5" name="Slide Number Placeholder 4">
            <a:extLst>
              <a:ext uri="{FF2B5EF4-FFF2-40B4-BE49-F238E27FC236}">
                <a16:creationId xmlns:a16="http://schemas.microsoft.com/office/drawing/2014/main" id="{543EA546-BF87-E0C9-2785-9D67CCE7E17B}"/>
              </a:ext>
            </a:extLst>
          </p:cNvPr>
          <p:cNvSpPr>
            <a:spLocks noGrp="1"/>
          </p:cNvSpPr>
          <p:nvPr>
            <p:ph type="sldNum" sz="quarter" idx="18"/>
          </p:nvPr>
        </p:nvSpPr>
        <p:spPr/>
        <p:txBody>
          <a:bodyPr/>
          <a:lstStyle/>
          <a:p>
            <a:fld id="{548469FB-C78A-B94B-B04A-B5BC8C934F85}" type="slidenum">
              <a:rPr lang="en-US" smtClean="0"/>
              <a:t>17</a:t>
            </a:fld>
            <a:endParaRPr lang="en-US"/>
          </a:p>
        </p:txBody>
      </p:sp>
      <p:sp>
        <p:nvSpPr>
          <p:cNvPr id="11" name="TextBox 10">
            <a:extLst>
              <a:ext uri="{FF2B5EF4-FFF2-40B4-BE49-F238E27FC236}">
                <a16:creationId xmlns:a16="http://schemas.microsoft.com/office/drawing/2014/main" id="{4FB3FE40-B81B-3AF4-B575-E5AE127788F3}"/>
              </a:ext>
            </a:extLst>
          </p:cNvPr>
          <p:cNvSpPr txBox="1"/>
          <p:nvPr/>
        </p:nvSpPr>
        <p:spPr>
          <a:xfrm>
            <a:off x="4318000" y="566678"/>
            <a:ext cx="7417750" cy="5724644"/>
          </a:xfrm>
          <a:prstGeom prst="rect">
            <a:avLst/>
          </a:prstGeom>
          <a:noFill/>
        </p:spPr>
        <p:txBody>
          <a:bodyPr wrap="square" rtlCol="0">
            <a:spAutoFit/>
          </a:bodyPr>
          <a:lstStyle/>
          <a:p>
            <a:pPr lvl="0" eaLnBrk="0" fontAlgn="base" hangingPunct="0">
              <a:spcBef>
                <a:spcPct val="0"/>
              </a:spcBef>
              <a:spcAft>
                <a:spcPct val="0"/>
              </a:spcAft>
            </a:pPr>
            <a:r>
              <a:rPr lang="en-US" altLang="en-US" sz="2400" b="1" dirty="0">
                <a:solidFill>
                  <a:srgbClr val="C00000"/>
                </a:solidFill>
                <a:latin typeface="Avenir Book" panose="02000503020000020003" pitchFamily="2" charset="0"/>
              </a:rPr>
              <a:t>Bad</a:t>
            </a:r>
            <a:endParaRPr lang="en-US" altLang="en-US" sz="2000" b="1" dirty="0">
              <a:solidFill>
                <a:srgbClr val="C00000"/>
              </a:solidFill>
              <a:latin typeface="Avenir Book" panose="02000503020000020003" pitchFamily="2" charset="0"/>
            </a:endParaRPr>
          </a:p>
          <a:p>
            <a:pPr lvl="0" eaLnBrk="0" fontAlgn="base" hangingPunct="0">
              <a:spcBef>
                <a:spcPct val="0"/>
              </a:spcBef>
              <a:spcAft>
                <a:spcPct val="0"/>
              </a:spcAft>
            </a:pPr>
            <a:endParaRPr lang="en-US" altLang="en-US" sz="1400" dirty="0">
              <a:solidFill>
                <a:srgbClr val="C00000"/>
              </a:solidFill>
              <a:latin typeface="Avenir Book" panose="02000503020000020003" pitchFamily="2" charset="0"/>
            </a:endParaRPr>
          </a:p>
          <a:p>
            <a:pPr lvl="0" eaLnBrk="0" fontAlgn="base" hangingPunct="0">
              <a:spcBef>
                <a:spcPct val="0"/>
              </a:spcBef>
              <a:spcAft>
                <a:spcPct val="0"/>
              </a:spcAft>
            </a:pPr>
            <a:r>
              <a:rPr lang="en-US" altLang="en-US" dirty="0">
                <a:latin typeface="Avenir Book" panose="02000503020000020003" pitchFamily="2" charset="0"/>
              </a:rPr>
              <a:t>“Write a Python script to analyze this CSV file and make a plot.”</a:t>
            </a:r>
          </a:p>
          <a:p>
            <a:pPr lvl="0" eaLnBrk="0" fontAlgn="base" hangingPunct="0">
              <a:spcBef>
                <a:spcPct val="0"/>
              </a:spcBef>
              <a:spcAft>
                <a:spcPct val="0"/>
              </a:spcAft>
            </a:pPr>
            <a:endParaRPr lang="en-US" altLang="en-US" sz="1400" b="1" dirty="0">
              <a:solidFill>
                <a:srgbClr val="000000"/>
              </a:solidFill>
              <a:latin typeface="Avenir Book" panose="02000503020000020003" pitchFamily="2" charset="0"/>
            </a:endParaRPr>
          </a:p>
          <a:p>
            <a:pPr lvl="0" eaLnBrk="0" fontAlgn="base" hangingPunct="0">
              <a:spcBef>
                <a:spcPct val="0"/>
              </a:spcBef>
              <a:spcAft>
                <a:spcPct val="0"/>
              </a:spcAft>
            </a:pPr>
            <a:r>
              <a:rPr lang="en-US" altLang="en-US" sz="1400" dirty="0">
                <a:solidFill>
                  <a:srgbClr val="000000"/>
                </a:solidFill>
                <a:latin typeface="Avenir Book" panose="02000503020000020003" pitchFamily="2" charset="0"/>
              </a:rPr>
              <a:t>Why it fails: It lacks Context and Constraints. The AI doesn't know which columns to use, what kind of analysis to perform, or what library (Matplotlib? </a:t>
            </a:r>
            <a:r>
              <a:rPr lang="en-US" altLang="en-US" sz="1400" dirty="0" err="1">
                <a:solidFill>
                  <a:srgbClr val="000000"/>
                </a:solidFill>
                <a:latin typeface="Avenir Book" panose="02000503020000020003" pitchFamily="2" charset="0"/>
              </a:rPr>
              <a:t>Plotly</a:t>
            </a:r>
            <a:r>
              <a:rPr lang="en-US" altLang="en-US" sz="1400" dirty="0">
                <a:solidFill>
                  <a:srgbClr val="000000"/>
                </a:solidFill>
                <a:latin typeface="Avenir Book" panose="02000503020000020003" pitchFamily="2" charset="0"/>
              </a:rPr>
              <a:t>? Seaborn?) you prefer.</a:t>
            </a:r>
            <a:endParaRPr lang="en-US" altLang="en-US" sz="1400" dirty="0">
              <a:latin typeface="Avenir Book" panose="02000503020000020003" pitchFamily="2" charset="0"/>
            </a:endParaRP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r>
              <a:rPr lang="en-US" altLang="en-US" sz="2400" b="1" dirty="0">
                <a:solidFill>
                  <a:schemeClr val="accent6">
                    <a:lumMod val="50000"/>
                  </a:schemeClr>
                </a:solidFill>
                <a:latin typeface="Avenir Book" panose="02000503020000020003" pitchFamily="2" charset="0"/>
              </a:rPr>
              <a:t>Good</a:t>
            </a:r>
          </a:p>
          <a:p>
            <a:pPr lvl="0" eaLnBrk="0" fontAlgn="base" hangingPunct="0">
              <a:spcBef>
                <a:spcPct val="0"/>
              </a:spcBef>
              <a:spcAft>
                <a:spcPct val="0"/>
              </a:spcAft>
            </a:pPr>
            <a:endParaRPr lang="en-US" altLang="en-US" sz="1400" dirty="0">
              <a:latin typeface="Avenir Book" panose="02000503020000020003" pitchFamily="2" charset="0"/>
            </a:endParaRP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Role:</a:t>
            </a:r>
            <a:r>
              <a:rPr lang="en-US" altLang="en-US" dirty="0">
                <a:latin typeface="Avenir Book" panose="02000503020000020003" pitchFamily="2" charset="0"/>
              </a:rPr>
              <a:t> Act as a Senior Data Scientist.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Task:</a:t>
            </a:r>
            <a:r>
              <a:rPr lang="en-US" altLang="en-US" dirty="0">
                <a:latin typeface="Avenir Book" panose="02000503020000020003" pitchFamily="2" charset="0"/>
              </a:rPr>
              <a:t> Create a Python script using pandas and seaborn to analyze a dataset named </a:t>
            </a:r>
            <a:r>
              <a:rPr lang="en-US" altLang="en-US" dirty="0" err="1">
                <a:latin typeface="Avenir Book" panose="02000503020000020003" pitchFamily="2" charset="0"/>
              </a:rPr>
              <a:t>sales_data.csv</a:t>
            </a:r>
            <a:r>
              <a:rPr lang="en-US" altLang="en-US" dirty="0">
                <a:latin typeface="Avenir Book" panose="02000503020000020003" pitchFamily="2" charset="0"/>
              </a:rPr>
              <a:t>.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Context:</a:t>
            </a:r>
            <a:r>
              <a:rPr lang="en-US" altLang="en-US" dirty="0">
                <a:latin typeface="Avenir Book" panose="02000503020000020003" pitchFamily="2" charset="0"/>
              </a:rPr>
              <a:t> The data contains columns for 'Date', 'Revenue', and '</a:t>
            </a:r>
            <a:r>
              <a:rPr lang="en-US" altLang="en-US" dirty="0" err="1">
                <a:latin typeface="Avenir Book" panose="02000503020000020003" pitchFamily="2" charset="0"/>
              </a:rPr>
              <a:t>Product_Category</a:t>
            </a:r>
            <a:r>
              <a:rPr lang="en-US" altLang="en-US" dirty="0">
                <a:latin typeface="Avenir Book" panose="02000503020000020003" pitchFamily="2" charset="0"/>
              </a:rPr>
              <a:t>’.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Constraints:</a:t>
            </a:r>
            <a:r>
              <a:rPr lang="en-US" altLang="en-US" dirty="0">
                <a:latin typeface="Avenir Book" panose="02000503020000020003" pitchFamily="2" charset="0"/>
              </a:rPr>
              <a:t> I need to handle missing values by filling them with the median.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Output:</a:t>
            </a:r>
            <a:r>
              <a:rPr lang="en-US" altLang="en-US" dirty="0">
                <a:latin typeface="Avenir Book" panose="02000503020000020003" pitchFamily="2" charset="0"/>
              </a:rPr>
              <a:t> Generate a line chart showing total monthly revenue trends and a bar chart of revenue by category. Include comments explaining each step.</a:t>
            </a:r>
          </a:p>
        </p:txBody>
      </p:sp>
    </p:spTree>
    <p:extLst>
      <p:ext uri="{BB962C8B-B14F-4D97-AF65-F5344CB8AC3E}">
        <p14:creationId xmlns:p14="http://schemas.microsoft.com/office/powerpoint/2010/main" val="18922948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90FED-5FC7-CA76-2279-8A2391F437F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844FA36-8802-C425-93F3-34F91215257B}"/>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Prompting</a:t>
            </a:r>
          </a:p>
        </p:txBody>
      </p:sp>
      <p:sp>
        <p:nvSpPr>
          <p:cNvPr id="4" name="Text Placeholder 3">
            <a:extLst>
              <a:ext uri="{FF2B5EF4-FFF2-40B4-BE49-F238E27FC236}">
                <a16:creationId xmlns:a16="http://schemas.microsoft.com/office/drawing/2014/main" id="{335B95C8-18C7-CCA1-C1B6-D9C37AAF4DF7}"/>
              </a:ext>
            </a:extLst>
          </p:cNvPr>
          <p:cNvSpPr>
            <a:spLocks noGrp="1"/>
          </p:cNvSpPr>
          <p:nvPr>
            <p:ph type="body" sz="quarter" idx="15"/>
          </p:nvPr>
        </p:nvSpPr>
        <p:spPr>
          <a:xfrm>
            <a:off x="624113" y="2816751"/>
            <a:ext cx="3030943" cy="266700"/>
          </a:xfrm>
        </p:spPr>
        <p:txBody>
          <a:bodyPr/>
          <a:lstStyle/>
          <a:p>
            <a:r>
              <a:rPr lang="en-US" dirty="0"/>
              <a:t>Bad vs Good</a:t>
            </a:r>
          </a:p>
        </p:txBody>
      </p:sp>
      <p:sp>
        <p:nvSpPr>
          <p:cNvPr id="5" name="Slide Number Placeholder 4">
            <a:extLst>
              <a:ext uri="{FF2B5EF4-FFF2-40B4-BE49-F238E27FC236}">
                <a16:creationId xmlns:a16="http://schemas.microsoft.com/office/drawing/2014/main" id="{DAB6B7E9-4346-E409-4777-A94FC073532E}"/>
              </a:ext>
            </a:extLst>
          </p:cNvPr>
          <p:cNvSpPr>
            <a:spLocks noGrp="1"/>
          </p:cNvSpPr>
          <p:nvPr>
            <p:ph type="sldNum" sz="quarter" idx="18"/>
          </p:nvPr>
        </p:nvSpPr>
        <p:spPr/>
        <p:txBody>
          <a:bodyPr/>
          <a:lstStyle/>
          <a:p>
            <a:fld id="{548469FB-C78A-B94B-B04A-B5BC8C934F85}" type="slidenum">
              <a:rPr lang="en-US" smtClean="0"/>
              <a:t>18</a:t>
            </a:fld>
            <a:endParaRPr lang="en-US"/>
          </a:p>
        </p:txBody>
      </p:sp>
      <p:sp>
        <p:nvSpPr>
          <p:cNvPr id="11" name="TextBox 10">
            <a:extLst>
              <a:ext uri="{FF2B5EF4-FFF2-40B4-BE49-F238E27FC236}">
                <a16:creationId xmlns:a16="http://schemas.microsoft.com/office/drawing/2014/main" id="{547C9DAF-31E3-E036-9412-26D440B3AB48}"/>
              </a:ext>
            </a:extLst>
          </p:cNvPr>
          <p:cNvSpPr txBox="1"/>
          <p:nvPr/>
        </p:nvSpPr>
        <p:spPr>
          <a:xfrm>
            <a:off x="4357169" y="905232"/>
            <a:ext cx="7417750" cy="5047536"/>
          </a:xfrm>
          <a:prstGeom prst="rect">
            <a:avLst/>
          </a:prstGeom>
          <a:noFill/>
        </p:spPr>
        <p:txBody>
          <a:bodyPr wrap="square" rtlCol="0">
            <a:spAutoFit/>
          </a:bodyPr>
          <a:lstStyle/>
          <a:p>
            <a:pPr eaLnBrk="0" fontAlgn="base" hangingPunct="0">
              <a:spcBef>
                <a:spcPct val="0"/>
              </a:spcBef>
              <a:spcAft>
                <a:spcPct val="0"/>
              </a:spcAft>
            </a:pPr>
            <a:r>
              <a:rPr lang="en-US" altLang="en-US" sz="2400" b="1" dirty="0">
                <a:solidFill>
                  <a:srgbClr val="C00000"/>
                </a:solidFill>
                <a:latin typeface="Avenir Book" panose="02000503020000020003" pitchFamily="2" charset="0"/>
              </a:rPr>
              <a:t>Bad</a:t>
            </a:r>
            <a:endParaRPr lang="en-US" altLang="en-US" b="1" dirty="0">
              <a:solidFill>
                <a:srgbClr val="C00000"/>
              </a:solidFill>
              <a:latin typeface="Avenir Book" panose="02000503020000020003" pitchFamily="2" charset="0"/>
            </a:endParaRPr>
          </a:p>
          <a:p>
            <a:pPr lvl="0" eaLnBrk="0" fontAlgn="base" hangingPunct="0">
              <a:spcBef>
                <a:spcPct val="0"/>
              </a:spcBef>
              <a:spcAft>
                <a:spcPct val="0"/>
              </a:spcAft>
            </a:pPr>
            <a:endParaRPr lang="en-US" altLang="en-US" sz="1400" dirty="0">
              <a:solidFill>
                <a:srgbClr val="C00000"/>
              </a:solidFill>
              <a:latin typeface="Avenir Book" panose="02000503020000020003" pitchFamily="2" charset="0"/>
            </a:endParaRPr>
          </a:p>
          <a:p>
            <a:pPr lvl="0" eaLnBrk="0" fontAlgn="base" hangingPunct="0">
              <a:spcBef>
                <a:spcPct val="0"/>
              </a:spcBef>
              <a:spcAft>
                <a:spcPct val="0"/>
              </a:spcAft>
            </a:pPr>
            <a:r>
              <a:rPr lang="en-US" altLang="en-US" dirty="0">
                <a:latin typeface="Avenir Book" panose="02000503020000020003" pitchFamily="2" charset="0"/>
              </a:rPr>
              <a:t>"How do I filter data in R?”</a:t>
            </a:r>
          </a:p>
          <a:p>
            <a:pPr lvl="0" eaLnBrk="0" fontAlgn="base" hangingPunct="0">
              <a:spcBef>
                <a:spcPct val="0"/>
              </a:spcBef>
              <a:spcAft>
                <a:spcPct val="0"/>
              </a:spcAft>
            </a:pPr>
            <a:endParaRPr lang="en-US" altLang="en-US" sz="1400" dirty="0">
              <a:solidFill>
                <a:srgbClr val="C00000"/>
              </a:solidFill>
              <a:latin typeface="Avenir Book" panose="02000503020000020003" pitchFamily="2" charset="0"/>
            </a:endParaRPr>
          </a:p>
          <a:p>
            <a:pPr lvl="0" eaLnBrk="0" fontAlgn="base" hangingPunct="0">
              <a:spcBef>
                <a:spcPct val="0"/>
              </a:spcBef>
              <a:spcAft>
                <a:spcPct val="0"/>
              </a:spcAft>
            </a:pPr>
            <a:r>
              <a:rPr lang="en-US" altLang="en-US" sz="1400" dirty="0">
                <a:solidFill>
                  <a:srgbClr val="000000"/>
                </a:solidFill>
                <a:latin typeface="Avenir Book" panose="02000503020000020003" pitchFamily="2" charset="0"/>
              </a:rPr>
              <a:t>Why it fails: This is too broad. Are you using Base R, </a:t>
            </a:r>
            <a:r>
              <a:rPr lang="en-US" altLang="en-US" sz="1400" dirty="0" err="1">
                <a:solidFill>
                  <a:srgbClr val="000000"/>
                </a:solidFill>
                <a:latin typeface="Avenir Book" panose="02000503020000020003" pitchFamily="2" charset="0"/>
              </a:rPr>
              <a:t>dplyr</a:t>
            </a:r>
            <a:r>
              <a:rPr lang="en-US" altLang="en-US" sz="1400" dirty="0">
                <a:solidFill>
                  <a:srgbClr val="000000"/>
                </a:solidFill>
                <a:latin typeface="Avenir Book" panose="02000503020000020003" pitchFamily="2" charset="0"/>
              </a:rPr>
              <a:t>, or </a:t>
            </a:r>
            <a:r>
              <a:rPr lang="en-US" altLang="en-US" sz="1400" dirty="0" err="1">
                <a:solidFill>
                  <a:srgbClr val="000000"/>
                </a:solidFill>
                <a:latin typeface="Avenir Book" panose="02000503020000020003" pitchFamily="2" charset="0"/>
              </a:rPr>
              <a:t>data.table</a:t>
            </a:r>
            <a:r>
              <a:rPr lang="en-US" altLang="en-US" sz="1400" dirty="0">
                <a:solidFill>
                  <a:srgbClr val="000000"/>
                </a:solidFill>
                <a:latin typeface="Avenir Book" panose="02000503020000020003" pitchFamily="2" charset="0"/>
              </a:rPr>
              <a:t>? What is the condition for filtering?</a:t>
            </a: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r>
              <a:rPr lang="en-US" altLang="en-US" sz="2400" b="1" dirty="0">
                <a:solidFill>
                  <a:schemeClr val="accent6">
                    <a:lumMod val="50000"/>
                  </a:schemeClr>
                </a:solidFill>
                <a:latin typeface="Avenir Book" panose="02000503020000020003" pitchFamily="2" charset="0"/>
              </a:rPr>
              <a:t>Good</a:t>
            </a:r>
          </a:p>
          <a:p>
            <a:pPr lvl="0" eaLnBrk="0" fontAlgn="base" hangingPunct="0">
              <a:spcBef>
                <a:spcPct val="0"/>
              </a:spcBef>
              <a:spcAft>
                <a:spcPct val="0"/>
              </a:spcAft>
            </a:pPr>
            <a:endParaRPr lang="en-US" altLang="en-US" sz="1400" dirty="0">
              <a:latin typeface="Avenir Book" panose="02000503020000020003" pitchFamily="2" charset="0"/>
            </a:endParaRP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Role:</a:t>
            </a:r>
            <a:r>
              <a:rPr lang="en-US" altLang="en-US" dirty="0">
                <a:latin typeface="Avenir Book" panose="02000503020000020003" pitchFamily="2" charset="0"/>
              </a:rPr>
              <a:t> Act as an R Programming Expert.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Task:</a:t>
            </a:r>
            <a:r>
              <a:rPr lang="en-US" altLang="en-US" dirty="0">
                <a:latin typeface="Avenir Book" panose="02000503020000020003" pitchFamily="2" charset="0"/>
              </a:rPr>
              <a:t> Provide a code snippet to filter a </a:t>
            </a:r>
            <a:r>
              <a:rPr lang="en-US" altLang="en-US" dirty="0" err="1">
                <a:latin typeface="Avenir Book" panose="02000503020000020003" pitchFamily="2" charset="0"/>
              </a:rPr>
              <a:t>dataframe</a:t>
            </a:r>
            <a:r>
              <a:rPr lang="en-US" altLang="en-US" dirty="0">
                <a:latin typeface="Avenir Book" panose="02000503020000020003" pitchFamily="2" charset="0"/>
              </a:rPr>
              <a:t> called </a:t>
            </a:r>
            <a:r>
              <a:rPr lang="en-US" altLang="en-US" dirty="0" err="1">
                <a:latin typeface="Avenir Book" panose="02000503020000020003" pitchFamily="2" charset="0"/>
              </a:rPr>
              <a:t>survey_results</a:t>
            </a:r>
            <a:r>
              <a:rPr lang="en-US" altLang="en-US" dirty="0">
                <a:latin typeface="Avenir Book" panose="02000503020000020003" pitchFamily="2" charset="0"/>
              </a:rPr>
              <a:t>.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Context:</a:t>
            </a:r>
            <a:r>
              <a:rPr lang="en-US" altLang="en-US" dirty="0">
                <a:latin typeface="Avenir Book" panose="02000503020000020003" pitchFamily="2" charset="0"/>
              </a:rPr>
              <a:t> I am using the </a:t>
            </a:r>
            <a:r>
              <a:rPr lang="en-US" altLang="en-US" dirty="0" err="1">
                <a:latin typeface="Avenir Book" panose="02000503020000020003" pitchFamily="2" charset="0"/>
              </a:rPr>
              <a:t>tidyverse</a:t>
            </a:r>
            <a:r>
              <a:rPr lang="en-US" altLang="en-US" dirty="0">
                <a:latin typeface="Avenir Book" panose="02000503020000020003" pitchFamily="2" charset="0"/>
              </a:rPr>
              <a:t> library. </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Constraints:</a:t>
            </a:r>
            <a:r>
              <a:rPr lang="en-US" altLang="en-US" dirty="0">
                <a:latin typeface="Avenir Book" panose="02000503020000020003" pitchFamily="2" charset="0"/>
              </a:rPr>
              <a:t> I only want to keep rows where the age is over 18 AND the status is 'Complete’.</a:t>
            </a:r>
          </a:p>
          <a:p>
            <a:pPr marL="285750" indent="-285750" eaLnBrk="0" fontAlgn="base" hangingPunct="0">
              <a:spcBef>
                <a:spcPct val="0"/>
              </a:spcBef>
              <a:spcAft>
                <a:spcPct val="0"/>
              </a:spcAft>
              <a:buFont typeface="Wingdings" pitchFamily="2" charset="2"/>
              <a:buChar char="§"/>
            </a:pPr>
            <a:r>
              <a:rPr lang="en-US" altLang="en-US" b="1" dirty="0">
                <a:latin typeface="Avenir Book" panose="02000503020000020003" pitchFamily="2" charset="0"/>
              </a:rPr>
              <a:t>Output:</a:t>
            </a:r>
            <a:r>
              <a:rPr lang="en-US" altLang="en-US" dirty="0">
                <a:latin typeface="Avenir Book" panose="02000503020000020003" pitchFamily="2" charset="0"/>
              </a:rPr>
              <a:t> Provide the </a:t>
            </a:r>
            <a:r>
              <a:rPr lang="en-US" altLang="en-US" dirty="0" err="1">
                <a:latin typeface="Avenir Book" panose="02000503020000020003" pitchFamily="2" charset="0"/>
              </a:rPr>
              <a:t>dplyr</a:t>
            </a:r>
            <a:r>
              <a:rPr lang="en-US" altLang="en-US" dirty="0">
                <a:latin typeface="Avenir Book" panose="02000503020000020003" pitchFamily="2" charset="0"/>
              </a:rPr>
              <a:t> code and show how to pipe the output into a new object called </a:t>
            </a:r>
            <a:r>
              <a:rPr lang="en-US" altLang="en-US" dirty="0" err="1">
                <a:latin typeface="Avenir Book" panose="02000503020000020003" pitchFamily="2" charset="0"/>
              </a:rPr>
              <a:t>cleaned_data</a:t>
            </a:r>
            <a:r>
              <a:rPr lang="en-US" altLang="en-US" dirty="0">
                <a:latin typeface="Avenir Book" panose="02000503020000020003" pitchFamily="2" charset="0"/>
              </a:rPr>
              <a:t>.</a:t>
            </a:r>
          </a:p>
        </p:txBody>
      </p:sp>
    </p:spTree>
    <p:extLst>
      <p:ext uri="{BB962C8B-B14F-4D97-AF65-F5344CB8AC3E}">
        <p14:creationId xmlns:p14="http://schemas.microsoft.com/office/powerpoint/2010/main" val="20322818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87223-C49A-B5DF-70AC-3456B23F50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092CE978-FF13-E89D-8D27-70B70FE28937}"/>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Prompting</a:t>
            </a:r>
          </a:p>
        </p:txBody>
      </p:sp>
      <p:sp>
        <p:nvSpPr>
          <p:cNvPr id="4" name="Text Placeholder 3">
            <a:extLst>
              <a:ext uri="{FF2B5EF4-FFF2-40B4-BE49-F238E27FC236}">
                <a16:creationId xmlns:a16="http://schemas.microsoft.com/office/drawing/2014/main" id="{2DA65517-95C4-AB16-A2CA-6B5E2B560116}"/>
              </a:ext>
            </a:extLst>
          </p:cNvPr>
          <p:cNvSpPr>
            <a:spLocks noGrp="1"/>
          </p:cNvSpPr>
          <p:nvPr>
            <p:ph type="body" sz="quarter" idx="15"/>
          </p:nvPr>
        </p:nvSpPr>
        <p:spPr>
          <a:xfrm>
            <a:off x="624113" y="2816751"/>
            <a:ext cx="3030943" cy="266700"/>
          </a:xfrm>
        </p:spPr>
        <p:txBody>
          <a:bodyPr/>
          <a:lstStyle/>
          <a:p>
            <a:r>
              <a:rPr lang="en-US" dirty="0"/>
              <a:t>Bad vs Good</a:t>
            </a:r>
          </a:p>
        </p:txBody>
      </p:sp>
      <p:sp>
        <p:nvSpPr>
          <p:cNvPr id="5" name="Slide Number Placeholder 4">
            <a:extLst>
              <a:ext uri="{FF2B5EF4-FFF2-40B4-BE49-F238E27FC236}">
                <a16:creationId xmlns:a16="http://schemas.microsoft.com/office/drawing/2014/main" id="{54F06D93-0E17-B0EA-0145-488794A2A803}"/>
              </a:ext>
            </a:extLst>
          </p:cNvPr>
          <p:cNvSpPr>
            <a:spLocks noGrp="1"/>
          </p:cNvSpPr>
          <p:nvPr>
            <p:ph type="sldNum" sz="quarter" idx="18"/>
          </p:nvPr>
        </p:nvSpPr>
        <p:spPr/>
        <p:txBody>
          <a:bodyPr/>
          <a:lstStyle/>
          <a:p>
            <a:fld id="{548469FB-C78A-B94B-B04A-B5BC8C934F85}" type="slidenum">
              <a:rPr lang="en-US" smtClean="0"/>
              <a:t>19</a:t>
            </a:fld>
            <a:endParaRPr lang="en-US"/>
          </a:p>
        </p:txBody>
      </p:sp>
      <p:sp>
        <p:nvSpPr>
          <p:cNvPr id="11" name="TextBox 10">
            <a:extLst>
              <a:ext uri="{FF2B5EF4-FFF2-40B4-BE49-F238E27FC236}">
                <a16:creationId xmlns:a16="http://schemas.microsoft.com/office/drawing/2014/main" id="{B54C1174-79CB-2D87-4CB3-A1909E7753ED}"/>
              </a:ext>
            </a:extLst>
          </p:cNvPr>
          <p:cNvSpPr txBox="1"/>
          <p:nvPr/>
        </p:nvSpPr>
        <p:spPr>
          <a:xfrm>
            <a:off x="4386367" y="766732"/>
            <a:ext cx="7417750" cy="5324535"/>
          </a:xfrm>
          <a:prstGeom prst="rect">
            <a:avLst/>
          </a:prstGeom>
          <a:noFill/>
        </p:spPr>
        <p:txBody>
          <a:bodyPr wrap="square" rtlCol="0">
            <a:spAutoFit/>
          </a:bodyPr>
          <a:lstStyle/>
          <a:p>
            <a:pPr lvl="0" eaLnBrk="0" fontAlgn="base" hangingPunct="0">
              <a:spcBef>
                <a:spcPct val="0"/>
              </a:spcBef>
              <a:spcAft>
                <a:spcPct val="0"/>
              </a:spcAft>
            </a:pPr>
            <a:r>
              <a:rPr lang="en-US" altLang="en-US" sz="2400" b="1" dirty="0">
                <a:solidFill>
                  <a:srgbClr val="C00000"/>
                </a:solidFill>
                <a:latin typeface="Avenir Book" panose="02000503020000020003" pitchFamily="2" charset="0"/>
              </a:rPr>
              <a:t>Bad</a:t>
            </a:r>
          </a:p>
          <a:p>
            <a:pPr lvl="0" eaLnBrk="0" fontAlgn="base" hangingPunct="0">
              <a:spcBef>
                <a:spcPct val="0"/>
              </a:spcBef>
              <a:spcAft>
                <a:spcPct val="0"/>
              </a:spcAft>
            </a:pPr>
            <a:endParaRPr lang="en-US" altLang="en-US" sz="1400" b="1" dirty="0">
              <a:solidFill>
                <a:srgbClr val="C00000"/>
              </a:solidFill>
              <a:latin typeface="Avenir Book" panose="02000503020000020003" pitchFamily="2" charset="0"/>
            </a:endParaRPr>
          </a:p>
          <a:p>
            <a:pPr lvl="0" eaLnBrk="0" fontAlgn="base" hangingPunct="0">
              <a:spcBef>
                <a:spcPct val="0"/>
              </a:spcBef>
              <a:spcAft>
                <a:spcPct val="0"/>
              </a:spcAft>
            </a:pPr>
            <a:r>
              <a:rPr lang="en-US" altLang="en-US" dirty="0">
                <a:latin typeface="Avenir Book" panose="02000503020000020003" pitchFamily="2" charset="0"/>
              </a:rPr>
              <a:t>"Convert this SAS code to Python: </a:t>
            </a:r>
          </a:p>
          <a:p>
            <a:pPr lvl="0" eaLnBrk="0" fontAlgn="base" hangingPunct="0">
              <a:spcBef>
                <a:spcPct val="0"/>
              </a:spcBef>
              <a:spcAft>
                <a:spcPct val="0"/>
              </a:spcAft>
            </a:pPr>
            <a:r>
              <a:rPr lang="en-US" altLang="en-US" dirty="0">
                <a:latin typeface="Avenir Book" panose="02000503020000020003" pitchFamily="2" charset="0"/>
              </a:rPr>
              <a:t>proc means data=</a:t>
            </a:r>
            <a:r>
              <a:rPr lang="en-US" altLang="en-US" dirty="0" err="1">
                <a:latin typeface="Avenir Book" panose="02000503020000020003" pitchFamily="2" charset="0"/>
              </a:rPr>
              <a:t>work.test</a:t>
            </a:r>
            <a:r>
              <a:rPr lang="en-US" altLang="en-US" dirty="0">
                <a:latin typeface="Avenir Book" panose="02000503020000020003" pitchFamily="2" charset="0"/>
              </a:rPr>
              <a:t>; var age; run;”</a:t>
            </a:r>
          </a:p>
          <a:p>
            <a:pPr lvl="0" eaLnBrk="0" fontAlgn="base" hangingPunct="0">
              <a:spcBef>
                <a:spcPct val="0"/>
              </a:spcBef>
              <a:spcAft>
                <a:spcPct val="0"/>
              </a:spcAft>
            </a:pPr>
            <a:endParaRPr lang="en-US" altLang="en-US" sz="1400" dirty="0">
              <a:latin typeface="Avenir Book" panose="02000503020000020003" pitchFamily="2" charset="0"/>
            </a:endParaRPr>
          </a:p>
          <a:p>
            <a:pPr lvl="0" eaLnBrk="0" fontAlgn="base" hangingPunct="0">
              <a:spcBef>
                <a:spcPct val="0"/>
              </a:spcBef>
              <a:spcAft>
                <a:spcPct val="0"/>
              </a:spcAft>
            </a:pPr>
            <a:r>
              <a:rPr lang="en-US" altLang="en-US" sz="1400" dirty="0">
                <a:solidFill>
                  <a:srgbClr val="000000"/>
                </a:solidFill>
                <a:latin typeface="Avenir Book" panose="02000503020000020003" pitchFamily="2" charset="0"/>
              </a:rPr>
              <a:t>Why it fails: While the AI might get it right, it often misses the "Why." It might provide a basic result without considering how Python handles </a:t>
            </a:r>
            <a:r>
              <a:rPr lang="en-US" altLang="en-US" sz="1400" dirty="0" err="1">
                <a:solidFill>
                  <a:srgbClr val="000000"/>
                </a:solidFill>
                <a:latin typeface="Avenir Book" panose="02000503020000020003" pitchFamily="2" charset="0"/>
              </a:rPr>
              <a:t>dataframes</a:t>
            </a:r>
            <a:r>
              <a:rPr lang="en-US" altLang="en-US" sz="1400" dirty="0">
                <a:solidFill>
                  <a:srgbClr val="000000"/>
                </a:solidFill>
                <a:latin typeface="Avenir Book" panose="02000503020000020003" pitchFamily="2" charset="0"/>
              </a:rPr>
              <a:t> vs. SAS libraries.</a:t>
            </a:r>
          </a:p>
          <a:p>
            <a:endParaRPr lang="en-US" sz="1400" dirty="0">
              <a:latin typeface="Avenir Book" panose="02000503020000020003" pitchFamily="2" charset="0"/>
            </a:endParaRPr>
          </a:p>
          <a:p>
            <a:endParaRPr lang="en-US" sz="1400" dirty="0">
              <a:latin typeface="Avenir Book" panose="02000503020000020003" pitchFamily="2" charset="0"/>
            </a:endParaRPr>
          </a:p>
          <a:p>
            <a:endParaRPr lang="en-US" sz="1400" dirty="0">
              <a:latin typeface="Avenir Book" panose="02000503020000020003" pitchFamily="2" charset="0"/>
            </a:endParaRPr>
          </a:p>
          <a:p>
            <a:r>
              <a:rPr lang="en-US" sz="2400" b="1" dirty="0">
                <a:solidFill>
                  <a:schemeClr val="accent6">
                    <a:lumMod val="50000"/>
                  </a:schemeClr>
                </a:solidFill>
                <a:latin typeface="Avenir Book" panose="02000503020000020003" pitchFamily="2" charset="0"/>
              </a:rPr>
              <a:t>Good</a:t>
            </a:r>
            <a:endParaRPr lang="en-US" sz="1400" b="1" dirty="0">
              <a:solidFill>
                <a:schemeClr val="accent6">
                  <a:lumMod val="50000"/>
                </a:schemeClr>
              </a:solidFill>
              <a:latin typeface="Avenir Book" panose="02000503020000020003" pitchFamily="2" charset="0"/>
            </a:endParaRPr>
          </a:p>
          <a:p>
            <a:endParaRPr lang="en-US" sz="1400" dirty="0">
              <a:latin typeface="Avenir Book" panose="02000503020000020003" pitchFamily="2" charset="0"/>
            </a:endParaRPr>
          </a:p>
          <a:p>
            <a:pPr marL="285750" indent="-285750">
              <a:buFont typeface="Wingdings" pitchFamily="2" charset="2"/>
              <a:buChar char="§"/>
            </a:pPr>
            <a:r>
              <a:rPr lang="en-US" altLang="en-US" b="1" dirty="0">
                <a:latin typeface="Avenir Book" panose="02000503020000020003" pitchFamily="2" charset="0"/>
              </a:rPr>
              <a:t>Task:</a:t>
            </a:r>
            <a:r>
              <a:rPr lang="en-US" altLang="en-US" dirty="0">
                <a:latin typeface="Avenir Book" panose="02000503020000020003" pitchFamily="2" charset="0"/>
              </a:rPr>
              <a:t> Translate the provided SAS PROC MEANS step into Python code. </a:t>
            </a:r>
          </a:p>
          <a:p>
            <a:pPr marL="285750" indent="-285750">
              <a:buFont typeface="Wingdings" pitchFamily="2" charset="2"/>
              <a:buChar char="§"/>
            </a:pPr>
            <a:r>
              <a:rPr lang="en-US" altLang="en-US" b="1" dirty="0">
                <a:latin typeface="Avenir Book" panose="02000503020000020003" pitchFamily="2" charset="0"/>
              </a:rPr>
              <a:t>Context:</a:t>
            </a:r>
            <a:r>
              <a:rPr lang="en-US" altLang="en-US" dirty="0">
                <a:latin typeface="Avenir Book" panose="02000503020000020003" pitchFamily="2" charset="0"/>
              </a:rPr>
              <a:t> I am migrating a clinical trial workflow from SAS to a </a:t>
            </a:r>
            <a:r>
              <a:rPr lang="en-US" altLang="en-US" dirty="0" err="1">
                <a:latin typeface="Avenir Book" panose="02000503020000020003" pitchFamily="2" charset="0"/>
              </a:rPr>
              <a:t>Jupyter</a:t>
            </a:r>
            <a:r>
              <a:rPr lang="en-US" altLang="en-US" dirty="0">
                <a:latin typeface="Avenir Book" panose="02000503020000020003" pitchFamily="2" charset="0"/>
              </a:rPr>
              <a:t> Notebook environment using pandas. </a:t>
            </a:r>
          </a:p>
          <a:p>
            <a:pPr marL="285750" indent="-285750">
              <a:buFont typeface="Wingdings" pitchFamily="2" charset="2"/>
              <a:buChar char="§"/>
            </a:pPr>
            <a:r>
              <a:rPr lang="en-US" altLang="en-US" b="1" dirty="0">
                <a:latin typeface="Avenir Book" panose="02000503020000020003" pitchFamily="2" charset="0"/>
              </a:rPr>
              <a:t>Constraints:</a:t>
            </a:r>
            <a:r>
              <a:rPr lang="en-US" altLang="en-US" dirty="0">
                <a:latin typeface="Avenir Book" panose="02000503020000020003" pitchFamily="2" charset="0"/>
              </a:rPr>
              <a:t> Ensure the output includes the mean, standard deviation, and N (count), matching the default SAS output format. </a:t>
            </a:r>
          </a:p>
          <a:p>
            <a:pPr marL="285750" indent="-285750">
              <a:buFont typeface="Wingdings" pitchFamily="2" charset="2"/>
              <a:buChar char="§"/>
            </a:pPr>
            <a:r>
              <a:rPr lang="en-US" altLang="en-US" b="1" dirty="0">
                <a:latin typeface="Avenir Book" panose="02000503020000020003" pitchFamily="2" charset="0"/>
              </a:rPr>
              <a:t>Evaluation:</a:t>
            </a:r>
            <a:r>
              <a:rPr lang="en-US" altLang="en-US" dirty="0">
                <a:latin typeface="Avenir Book" panose="02000503020000020003" pitchFamily="2" charset="0"/>
              </a:rPr>
              <a:t> Does the Python output handle </a:t>
            </a:r>
            <a:r>
              <a:rPr lang="en-US" altLang="en-US" dirty="0" err="1">
                <a:latin typeface="Avenir Book" panose="02000503020000020003" pitchFamily="2" charset="0"/>
              </a:rPr>
              <a:t>NaN</a:t>
            </a:r>
            <a:r>
              <a:rPr lang="en-US" altLang="en-US" dirty="0">
                <a:latin typeface="Avenir Book" panose="02000503020000020003" pitchFamily="2" charset="0"/>
              </a:rPr>
              <a:t> values the same way SAS excludes missing values in summary statistics?</a:t>
            </a:r>
          </a:p>
        </p:txBody>
      </p:sp>
    </p:spTree>
    <p:extLst>
      <p:ext uri="{BB962C8B-B14F-4D97-AF65-F5344CB8AC3E}">
        <p14:creationId xmlns:p14="http://schemas.microsoft.com/office/powerpoint/2010/main" val="42013267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00AA-AB11-1DF9-D904-15B895C4A23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20E8F1D-DCE3-8788-A1B5-91E25A81BB17}"/>
              </a:ext>
            </a:extLst>
          </p:cNvPr>
          <p:cNvSpPr>
            <a:spLocks noGrp="1"/>
          </p:cNvSpPr>
          <p:nvPr>
            <p:ph type="subTitle" idx="1"/>
          </p:nvPr>
        </p:nvSpPr>
        <p:spPr/>
        <p:txBody>
          <a:bodyPr/>
          <a:lstStyle/>
          <a:p>
            <a:endParaRPr lang="en-US"/>
          </a:p>
        </p:txBody>
      </p:sp>
      <p:pic>
        <p:nvPicPr>
          <p:cNvPr id="5" name="slide.url=https://www.polleverywhere.com/multiple_choice_polls/BJYxlK9hpVgbmrRRtfpvr?state=opened&amp;flow=Default&amp;onscreen=persist">
            <a:extLst>
              <a:ext uri="{FF2B5EF4-FFF2-40B4-BE49-F238E27FC236}">
                <a16:creationId xmlns:a16="http://schemas.microsoft.com/office/drawing/2014/main" id="{33D4DC63-A754-03C8-9AAD-1763294DC63E}"/>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3309538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CD35-6B0E-709C-6E94-5A4257629D8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9B04AAE-7C36-A643-11D0-9191DEF7C835}"/>
              </a:ext>
            </a:extLst>
          </p:cNvPr>
          <p:cNvSpPr>
            <a:spLocks noGrp="1"/>
          </p:cNvSpPr>
          <p:nvPr>
            <p:ph type="body" sz="quarter" idx="11"/>
          </p:nvPr>
        </p:nvSpPr>
        <p:spPr>
          <a:xfrm>
            <a:off x="558799" y="1714500"/>
            <a:ext cx="3147787" cy="2334986"/>
          </a:xfrm>
        </p:spPr>
        <p:txBody>
          <a:bodyPr vert="horz" lIns="91440" tIns="45720" rIns="91440" bIns="45720" rtlCol="0">
            <a:noAutofit/>
          </a:bodyPr>
          <a:lstStyle/>
          <a:p>
            <a:r>
              <a:rPr lang="en-US" dirty="0">
                <a:latin typeface="YaleNew" panose="02000602050000020003" pitchFamily="2" charset="77"/>
              </a:rPr>
              <a:t>Exercise</a:t>
            </a:r>
          </a:p>
        </p:txBody>
      </p:sp>
      <p:sp>
        <p:nvSpPr>
          <p:cNvPr id="5" name="Slide Number Placeholder 4">
            <a:extLst>
              <a:ext uri="{FF2B5EF4-FFF2-40B4-BE49-F238E27FC236}">
                <a16:creationId xmlns:a16="http://schemas.microsoft.com/office/drawing/2014/main" id="{185DA0AC-1D5C-2CBF-3427-889B89533094}"/>
              </a:ext>
            </a:extLst>
          </p:cNvPr>
          <p:cNvSpPr>
            <a:spLocks noGrp="1"/>
          </p:cNvSpPr>
          <p:nvPr>
            <p:ph type="sldNum" sz="quarter" idx="18"/>
          </p:nvPr>
        </p:nvSpPr>
        <p:spPr/>
        <p:txBody>
          <a:bodyPr/>
          <a:lstStyle/>
          <a:p>
            <a:fld id="{548469FB-C78A-B94B-B04A-B5BC8C934F85}" type="slidenum">
              <a:rPr lang="en-US" smtClean="0"/>
              <a:t>21</a:t>
            </a:fld>
            <a:endParaRPr lang="en-US"/>
          </a:p>
        </p:txBody>
      </p:sp>
      <p:sp>
        <p:nvSpPr>
          <p:cNvPr id="4" name="TextBox 3">
            <a:extLst>
              <a:ext uri="{FF2B5EF4-FFF2-40B4-BE49-F238E27FC236}">
                <a16:creationId xmlns:a16="http://schemas.microsoft.com/office/drawing/2014/main" id="{06F08708-6D40-2175-1B4D-2AB52CEEDECD}"/>
              </a:ext>
            </a:extLst>
          </p:cNvPr>
          <p:cNvSpPr txBox="1"/>
          <p:nvPr/>
        </p:nvSpPr>
        <p:spPr>
          <a:xfrm>
            <a:off x="4315626" y="240804"/>
            <a:ext cx="7563028" cy="6617196"/>
          </a:xfrm>
          <a:prstGeom prst="rect">
            <a:avLst/>
          </a:prstGeom>
          <a:noFill/>
        </p:spPr>
        <p:txBody>
          <a:bodyPr wrap="square" rtlCol="0">
            <a:spAutoFit/>
          </a:bodyPr>
          <a:lstStyle/>
          <a:p>
            <a:r>
              <a:rPr lang="en-US" sz="2000" dirty="0">
                <a:latin typeface="Avenir Book" panose="02000503020000020003" pitchFamily="2" charset="0"/>
              </a:rPr>
              <a:t>Using Clarity and what you’ve learned about prompting complete the following:</a:t>
            </a:r>
          </a:p>
          <a:p>
            <a:endParaRPr lang="en-US" sz="2000" dirty="0">
              <a:latin typeface="Avenir Book" panose="02000503020000020003" pitchFamily="2" charset="0"/>
            </a:endParaRPr>
          </a:p>
          <a:p>
            <a:pPr marL="342900" indent="-342900">
              <a:buFont typeface="+mj-lt"/>
              <a:buAutoNum type="arabicPeriod"/>
            </a:pPr>
            <a:r>
              <a:rPr lang="en-US" dirty="0">
                <a:latin typeface="Avenir Book" panose="02000503020000020003" pitchFamily="2" charset="0"/>
              </a:rPr>
              <a:t>Import dataset into </a:t>
            </a:r>
            <a:r>
              <a:rPr lang="en-US" dirty="0" err="1">
                <a:latin typeface="Avenir Book" panose="02000503020000020003" pitchFamily="2" charset="0"/>
              </a:rPr>
              <a:t>Rstudio</a:t>
            </a:r>
            <a:r>
              <a:rPr lang="en-US" dirty="0">
                <a:latin typeface="Avenir Book" panose="02000503020000020003" pitchFamily="2" charset="0"/>
              </a:rPr>
              <a:t> or Positron environment</a:t>
            </a:r>
          </a:p>
          <a:p>
            <a:pPr marL="342900" indent="-342900">
              <a:buFont typeface="+mj-lt"/>
              <a:buAutoNum type="arabicPeriod"/>
            </a:pPr>
            <a:r>
              <a:rPr lang="en-US" dirty="0">
                <a:latin typeface="Avenir Book" panose="02000503020000020003" pitchFamily="2" charset="0"/>
              </a:rPr>
              <a:t>Inspect data</a:t>
            </a:r>
          </a:p>
          <a:p>
            <a:pPr marL="800100" lvl="1" indent="-342900">
              <a:buFont typeface="Arial" panose="020B0604020202020204" pitchFamily="34" charset="0"/>
              <a:buChar char="•"/>
            </a:pPr>
            <a:r>
              <a:rPr lang="en-US" sz="1600" dirty="0">
                <a:latin typeface="Avenir Book" panose="02000503020000020003" pitchFamily="2" charset="0"/>
              </a:rPr>
              <a:t>str(), glimpse(), skim()</a:t>
            </a:r>
          </a:p>
          <a:p>
            <a:pPr marL="342900" indent="-342900">
              <a:buFont typeface="+mj-lt"/>
              <a:buAutoNum type="arabicPeriod"/>
            </a:pPr>
            <a:r>
              <a:rPr lang="en-US" dirty="0">
                <a:latin typeface="Avenir Book" panose="02000503020000020003" pitchFamily="2" charset="0"/>
              </a:rPr>
              <a:t>Clean the data using the following directions:</a:t>
            </a:r>
          </a:p>
          <a:p>
            <a:pPr marL="800100" lvl="1" indent="-342900">
              <a:buFont typeface="+mj-lt"/>
              <a:buAutoNum type="alphaLcPeriod"/>
            </a:pPr>
            <a:r>
              <a:rPr lang="en-US" sz="1600" dirty="0">
                <a:latin typeface="Avenir Book" panose="02000503020000020003" pitchFamily="2" charset="0"/>
              </a:rPr>
              <a:t>Clean column names (get rid of spaces and uppercase letters)</a:t>
            </a:r>
          </a:p>
          <a:p>
            <a:pPr marL="800100" lvl="1" indent="-342900">
              <a:buFont typeface="+mj-lt"/>
              <a:buAutoNum type="alphaLcPeriod"/>
            </a:pPr>
            <a:r>
              <a:rPr lang="en-US" sz="1600" dirty="0">
                <a:latin typeface="Avenir Book" panose="02000503020000020003" pitchFamily="2" charset="0"/>
              </a:rPr>
              <a:t>Make sure age is an </a:t>
            </a:r>
            <a:r>
              <a:rPr lang="en-US" sz="1600" dirty="0" err="1">
                <a:latin typeface="Avenir Book" panose="02000503020000020003" pitchFamily="2" charset="0"/>
              </a:rPr>
              <a:t>interger</a:t>
            </a:r>
            <a:endParaRPr lang="en-US" sz="1600" dirty="0">
              <a:latin typeface="Avenir Book" panose="02000503020000020003" pitchFamily="2" charset="0"/>
            </a:endParaRPr>
          </a:p>
          <a:p>
            <a:pPr marL="800100" lvl="1" indent="-342900">
              <a:buFont typeface="+mj-lt"/>
              <a:buAutoNum type="alphaLcPeriod"/>
            </a:pPr>
            <a:r>
              <a:rPr lang="en-US" sz="1600" dirty="0">
                <a:latin typeface="Avenir Book" panose="02000503020000020003" pitchFamily="2" charset="0"/>
              </a:rPr>
              <a:t>Update: anemia, diabetes, high blood pressure, smoking</a:t>
            </a:r>
          </a:p>
          <a:p>
            <a:pPr marL="1314450" lvl="2" indent="-400050">
              <a:buFont typeface="+mj-lt"/>
              <a:buAutoNum type="romanLcPeriod"/>
            </a:pPr>
            <a:r>
              <a:rPr lang="en-US" sz="1600" dirty="0">
                <a:latin typeface="Avenir Book" panose="02000503020000020003" pitchFamily="2" charset="0"/>
              </a:rPr>
              <a:t>0=no; 1=yes</a:t>
            </a:r>
          </a:p>
          <a:p>
            <a:pPr marL="800100" lvl="1" indent="-342900">
              <a:buFont typeface="+mj-lt"/>
              <a:buAutoNum type="alphaLcPeriod"/>
            </a:pPr>
            <a:r>
              <a:rPr lang="en-US" sz="1600" dirty="0">
                <a:latin typeface="Avenir Book" panose="02000503020000020003" pitchFamily="2" charset="0"/>
              </a:rPr>
              <a:t>Update sex</a:t>
            </a:r>
          </a:p>
          <a:p>
            <a:pPr marL="1314450" lvl="2" indent="-400050">
              <a:buFont typeface="+mj-lt"/>
              <a:buAutoNum type="romanLcPeriod"/>
            </a:pPr>
            <a:r>
              <a:rPr lang="en-US" sz="1600" dirty="0">
                <a:latin typeface="Avenir Book" panose="02000503020000020003" pitchFamily="2" charset="0"/>
              </a:rPr>
              <a:t>0=woman; 1=man</a:t>
            </a:r>
          </a:p>
          <a:p>
            <a:pPr marL="857250" lvl="1" indent="-400050">
              <a:buFont typeface="+mj-lt"/>
              <a:buAutoNum type="alphaLcPeriod"/>
            </a:pPr>
            <a:r>
              <a:rPr lang="en-US" sz="1600" dirty="0">
                <a:latin typeface="Avenir Book" panose="02000503020000020003" pitchFamily="2" charset="0"/>
              </a:rPr>
              <a:t>Update death event</a:t>
            </a:r>
          </a:p>
          <a:p>
            <a:pPr marL="1314450" lvl="2" indent="-400050">
              <a:buFont typeface="+mj-lt"/>
              <a:buAutoNum type="romanLcPeriod"/>
            </a:pPr>
            <a:r>
              <a:rPr lang="en-US" sz="1600" dirty="0">
                <a:latin typeface="Avenir Book" panose="02000503020000020003" pitchFamily="2" charset="0"/>
              </a:rPr>
              <a:t>0=dead; 1=alive</a:t>
            </a:r>
          </a:p>
          <a:p>
            <a:pPr marL="857250" lvl="1" indent="-400050">
              <a:buFont typeface="+mj-lt"/>
              <a:buAutoNum type="alphaLcPeriod"/>
            </a:pPr>
            <a:r>
              <a:rPr lang="en-US" sz="1600" dirty="0">
                <a:latin typeface="Avenir Book" panose="02000503020000020003" pitchFamily="2" charset="0"/>
              </a:rPr>
              <a:t>Create a new variable called </a:t>
            </a:r>
            <a:r>
              <a:rPr lang="en-US" sz="1600" dirty="0" err="1">
                <a:latin typeface="Avenir Book" panose="02000503020000020003" pitchFamily="2" charset="0"/>
              </a:rPr>
              <a:t>age_group</a:t>
            </a:r>
            <a:endParaRPr lang="en-US" sz="1600" dirty="0">
              <a:latin typeface="Avenir Book" panose="02000503020000020003" pitchFamily="2" charset="0"/>
            </a:endParaRPr>
          </a:p>
          <a:p>
            <a:pPr marL="1314450" lvl="2" indent="-400050">
              <a:buFont typeface="+mj-lt"/>
              <a:buAutoNum type="romanLcPeriod"/>
            </a:pPr>
            <a:r>
              <a:rPr lang="en-US" sz="1600" dirty="0">
                <a:latin typeface="Avenir Book" panose="02000503020000020003" pitchFamily="2" charset="0"/>
              </a:rPr>
              <a:t>40-49; 50-59; 60-69, 70-79, 80+</a:t>
            </a:r>
          </a:p>
          <a:p>
            <a:pPr marL="342900" indent="-342900">
              <a:buFont typeface="+mj-lt"/>
              <a:buAutoNum type="arabicPeriod"/>
            </a:pPr>
            <a:r>
              <a:rPr lang="en-US" sz="1600" dirty="0">
                <a:latin typeface="Avenir Book" panose="02000503020000020003" pitchFamily="2" charset="0"/>
              </a:rPr>
              <a:t>Visualize</a:t>
            </a:r>
          </a:p>
          <a:p>
            <a:pPr marL="800100" lvl="1" indent="-342900">
              <a:buFont typeface="+mj-lt"/>
              <a:buAutoNum type="alphaLcPeriod"/>
            </a:pPr>
            <a:r>
              <a:rPr lang="en-US" altLang="en-US" sz="1600" dirty="0">
                <a:solidFill>
                  <a:srgbClr val="000000"/>
                </a:solidFill>
                <a:latin typeface="Avenir Book" panose="02000503020000020003" pitchFamily="2" charset="0"/>
              </a:rPr>
              <a:t>Create a boxplot showing the distribution of </a:t>
            </a:r>
            <a:r>
              <a:rPr lang="en-US" altLang="en-US" sz="1600" dirty="0" err="1">
                <a:solidFill>
                  <a:srgbClr val="000000"/>
                </a:solidFill>
                <a:latin typeface="Avenir Book" panose="02000503020000020003" pitchFamily="2" charset="0"/>
              </a:rPr>
              <a:t>ejection_fraction</a:t>
            </a:r>
            <a:r>
              <a:rPr lang="en-US" altLang="en-US" sz="1600" dirty="0">
                <a:solidFill>
                  <a:srgbClr val="000000"/>
                </a:solidFill>
                <a:latin typeface="Avenir Book" panose="02000503020000020003" pitchFamily="2" charset="0"/>
              </a:rPr>
              <a:t> grouped by </a:t>
            </a:r>
            <a:r>
              <a:rPr lang="en-US" altLang="en-US" sz="1600" dirty="0" err="1">
                <a:solidFill>
                  <a:srgbClr val="000000"/>
                </a:solidFill>
                <a:latin typeface="Avenir Book" panose="02000503020000020003" pitchFamily="2" charset="0"/>
              </a:rPr>
              <a:t>death_event</a:t>
            </a:r>
            <a:endParaRPr lang="en-US" altLang="en-US" sz="1600" dirty="0">
              <a:solidFill>
                <a:srgbClr val="000000"/>
              </a:solidFill>
              <a:latin typeface="Avenir Book" panose="02000503020000020003" pitchFamily="2" charset="0"/>
            </a:endParaRPr>
          </a:p>
          <a:p>
            <a:pPr marL="800100" lvl="1" indent="-342900">
              <a:buFont typeface="+mj-lt"/>
              <a:buAutoNum type="alphaLcPeriod"/>
            </a:pPr>
            <a:r>
              <a:rPr lang="en-US" sz="1600" dirty="0">
                <a:latin typeface="Avenir Book" panose="02000503020000020003" pitchFamily="2" charset="0"/>
              </a:rPr>
              <a:t>Create a bar chart showing the death rate for smokers vs. non-smokers who also have diabetes.</a:t>
            </a:r>
            <a:endParaRPr lang="en-US" altLang="en-US" sz="1600" dirty="0">
              <a:latin typeface="Avenir Book" panose="02000503020000020003" pitchFamily="2" charset="0"/>
            </a:endParaRPr>
          </a:p>
          <a:p>
            <a:pPr marL="800100" lvl="1" indent="-342900">
              <a:buFont typeface="+mj-lt"/>
              <a:buAutoNum type="alphaLcPeriod"/>
            </a:pPr>
            <a:r>
              <a:rPr lang="en-US" sz="1600" dirty="0">
                <a:latin typeface="Avenir Book" panose="02000503020000020003" pitchFamily="2" charset="0"/>
              </a:rPr>
              <a:t>Create line graph showing the mean high blood pressure by age group stratified by sex</a:t>
            </a:r>
          </a:p>
          <a:p>
            <a:pPr marL="800100" lvl="1" indent="-342900">
              <a:buFont typeface="+mj-lt"/>
              <a:buAutoNum type="alphaLcPeriod"/>
            </a:pPr>
            <a:endParaRPr lang="en-US" dirty="0">
              <a:latin typeface="Avenir Book" panose="02000503020000020003" pitchFamily="2" charset="0"/>
            </a:endParaRPr>
          </a:p>
        </p:txBody>
      </p:sp>
      <p:sp>
        <p:nvSpPr>
          <p:cNvPr id="8" name="TextBox 7">
            <a:extLst>
              <a:ext uri="{FF2B5EF4-FFF2-40B4-BE49-F238E27FC236}">
                <a16:creationId xmlns:a16="http://schemas.microsoft.com/office/drawing/2014/main" id="{263E7C6D-F391-DA84-88A3-422F3F19A479}"/>
              </a:ext>
            </a:extLst>
          </p:cNvPr>
          <p:cNvSpPr txBox="1"/>
          <p:nvPr/>
        </p:nvSpPr>
        <p:spPr>
          <a:xfrm>
            <a:off x="769121" y="492237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724629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026C4-B39E-EAF9-7314-7EBB1195A52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19A88D3-662E-F29D-DE81-6F2A430ABBDF}"/>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AI Agents Live demo</a:t>
            </a:r>
          </a:p>
        </p:txBody>
      </p:sp>
      <p:sp>
        <p:nvSpPr>
          <p:cNvPr id="5" name="Slide Number Placeholder 4">
            <a:extLst>
              <a:ext uri="{FF2B5EF4-FFF2-40B4-BE49-F238E27FC236}">
                <a16:creationId xmlns:a16="http://schemas.microsoft.com/office/drawing/2014/main" id="{04BE6166-9D95-A617-2BAF-8D71651F6347}"/>
              </a:ext>
            </a:extLst>
          </p:cNvPr>
          <p:cNvSpPr>
            <a:spLocks noGrp="1"/>
          </p:cNvSpPr>
          <p:nvPr>
            <p:ph type="sldNum" sz="quarter" idx="18"/>
          </p:nvPr>
        </p:nvSpPr>
        <p:spPr/>
        <p:txBody>
          <a:bodyPr/>
          <a:lstStyle/>
          <a:p>
            <a:fld id="{548469FB-C78A-B94B-B04A-B5BC8C934F85}" type="slidenum">
              <a:rPr lang="en-US" smtClean="0"/>
              <a:t>22</a:t>
            </a:fld>
            <a:endParaRPr lang="en-US"/>
          </a:p>
        </p:txBody>
      </p:sp>
      <p:sp>
        <p:nvSpPr>
          <p:cNvPr id="2" name="TextBox 1">
            <a:extLst>
              <a:ext uri="{FF2B5EF4-FFF2-40B4-BE49-F238E27FC236}">
                <a16:creationId xmlns:a16="http://schemas.microsoft.com/office/drawing/2014/main" id="{40FBC506-323A-713D-5F7A-4FE5BA82D151}"/>
              </a:ext>
            </a:extLst>
          </p:cNvPr>
          <p:cNvSpPr txBox="1"/>
          <p:nvPr/>
        </p:nvSpPr>
        <p:spPr>
          <a:xfrm>
            <a:off x="5478236" y="2245179"/>
            <a:ext cx="2396682" cy="1477328"/>
          </a:xfrm>
          <a:prstGeom prst="rect">
            <a:avLst/>
          </a:prstGeom>
          <a:noFill/>
        </p:spPr>
        <p:txBody>
          <a:bodyPr wrap="none" rtlCol="0">
            <a:spAutoFit/>
          </a:bodyPr>
          <a:lstStyle/>
          <a:p>
            <a:r>
              <a:rPr lang="en-US" dirty="0"/>
              <a:t>Justin</a:t>
            </a:r>
          </a:p>
          <a:p>
            <a:endParaRPr lang="en-US" dirty="0"/>
          </a:p>
          <a:p>
            <a:r>
              <a:rPr lang="en-US" dirty="0"/>
              <a:t>Sign into copilot</a:t>
            </a:r>
          </a:p>
          <a:p>
            <a:endParaRPr lang="en-US" dirty="0"/>
          </a:p>
          <a:p>
            <a:r>
              <a:rPr lang="en-US" dirty="0"/>
              <a:t>Add agents like </a:t>
            </a:r>
            <a:r>
              <a:rPr lang="en-US" dirty="0" err="1"/>
              <a:t>gemini</a:t>
            </a:r>
            <a:endParaRPr lang="en-US" dirty="0"/>
          </a:p>
        </p:txBody>
      </p:sp>
    </p:spTree>
    <p:extLst>
      <p:ext uri="{BB962C8B-B14F-4D97-AF65-F5344CB8AC3E}">
        <p14:creationId xmlns:p14="http://schemas.microsoft.com/office/powerpoint/2010/main" val="32653809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FC982-040C-519E-BAD1-8CACD4A5BF1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56D3498-BAA9-92A3-5CA8-862F1C13CDC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Questions</a:t>
            </a:r>
          </a:p>
        </p:txBody>
      </p:sp>
      <p:sp>
        <p:nvSpPr>
          <p:cNvPr id="6" name="Slide Number Placeholder 5">
            <a:extLst>
              <a:ext uri="{FF2B5EF4-FFF2-40B4-BE49-F238E27FC236}">
                <a16:creationId xmlns:a16="http://schemas.microsoft.com/office/drawing/2014/main" id="{DBFCC211-43CF-FC79-9EB8-F6A60BCB4C4D}"/>
              </a:ext>
            </a:extLst>
          </p:cNvPr>
          <p:cNvSpPr>
            <a:spLocks noGrp="1"/>
          </p:cNvSpPr>
          <p:nvPr>
            <p:ph type="sldNum" sz="quarter" idx="18"/>
          </p:nvPr>
        </p:nvSpPr>
        <p:spPr/>
        <p:txBody>
          <a:bodyPr/>
          <a:lstStyle/>
          <a:p>
            <a:fld id="{548469FB-C78A-B94B-B04A-B5BC8C934F85}" type="slidenum">
              <a:rPr lang="en-US" smtClean="0"/>
              <a:t>23</a:t>
            </a:fld>
            <a:endParaRPr lang="en-US"/>
          </a:p>
        </p:txBody>
      </p:sp>
      <p:pic>
        <p:nvPicPr>
          <p:cNvPr id="16" name="Graphic 15" descr="Badge Question Mark outline">
            <a:extLst>
              <a:ext uri="{FF2B5EF4-FFF2-40B4-BE49-F238E27FC236}">
                <a16:creationId xmlns:a16="http://schemas.microsoft.com/office/drawing/2014/main" id="{20611503-079B-C082-2EAF-BE8C9458D9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3953" y="1"/>
            <a:ext cx="7025863" cy="6858000"/>
          </a:xfrm>
          <a:prstGeom prst="rect">
            <a:avLst/>
          </a:prstGeom>
        </p:spPr>
      </p:pic>
    </p:spTree>
    <p:extLst>
      <p:ext uri="{BB962C8B-B14F-4D97-AF65-F5344CB8AC3E}">
        <p14:creationId xmlns:p14="http://schemas.microsoft.com/office/powerpoint/2010/main" val="11920858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514ECA-2065-7895-CF70-81D17A0A25C8}"/>
              </a:ext>
            </a:extLst>
          </p:cNvPr>
          <p:cNvSpPr>
            <a:spLocks noGrp="1"/>
          </p:cNvSpPr>
          <p:nvPr>
            <p:ph type="body" sz="quarter" idx="11"/>
          </p:nvPr>
        </p:nvSpPr>
        <p:spPr/>
        <p:txBody>
          <a:bodyPr/>
          <a:lstStyle/>
          <a:p>
            <a:r>
              <a:rPr lang="en-US" dirty="0"/>
              <a:t>Course</a:t>
            </a:r>
          </a:p>
          <a:p>
            <a:r>
              <a:rPr lang="en-US" dirty="0"/>
              <a:t>Survey</a:t>
            </a:r>
          </a:p>
        </p:txBody>
      </p:sp>
      <p:sp>
        <p:nvSpPr>
          <p:cNvPr id="4" name="Text Placeholder 3">
            <a:extLst>
              <a:ext uri="{FF2B5EF4-FFF2-40B4-BE49-F238E27FC236}">
                <a16:creationId xmlns:a16="http://schemas.microsoft.com/office/drawing/2014/main" id="{9A591355-3814-8376-C02C-118C97A439E5}"/>
              </a:ext>
            </a:extLst>
          </p:cNvPr>
          <p:cNvSpPr>
            <a:spLocks noGrp="1"/>
          </p:cNvSpPr>
          <p:nvPr>
            <p:ph type="body" sz="quarter" idx="15"/>
          </p:nvPr>
        </p:nvSpPr>
        <p:spPr>
          <a:xfrm>
            <a:off x="497984" y="3185056"/>
            <a:ext cx="3030943" cy="895454"/>
          </a:xfrm>
        </p:spPr>
        <p:txBody>
          <a:bodyPr/>
          <a:lstStyle/>
          <a:p>
            <a:r>
              <a:rPr lang="en-US" i="0" dirty="0">
                <a:hlinkClick r:id="rId3"/>
              </a:rPr>
              <a:t>https://yalesurvey.ca1.qualtrics.com/jfe/form/SV_cZOk3RQmTrQLhYy</a:t>
            </a:r>
            <a:r>
              <a:rPr lang="en-US" i="0" dirty="0"/>
              <a:t> </a:t>
            </a:r>
            <a:endParaRPr lang="en-US" dirty="0"/>
          </a:p>
        </p:txBody>
      </p:sp>
      <p:sp>
        <p:nvSpPr>
          <p:cNvPr id="5" name="Slide Number Placeholder 4">
            <a:extLst>
              <a:ext uri="{FF2B5EF4-FFF2-40B4-BE49-F238E27FC236}">
                <a16:creationId xmlns:a16="http://schemas.microsoft.com/office/drawing/2014/main" id="{EED257CD-9CED-4EA3-88E5-48CA9D73288C}"/>
              </a:ext>
            </a:extLst>
          </p:cNvPr>
          <p:cNvSpPr>
            <a:spLocks noGrp="1"/>
          </p:cNvSpPr>
          <p:nvPr>
            <p:ph type="sldNum" sz="quarter" idx="18"/>
          </p:nvPr>
        </p:nvSpPr>
        <p:spPr/>
        <p:txBody>
          <a:bodyPr/>
          <a:lstStyle/>
          <a:p>
            <a:fld id="{548469FB-C78A-B94B-B04A-B5BC8C934F85}" type="slidenum">
              <a:rPr lang="en-US" smtClean="0"/>
              <a:t>24</a:t>
            </a:fld>
            <a:endParaRPr lang="en-US"/>
          </a:p>
        </p:txBody>
      </p:sp>
      <p:sp>
        <p:nvSpPr>
          <p:cNvPr id="8" name="Picture Placeholder 7">
            <a:extLst>
              <a:ext uri="{FF2B5EF4-FFF2-40B4-BE49-F238E27FC236}">
                <a16:creationId xmlns:a16="http://schemas.microsoft.com/office/drawing/2014/main" id="{A96D0492-12E9-AFDE-0697-8D4D5FCFFA3C}"/>
              </a:ext>
            </a:extLst>
          </p:cNvPr>
          <p:cNvSpPr>
            <a:spLocks noGrp="1"/>
          </p:cNvSpPr>
          <p:nvPr>
            <p:ph type="pic" sz="quarter" idx="12"/>
          </p:nvPr>
        </p:nvSpPr>
        <p:spPr/>
        <p:txBody>
          <a:bodyPr/>
          <a:lstStyle/>
          <a:p>
            <a:endParaRPr lang="en-US"/>
          </a:p>
        </p:txBody>
      </p:sp>
      <p:pic>
        <p:nvPicPr>
          <p:cNvPr id="1026" name="Picture 2" descr="A qr code on a white background&#10;&#10;AI-generated content may be incorrect.">
            <a:extLst>
              <a:ext uri="{FF2B5EF4-FFF2-40B4-BE49-F238E27FC236}">
                <a16:creationId xmlns:a16="http://schemas.microsoft.com/office/drawing/2014/main" id="{D9879EBA-70D8-1E0E-C1AC-1F20E73B1A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7386" y="1048297"/>
            <a:ext cx="4606268" cy="46062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8604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93A0D-FADD-4458-D3AC-2D635415E8C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4B51679-0775-CD5C-A896-7D2AAB7822B0}"/>
              </a:ext>
            </a:extLst>
          </p:cNvPr>
          <p:cNvSpPr>
            <a:spLocks noGrp="1"/>
          </p:cNvSpPr>
          <p:nvPr>
            <p:ph type="body" sz="quarter" idx="11"/>
          </p:nvPr>
        </p:nvSpPr>
        <p:spPr/>
        <p:txBody>
          <a:bodyPr/>
          <a:lstStyle/>
          <a:p>
            <a:r>
              <a:rPr lang="en-US" dirty="0">
                <a:latin typeface="YaleNew" panose="02000602050000020003" pitchFamily="2" charset="77"/>
              </a:rPr>
              <a:t>Resources</a:t>
            </a:r>
          </a:p>
          <a:p>
            <a:endParaRPr lang="en-US" dirty="0"/>
          </a:p>
        </p:txBody>
      </p:sp>
      <p:sp>
        <p:nvSpPr>
          <p:cNvPr id="5" name="Slide Number Placeholder 4">
            <a:extLst>
              <a:ext uri="{FF2B5EF4-FFF2-40B4-BE49-F238E27FC236}">
                <a16:creationId xmlns:a16="http://schemas.microsoft.com/office/drawing/2014/main" id="{7F57C145-3B20-75E4-5EF9-07DD9EF86ED9}"/>
              </a:ext>
            </a:extLst>
          </p:cNvPr>
          <p:cNvSpPr>
            <a:spLocks noGrp="1"/>
          </p:cNvSpPr>
          <p:nvPr>
            <p:ph type="sldNum" sz="quarter" idx="18"/>
          </p:nvPr>
        </p:nvSpPr>
        <p:spPr/>
        <p:txBody>
          <a:bodyPr/>
          <a:lstStyle/>
          <a:p>
            <a:fld id="{548469FB-C78A-B94B-B04A-B5BC8C934F85}" type="slidenum">
              <a:rPr lang="en-US" smtClean="0"/>
              <a:t>25</a:t>
            </a:fld>
            <a:endParaRPr lang="en-US"/>
          </a:p>
        </p:txBody>
      </p:sp>
      <p:sp>
        <p:nvSpPr>
          <p:cNvPr id="9" name="TextBox 8">
            <a:extLst>
              <a:ext uri="{FF2B5EF4-FFF2-40B4-BE49-F238E27FC236}">
                <a16:creationId xmlns:a16="http://schemas.microsoft.com/office/drawing/2014/main" id="{B389CCB7-D89C-C2EE-C96D-3D03EF74058E}"/>
              </a:ext>
            </a:extLst>
          </p:cNvPr>
          <p:cNvSpPr txBox="1"/>
          <p:nvPr/>
        </p:nvSpPr>
        <p:spPr>
          <a:xfrm>
            <a:off x="4750173" y="1543267"/>
            <a:ext cx="6603627" cy="3477875"/>
          </a:xfrm>
          <a:prstGeom prst="rect">
            <a:avLst/>
          </a:prstGeom>
          <a:noFill/>
        </p:spPr>
        <p:txBody>
          <a:bodyPr wrap="square" rtlCol="0">
            <a:spAutoFit/>
          </a:bodyPr>
          <a:lstStyle/>
          <a:p>
            <a:r>
              <a:rPr lang="en-US" sz="2000" dirty="0">
                <a:latin typeface="Avenir Book" panose="02000503020000020003" pitchFamily="2" charset="0"/>
                <a:hlinkClick r:id="rId3"/>
              </a:rPr>
              <a:t>AI at Yale - Guidance</a:t>
            </a:r>
            <a:endParaRPr lang="en-US" sz="2000" dirty="0">
              <a:latin typeface="Avenir Book" panose="02000503020000020003" pitchFamily="2" charset="0"/>
              <a:hlinkClick r:id="rId4"/>
            </a:endParaRPr>
          </a:p>
          <a:p>
            <a:endParaRPr lang="en-US" sz="2000" dirty="0">
              <a:latin typeface="Avenir Book" panose="02000503020000020003" pitchFamily="2" charset="0"/>
              <a:hlinkClick r:id="rId4"/>
            </a:endParaRPr>
          </a:p>
          <a:p>
            <a:r>
              <a:rPr lang="en-US" sz="2000" dirty="0">
                <a:latin typeface="Avenir Book" panose="02000503020000020003" pitchFamily="2" charset="0"/>
                <a:hlinkClick r:id="rId4"/>
              </a:rPr>
              <a:t>AI at Yale - Using AI Safely and Responsibly in Health Care and Research</a:t>
            </a:r>
            <a:endParaRPr lang="en-US" sz="2000" dirty="0">
              <a:latin typeface="Avenir Book" panose="02000503020000020003" pitchFamily="2" charset="0"/>
            </a:endParaRPr>
          </a:p>
          <a:p>
            <a:endParaRPr lang="en-US" sz="2000" dirty="0">
              <a:latin typeface="Avenir Book" panose="02000503020000020003" pitchFamily="2" charset="0"/>
            </a:endParaRPr>
          </a:p>
          <a:p>
            <a:r>
              <a:rPr lang="en-US" sz="2000" dirty="0">
                <a:latin typeface="Avenir Book" panose="02000503020000020003" pitchFamily="2" charset="0"/>
                <a:hlinkClick r:id="rId5"/>
              </a:rPr>
              <a:t>AI at Yale - Yale Standards for Using AI Tools and Chatbots in Health Sciences</a:t>
            </a:r>
            <a:endParaRPr lang="en-US" sz="2000" dirty="0">
              <a:latin typeface="Avenir Book" panose="02000503020000020003" pitchFamily="2" charset="0"/>
            </a:endParaRPr>
          </a:p>
          <a:p>
            <a:endParaRPr lang="en-US" sz="2000" dirty="0">
              <a:latin typeface="Avenir Book" panose="02000503020000020003" pitchFamily="2" charset="0"/>
            </a:endParaRPr>
          </a:p>
          <a:p>
            <a:r>
              <a:rPr lang="en-US" sz="2000" dirty="0">
                <a:latin typeface="Avenir Book" panose="02000503020000020003" pitchFamily="2" charset="0"/>
                <a:hlinkClick r:id="rId6"/>
              </a:rPr>
              <a:t>AI at Yale - Yale’s AI Tools and Resources</a:t>
            </a:r>
            <a:endParaRPr lang="en-US" sz="2000" dirty="0">
              <a:latin typeface="Avenir Book" panose="02000503020000020003" pitchFamily="2" charset="0"/>
            </a:endParaRPr>
          </a:p>
          <a:p>
            <a:endParaRPr lang="en-US" sz="2000" dirty="0">
              <a:latin typeface="Avenir Book" panose="02000503020000020003" pitchFamily="2" charset="0"/>
            </a:endParaRPr>
          </a:p>
          <a:p>
            <a:r>
              <a:rPr lang="en-US" sz="2000" dirty="0">
                <a:latin typeface="Avenir Book" panose="02000503020000020003" pitchFamily="2" charset="0"/>
                <a:hlinkClick r:id="rId7"/>
              </a:rPr>
              <a:t>Yale AI Resources – AI Tools (</a:t>
            </a:r>
            <a:r>
              <a:rPr lang="en-US" sz="2000" dirty="0" err="1">
                <a:latin typeface="Avenir Book" panose="02000503020000020003" pitchFamily="2" charset="0"/>
                <a:hlinkClick r:id="rId7"/>
              </a:rPr>
              <a:t>github.io</a:t>
            </a:r>
            <a:r>
              <a:rPr lang="en-US" sz="2000" dirty="0">
                <a:latin typeface="Avenir Book" panose="02000503020000020003" pitchFamily="2" charset="0"/>
                <a:hlinkClick r:id="rId7"/>
              </a:rPr>
              <a:t>)</a:t>
            </a:r>
            <a:endParaRPr lang="en-US" sz="2000" dirty="0">
              <a:latin typeface="Avenir Book" panose="02000503020000020003" pitchFamily="2" charset="0"/>
            </a:endParaRPr>
          </a:p>
        </p:txBody>
      </p:sp>
    </p:spTree>
    <p:extLst>
      <p:ext uri="{BB962C8B-B14F-4D97-AF65-F5344CB8AC3E}">
        <p14:creationId xmlns:p14="http://schemas.microsoft.com/office/powerpoint/2010/main" val="7270221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d8cbebb-2139-4df8-b411-4e3e87abeb5c}" enabled="0" method="" siteId="{dd8cbebb-2139-4df8-b411-4e3e87abeb5c}" removed="1"/>
</clbl:labelList>
</file>

<file path=docProps/app.xml><?xml version="1.0" encoding="utf-8"?>
<Properties xmlns="http://schemas.openxmlformats.org/officeDocument/2006/extended-properties" xmlns:vt="http://schemas.openxmlformats.org/officeDocument/2006/docPropsVTypes">
  <TotalTime>39586</TotalTime>
  <Words>2473</Words>
  <Application>Microsoft Macintosh PowerPoint</Application>
  <PresentationFormat>Widescreen</PresentationFormat>
  <Paragraphs>355</Paragraphs>
  <Slides>25</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Aptos</vt:lpstr>
      <vt:lpstr>Aptos Display</vt:lpstr>
      <vt:lpstr>Arial</vt:lpstr>
      <vt:lpstr>Avenir Book</vt:lpstr>
      <vt:lpstr>Courier New</vt:lpstr>
      <vt:lpstr>Wingdings</vt:lpstr>
      <vt:lpstr>YaleNew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Wegener, Maximilian</dc:creator>
  <cp:keywords/>
  <dc:description/>
  <cp:lastModifiedBy>Max Wegener</cp:lastModifiedBy>
  <cp:revision>94</cp:revision>
  <dcterms:created xsi:type="dcterms:W3CDTF">2025-01-10T18:33:58Z</dcterms:created>
  <dcterms:modified xsi:type="dcterms:W3CDTF">2026-03-18T14:01:55Z</dcterms:modified>
  <cp:category/>
</cp:coreProperties>
</file>