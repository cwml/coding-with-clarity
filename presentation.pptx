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3"/>
  </p:notesMasterIdLst>
  <p:sldIdLst>
    <p:sldId id="262" r:id="rId2"/>
    <p:sldId id="426" r:id="rId3"/>
    <p:sldId id="276" r:id="rId4"/>
    <p:sldId id="377" r:id="rId5"/>
    <p:sldId id="427" r:id="rId6"/>
    <p:sldId id="428" r:id="rId7"/>
    <p:sldId id="435" r:id="rId8"/>
    <p:sldId id="429" r:id="rId9"/>
    <p:sldId id="419" r:id="rId10"/>
    <p:sldId id="420" r:id="rId11"/>
    <p:sldId id="438" r:id="rId12"/>
    <p:sldId id="422" r:id="rId13"/>
    <p:sldId id="447" r:id="rId14"/>
    <p:sldId id="448" r:id="rId15"/>
    <p:sldId id="421" r:id="rId16"/>
    <p:sldId id="431" r:id="rId17"/>
    <p:sldId id="439" r:id="rId18"/>
    <p:sldId id="432" r:id="rId19"/>
    <p:sldId id="362" r:id="rId20"/>
    <p:sldId id="440" r:id="rId21"/>
    <p:sldId id="441" r:id="rId22"/>
    <p:sldId id="423" r:id="rId23"/>
    <p:sldId id="434" r:id="rId24"/>
    <p:sldId id="424" r:id="rId25"/>
    <p:sldId id="443" r:id="rId26"/>
    <p:sldId id="445" r:id="rId27"/>
    <p:sldId id="446" r:id="rId28"/>
    <p:sldId id="450" r:id="rId29"/>
    <p:sldId id="378" r:id="rId30"/>
    <p:sldId id="414" r:id="rId31"/>
    <p:sldId id="43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F1FA"/>
    <a:srgbClr val="163E64"/>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7452EA-8525-8546-9411-43FD84E2388C}" v="1" dt="2026-04-01T17:30:05.641"/>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6301"/>
  </p:normalViewPr>
  <p:slideViewPr>
    <p:cSldViewPr snapToGrid="0">
      <p:cViewPr varScale="1">
        <p:scale>
          <a:sx n="122" d="100"/>
          <a:sy n="122" d="100"/>
        </p:scale>
        <p:origin x="1400" y="200"/>
      </p:cViewPr>
      <p:guideLst>
        <p:guide orient="horz" pos="3336"/>
        <p:guide pos="3264"/>
        <p:guide pos="384"/>
        <p:guide orient="horz" pos="1128"/>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2</a:t>
            </a:fld>
            <a:endParaRPr lang="en-US"/>
          </a:p>
        </p:txBody>
      </p:sp>
    </p:spTree>
    <p:extLst>
      <p:ext uri="{BB962C8B-B14F-4D97-AF65-F5344CB8AC3E}">
        <p14:creationId xmlns:p14="http://schemas.microsoft.com/office/powerpoint/2010/main" val="145721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226756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856538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28447-29D2-7AF9-D94A-A7DFC9BCD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502A6-707B-DB9F-6501-ABA6F61DC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EDCE2-5287-4004-95D1-9D060702A1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EFCF41-82EB-3DEE-2BAD-A011C8C2DF48}"/>
              </a:ext>
            </a:extLst>
          </p:cNvPr>
          <p:cNvSpPr>
            <a:spLocks noGrp="1"/>
          </p:cNvSpPr>
          <p:nvPr>
            <p:ph type="sldNum" sz="quarter" idx="5"/>
          </p:nvPr>
        </p:nvSpPr>
        <p:spPr/>
        <p:txBody>
          <a:bodyPr/>
          <a:lstStyle/>
          <a:p>
            <a:fld id="{A5B4ED3A-914E-6443-A2E7-C28A873C6BCA}" type="slidenum">
              <a:rPr lang="en-US" smtClean="0"/>
              <a:t>7</a:t>
            </a:fld>
            <a:endParaRPr lang="en-US"/>
          </a:p>
        </p:txBody>
      </p:sp>
    </p:spTree>
    <p:extLst>
      <p:ext uri="{BB962C8B-B14F-4D97-AF65-F5344CB8AC3E}">
        <p14:creationId xmlns:p14="http://schemas.microsoft.com/office/powerpoint/2010/main" val="4150122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Precision Oncology:</a:t>
            </a:r>
            <a:r>
              <a:rPr lang="en-US" dirty="0"/>
              <a:t> Yale researchers are developing AI frameworks to integrate clinical, genetic, and phenotypic data to create </a:t>
            </a:r>
            <a:r>
              <a:rPr lang="en-US" b="1" dirty="0"/>
              <a:t>patient-specific prognostic tests</a:t>
            </a:r>
            <a:r>
              <a:rPr lang="en-US" dirty="0"/>
              <a:t>, particularly for aggressive cancers like glioblastoma.</a:t>
            </a:r>
          </a:p>
          <a:p>
            <a:endParaRPr lang="en-US" dirty="0"/>
          </a:p>
          <a:p>
            <a:r>
              <a:rPr lang="en-US" b="1" dirty="0"/>
              <a:t>The "Me-</a:t>
            </a:r>
            <a:r>
              <a:rPr lang="en-US" b="1" dirty="0" err="1"/>
              <a:t>LLaMA</a:t>
            </a:r>
            <a:r>
              <a:rPr lang="en-US" b="1" dirty="0"/>
              <a:t>" Project:</a:t>
            </a:r>
            <a:r>
              <a:rPr lang="en-US" dirty="0"/>
              <a:t> A Yale-developed clinical chatbot designed to assist in </a:t>
            </a:r>
            <a:r>
              <a:rPr lang="en-US" b="1" dirty="0"/>
              <a:t>diagnosing complex medical </a:t>
            </a:r>
            <a:r>
              <a:rPr lang="en-US" b="1" dirty="0" err="1"/>
              <a:t>cases</a:t>
            </a:r>
            <a:r>
              <a:rPr lang="en-US" dirty="0" err="1"/>
              <a:t>and</a:t>
            </a:r>
            <a:r>
              <a:rPr lang="en-US" dirty="0"/>
              <a:t> summarizing clinical data, built to handle the nuances of medical terminology better than general-purpose AI.</a:t>
            </a:r>
          </a:p>
          <a:p>
            <a:endParaRPr lang="en-US" b="1" dirty="0"/>
          </a:p>
          <a:p>
            <a:r>
              <a:rPr lang="en-US" b="1" dirty="0"/>
              <a:t>Spatial Multi-Modal Embeddings (</a:t>
            </a:r>
            <a:r>
              <a:rPr lang="en-US" b="1" dirty="0" err="1"/>
              <a:t>spEMO</a:t>
            </a:r>
            <a:r>
              <a:rPr lang="en-US" b="1" dirty="0"/>
              <a:t>):</a:t>
            </a:r>
            <a:r>
              <a:rPr lang="en-US" dirty="0"/>
              <a:t> A new tool from the Yale School of Public Health that uses AI to combine tissue slide images with gene and protein activity. It helps scientists "see" how cells interact in diseased tissue and even </a:t>
            </a:r>
            <a:r>
              <a:rPr lang="en-US" b="1" dirty="0"/>
              <a:t>drafts medical reports</a:t>
            </a:r>
            <a:r>
              <a:rPr lang="en-US" dirty="0"/>
              <a:t> for pathologists.</a:t>
            </a:r>
          </a:p>
          <a:p>
            <a:r>
              <a:rPr lang="en-US" dirty="0"/>
              <a:t>+1</a:t>
            </a:r>
          </a:p>
          <a:p>
            <a:endParaRPr lang="en-US" dirty="0"/>
          </a:p>
          <a:p>
            <a:r>
              <a:rPr lang="en-US" b="1" dirty="0" err="1"/>
              <a:t>CardioGenAI</a:t>
            </a:r>
            <a:r>
              <a:rPr lang="en-US" b="1" dirty="0"/>
              <a:t> &amp; Drug Discovery:</a:t>
            </a:r>
            <a:r>
              <a:rPr lang="en-US" dirty="0"/>
              <a:t> Yale-affiliated ventures are using generative models to design and synthesize </a:t>
            </a:r>
            <a:r>
              <a:rPr lang="en-US" b="1" dirty="0"/>
              <a:t>novel small molecules</a:t>
            </a:r>
            <a:r>
              <a:rPr lang="en-US" dirty="0"/>
              <a:t> for autoimmune diseases and cancer, drastically shortening the time to validate new drug leads.</a:t>
            </a:r>
          </a:p>
          <a:p>
            <a:endParaRPr lang="en-US" dirty="0"/>
          </a:p>
          <a:p>
            <a:r>
              <a:rPr lang="en-US" b="1" dirty="0"/>
              <a:t>Science Dissemination (Neurology):</a:t>
            </a:r>
            <a:r>
              <a:rPr lang="en-US" dirty="0"/>
              <a:t> Researchers in the Department of Neurology are using GenAI (Google Notebook-LM) to transform complex flagship guidelines into </a:t>
            </a:r>
            <a:r>
              <a:rPr lang="en-US" b="1" dirty="0"/>
              <a:t>synthetic podcasts and FAQs</a:t>
            </a:r>
            <a:r>
              <a:rPr lang="en-US" dirty="0"/>
              <a:t> to make cutting-edge stroke research more accessible to clinicians.</a:t>
            </a:r>
          </a:p>
          <a:p>
            <a:endParaRPr lang="en-US" dirty="0"/>
          </a:p>
          <a:p>
            <a:r>
              <a:rPr lang="en-US" b="1" dirty="0"/>
              <a:t>The "Digital Twin" Concept:</a:t>
            </a:r>
            <a:r>
              <a:rPr lang="en-US" dirty="0"/>
              <a:t> Ongoing research in therapeutic radiology at Yale uses AI to build </a:t>
            </a:r>
            <a:r>
              <a:rPr lang="en-US" b="1" dirty="0"/>
              <a:t>computational replicas</a:t>
            </a:r>
            <a:r>
              <a:rPr lang="en-US" dirty="0"/>
              <a:t> of patients to simulate how they might respond to specific radiation therapies before treatment begins.</a:t>
            </a: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2425525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modify the notes in this section to avoid tampering with the Poll Everywhere activity.
More info at </a:t>
            </a:r>
            <a:r>
              <a:rPr lang="en-US" dirty="0" err="1"/>
              <a:t>polleverywhere.com</a:t>
            </a:r>
            <a:r>
              <a:rPr lang="en-US" dirty="0"/>
              <a:t>/support
Have you used any AI chatbot for any reason before?</a:t>
            </a:r>
          </a:p>
          <a:p>
            <a:r>
              <a:rPr lang="en-US" dirty="0"/>
              <a:t>https://</a:t>
            </a:r>
            <a:r>
              <a:rPr lang="en-US" dirty="0" err="1"/>
              <a:t>www.polleverywhere.com</a:t>
            </a:r>
            <a:r>
              <a:rPr lang="en-US" dirty="0"/>
              <a:t>/</a:t>
            </a:r>
            <a:r>
              <a:rPr lang="en-US" dirty="0" err="1"/>
              <a:t>multiple_choice_polls</a:t>
            </a:r>
            <a:r>
              <a:rPr lang="en-US" dirty="0"/>
              <a:t>/viXjqA8KjImbZMPArxaVL?state=</a:t>
            </a:r>
            <a:r>
              <a:rPr lang="en-US" dirty="0" err="1"/>
              <a:t>opened&amp;flow</a:t>
            </a:r>
            <a:r>
              <a:rPr lang="en-US" dirty="0"/>
              <a:t>=</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2385895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modify the notes in this section to avoid tampering with the Poll Everywhere activity.
More info at </a:t>
            </a:r>
            <a:r>
              <a:rPr lang="en-US" dirty="0" err="1"/>
              <a:t>polleverywhere.com</a:t>
            </a:r>
            <a:r>
              <a:rPr lang="en-US" dirty="0"/>
              <a:t>/support
Have you heard of Clarity before this course?</a:t>
            </a:r>
          </a:p>
          <a:p>
            <a:r>
              <a:rPr lang="en-US" dirty="0"/>
              <a:t>https://</a:t>
            </a:r>
            <a:r>
              <a:rPr lang="en-US" dirty="0" err="1"/>
              <a:t>www.polleverywhere.com</a:t>
            </a:r>
            <a:r>
              <a:rPr lang="en-US" dirty="0"/>
              <a:t>/</a:t>
            </a:r>
            <a:r>
              <a:rPr lang="en-US" dirty="0" err="1"/>
              <a:t>multiple_choice_polls</a:t>
            </a:r>
            <a:r>
              <a:rPr lang="en-US" dirty="0"/>
              <a:t>/gFSc3Cu7azVJShfC6M9zV?state=</a:t>
            </a:r>
            <a:r>
              <a:rPr lang="en-US" dirty="0" err="1"/>
              <a:t>opened&amp;flow</a:t>
            </a:r>
            <a:r>
              <a:rPr lang="en-US" dirty="0"/>
              <a:t>=</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4113592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8F7B-596B-0B41-2812-86B521A56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384D6-FAAD-213C-C328-C27E2A8FE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F6CD7-A82D-B534-DF37-D12FE72F7E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920F8-D45A-CF55-54B9-6E9FBF6BDE77}"/>
              </a:ext>
            </a:extLst>
          </p:cNvPr>
          <p:cNvSpPr>
            <a:spLocks noGrp="1"/>
          </p:cNvSpPr>
          <p:nvPr>
            <p:ph type="sldNum" sz="quarter" idx="5"/>
          </p:nvPr>
        </p:nvSpPr>
        <p:spPr/>
        <p:txBody>
          <a:bodyPr/>
          <a:lstStyle/>
          <a:p>
            <a:fld id="{A5B4ED3A-914E-6443-A2E7-C28A873C6BCA}" type="slidenum">
              <a:rPr lang="en-US" smtClean="0"/>
              <a:t>11</a:t>
            </a:fld>
            <a:endParaRPr lang="en-US"/>
          </a:p>
        </p:txBody>
      </p:sp>
    </p:spTree>
    <p:extLst>
      <p:ext uri="{BB962C8B-B14F-4D97-AF65-F5344CB8AC3E}">
        <p14:creationId xmlns:p14="http://schemas.microsoft.com/office/powerpoint/2010/main" val="2367286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AEB8F-02F3-0D2B-E59F-7FEF576F2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8F123-A0AD-DEFC-E58F-DE4F774B3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C14FB-04D3-FB04-8665-9E9DFCFB6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08167-CB29-EAD1-66DF-4396EF46407C}"/>
              </a:ext>
            </a:extLst>
          </p:cNvPr>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3074253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modify the notes in this section to avoid tampering with the Poll Everywhere activity.
More info at </a:t>
            </a:r>
            <a:r>
              <a:rPr lang="en-US" dirty="0" err="1"/>
              <a:t>polleverywhere.com</a:t>
            </a:r>
            <a:r>
              <a:rPr lang="en-US" dirty="0"/>
              <a:t>/support
Which platform do you use the most</a:t>
            </a:r>
          </a:p>
          <a:p>
            <a:r>
              <a:rPr lang="en-US" dirty="0"/>
              <a:t>https://</a:t>
            </a:r>
            <a:r>
              <a:rPr lang="en-US" dirty="0" err="1"/>
              <a:t>www.polleverywhere.com</a:t>
            </a:r>
            <a:r>
              <a:rPr lang="en-US" dirty="0"/>
              <a:t>/</a:t>
            </a:r>
            <a:r>
              <a:rPr lang="en-US" dirty="0" err="1"/>
              <a:t>ranking_polls</a:t>
            </a:r>
            <a:r>
              <a:rPr lang="en-US" dirty="0"/>
              <a:t>/6V0rBP2FWxZcxNCaVjD7y</a:t>
            </a:r>
          </a:p>
        </p:txBody>
      </p:sp>
      <p:sp>
        <p:nvSpPr>
          <p:cNvPr id="4" name="Slide Number Placeholder 3"/>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1587444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B7DB-C4EA-6222-754C-FE2C2C148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8903D-04C0-9149-2C97-209AFC7D8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ECE0E-9790-BC83-EF4A-24859B22CC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49712E-4680-6F9E-367D-EE81C86B90CB}"/>
              </a:ext>
            </a:extLst>
          </p:cNvPr>
          <p:cNvSpPr>
            <a:spLocks noGrp="1"/>
          </p:cNvSpPr>
          <p:nvPr>
            <p:ph type="sldNum" sz="quarter" idx="5"/>
          </p:nvPr>
        </p:nvSpPr>
        <p:spPr/>
        <p:txBody>
          <a:bodyPr/>
          <a:lstStyle/>
          <a:p>
            <a:fld id="{A5B4ED3A-914E-6443-A2E7-C28A873C6BCA}" type="slidenum">
              <a:rPr lang="en-US" smtClean="0"/>
              <a:t>16</a:t>
            </a:fld>
            <a:endParaRPr lang="en-US"/>
          </a:p>
        </p:txBody>
      </p:sp>
    </p:spTree>
    <p:extLst>
      <p:ext uri="{BB962C8B-B14F-4D97-AF65-F5344CB8AC3E}">
        <p14:creationId xmlns:p14="http://schemas.microsoft.com/office/powerpoint/2010/main" val="1135115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8B92B-C9A7-3739-8708-AF234195F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D5532-81CC-567E-14BF-BB0AE90C5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1B7AA-56AD-1746-9991-1329DE699E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CA1157-B5BB-099A-1CFB-A5099A7A3D1E}"/>
              </a:ext>
            </a:extLst>
          </p:cNvPr>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358929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91B8C-FE95-D967-6D02-F2A267019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818DB-FC0D-7266-0C8B-3C91164A7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41494-08F4-9C41-547C-726A80FCD0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210F3A-8956-1860-8549-162903CDFCFF}"/>
              </a:ext>
            </a:extLst>
          </p:cNvPr>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1809710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19</a:t>
            </a:fld>
            <a:endParaRPr lang="en-US"/>
          </a:p>
        </p:txBody>
      </p:sp>
    </p:spTree>
    <p:extLst>
      <p:ext uri="{BB962C8B-B14F-4D97-AF65-F5344CB8AC3E}">
        <p14:creationId xmlns:p14="http://schemas.microsoft.com/office/powerpoint/2010/main" val="305395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7D9A-E7F8-E34E-FFF5-6087207FB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B087F-F118-E8C2-B5A9-4107A7244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66A19-E4FC-9A7D-9159-1E0501D623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465186-500A-7FD4-504E-041C3D1B305A}"/>
              </a:ext>
            </a:extLst>
          </p:cNvPr>
          <p:cNvSpPr>
            <a:spLocks noGrp="1"/>
          </p:cNvSpPr>
          <p:nvPr>
            <p:ph type="sldNum" sz="quarter" idx="5"/>
          </p:nvPr>
        </p:nvSpPr>
        <p:spPr/>
        <p:txBody>
          <a:bodyPr/>
          <a:lstStyle/>
          <a:p>
            <a:fld id="{A5B4ED3A-914E-6443-A2E7-C28A873C6BCA}" type="slidenum">
              <a:rPr lang="en-US" smtClean="0"/>
              <a:t>20</a:t>
            </a:fld>
            <a:endParaRPr lang="en-US"/>
          </a:p>
        </p:txBody>
      </p:sp>
    </p:spTree>
    <p:extLst>
      <p:ext uri="{BB962C8B-B14F-4D97-AF65-F5344CB8AC3E}">
        <p14:creationId xmlns:p14="http://schemas.microsoft.com/office/powerpoint/2010/main" val="1899561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2204-DF41-11B6-FC12-377621ED4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4023F-F95C-C8DD-7592-6C3B03AC1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38B19-5A4B-FCE1-80D8-73D67F20EA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A1D29C-BB62-BE57-26BE-E356C74EB93E}"/>
              </a:ext>
            </a:extLst>
          </p:cNvPr>
          <p:cNvSpPr>
            <a:spLocks noGrp="1"/>
          </p:cNvSpPr>
          <p:nvPr>
            <p:ph type="sldNum" sz="quarter" idx="5"/>
          </p:nvPr>
        </p:nvSpPr>
        <p:spPr/>
        <p:txBody>
          <a:bodyPr/>
          <a:lstStyle/>
          <a:p>
            <a:fld id="{A5B4ED3A-914E-6443-A2E7-C28A873C6BCA}" type="slidenum">
              <a:rPr lang="en-US" smtClean="0"/>
              <a:t>21</a:t>
            </a:fld>
            <a:endParaRPr lang="en-US"/>
          </a:p>
        </p:txBody>
      </p:sp>
    </p:spTree>
    <p:extLst>
      <p:ext uri="{BB962C8B-B14F-4D97-AF65-F5344CB8AC3E}">
        <p14:creationId xmlns:p14="http://schemas.microsoft.com/office/powerpoint/2010/main" val="1755537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modify the notes in this section to avoid tampering with the Poll Everywhere activity.
More info at </a:t>
            </a:r>
            <a:r>
              <a:rPr lang="en-US" dirty="0" err="1"/>
              <a:t>polleverywhere.com</a:t>
            </a:r>
            <a:r>
              <a:rPr lang="en-US" dirty="0"/>
              <a:t>/support
</a:t>
            </a:r>
            <a:r>
              <a:rPr lang="en-US" dirty="0" err="1"/>
              <a:t>Expereicne</a:t>
            </a:r>
            <a:r>
              <a:rPr lang="en-US" dirty="0"/>
              <a:t> level using statistical software (R, Python, SAS, Stata, etc.)</a:t>
            </a:r>
          </a:p>
          <a:p>
            <a:r>
              <a:rPr lang="en-US" dirty="0"/>
              <a:t>https://</a:t>
            </a:r>
            <a:r>
              <a:rPr lang="en-US" dirty="0" err="1"/>
              <a:t>www.polleverywhere.com</a:t>
            </a:r>
            <a:r>
              <a:rPr lang="en-US" dirty="0"/>
              <a:t>/</a:t>
            </a:r>
            <a:r>
              <a:rPr lang="en-US" dirty="0" err="1"/>
              <a:t>multiple_choice_polls</a:t>
            </a:r>
            <a:r>
              <a:rPr lang="en-US" dirty="0"/>
              <a:t>/BJYxlK9hpVgbmrRRtfpvr?state=</a:t>
            </a:r>
            <a:r>
              <a:rPr lang="en-US" dirty="0" err="1"/>
              <a:t>opened&amp;flow</a:t>
            </a:r>
            <a:r>
              <a:rPr lang="en-US" dirty="0"/>
              <a:t>=</a:t>
            </a:r>
            <a:r>
              <a:rPr lang="en-US" dirty="0" err="1"/>
              <a:t>Default&amp;onscreen</a:t>
            </a:r>
            <a:r>
              <a:rPr lang="en-US" dirty="0"/>
              <a:t>=persist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22</a:t>
            </a:fld>
            <a:endParaRPr lang="en-US"/>
          </a:p>
        </p:txBody>
      </p:sp>
    </p:spTree>
    <p:extLst>
      <p:ext uri="{BB962C8B-B14F-4D97-AF65-F5344CB8AC3E}">
        <p14:creationId xmlns:p14="http://schemas.microsoft.com/office/powerpoint/2010/main" val="1538243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3FD1E-2D15-3138-E3DC-152A16085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A03A-41B4-AF11-AD00-39E7C6F15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54BBA-09F9-FA1E-8A39-FCF325469B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A5E514-90DD-3596-E573-222C1FF45109}"/>
              </a:ext>
            </a:extLst>
          </p:cNvPr>
          <p:cNvSpPr>
            <a:spLocks noGrp="1"/>
          </p:cNvSpPr>
          <p:nvPr>
            <p:ph type="sldNum" sz="quarter" idx="5"/>
          </p:nvPr>
        </p:nvSpPr>
        <p:spPr/>
        <p:txBody>
          <a:bodyPr/>
          <a:lstStyle/>
          <a:p>
            <a:fld id="{A5B4ED3A-914E-6443-A2E7-C28A873C6BCA}" type="slidenum">
              <a:rPr lang="en-US" smtClean="0"/>
              <a:t>23</a:t>
            </a:fld>
            <a:endParaRPr lang="en-US"/>
          </a:p>
        </p:txBody>
      </p:sp>
    </p:spTree>
    <p:extLst>
      <p:ext uri="{BB962C8B-B14F-4D97-AF65-F5344CB8AC3E}">
        <p14:creationId xmlns:p14="http://schemas.microsoft.com/office/powerpoint/2010/main" val="2774420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2B32-7C5C-7377-DBA0-1BB24CEDC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3698-1072-70B1-3EAA-3E3A55A5B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370EE-DCCD-374A-E0C0-9414292CF2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DB6FC3-2189-790B-D345-701874AD6D76}"/>
              </a:ext>
            </a:extLst>
          </p:cNvPr>
          <p:cNvSpPr>
            <a:spLocks noGrp="1"/>
          </p:cNvSpPr>
          <p:nvPr>
            <p:ph type="sldNum" sz="quarter" idx="5"/>
          </p:nvPr>
        </p:nvSpPr>
        <p:spPr/>
        <p:txBody>
          <a:bodyPr/>
          <a:lstStyle/>
          <a:p>
            <a:fld id="{A5B4ED3A-914E-6443-A2E7-C28A873C6BCA}" type="slidenum">
              <a:rPr lang="en-US" smtClean="0"/>
              <a:t>24</a:t>
            </a:fld>
            <a:endParaRPr lang="en-US"/>
          </a:p>
        </p:txBody>
      </p:sp>
    </p:spTree>
    <p:extLst>
      <p:ext uri="{BB962C8B-B14F-4D97-AF65-F5344CB8AC3E}">
        <p14:creationId xmlns:p14="http://schemas.microsoft.com/office/powerpoint/2010/main" val="1643836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Also note, there are many other plugins, and coding agents can be installed as plugins and possible stand alone desktop applications.</a:t>
            </a:r>
          </a:p>
        </p:txBody>
      </p:sp>
      <p:sp>
        <p:nvSpPr>
          <p:cNvPr id="4" name="Slide Number Placeholder 3"/>
          <p:cNvSpPr>
            <a:spLocks noGrp="1"/>
          </p:cNvSpPr>
          <p:nvPr>
            <p:ph type="sldNum" sz="quarter" idx="5"/>
          </p:nvPr>
        </p:nvSpPr>
        <p:spPr/>
        <p:txBody>
          <a:bodyPr/>
          <a:lstStyle/>
          <a:p>
            <a:fld id="{A5B4ED3A-914E-6443-A2E7-C28A873C6BCA}" type="slidenum">
              <a:rPr lang="en-US" smtClean="0"/>
              <a:t>26</a:t>
            </a:fld>
            <a:endParaRPr lang="en-US"/>
          </a:p>
        </p:txBody>
      </p:sp>
    </p:spTree>
    <p:extLst>
      <p:ext uri="{BB962C8B-B14F-4D97-AF65-F5344CB8AC3E}">
        <p14:creationId xmlns:p14="http://schemas.microsoft.com/office/powerpoint/2010/main" val="3859400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6486-493D-61AD-F1FF-764194845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3B6EF-D01E-8F6E-C2B2-C811BEAB9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01D99-CA19-E1D0-0C81-5A4ABB95A1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0C41BC-EC86-5936-ED9C-69D3A5D6DDBB}"/>
              </a:ext>
            </a:extLst>
          </p:cNvPr>
          <p:cNvSpPr>
            <a:spLocks noGrp="1"/>
          </p:cNvSpPr>
          <p:nvPr>
            <p:ph type="sldNum" sz="quarter" idx="5"/>
          </p:nvPr>
        </p:nvSpPr>
        <p:spPr/>
        <p:txBody>
          <a:bodyPr/>
          <a:lstStyle/>
          <a:p>
            <a:fld id="{A5B4ED3A-914E-6443-A2E7-C28A873C6BCA}" type="slidenum">
              <a:rPr lang="en-US" smtClean="0"/>
              <a:t>28</a:t>
            </a:fld>
            <a:endParaRPr lang="en-US"/>
          </a:p>
        </p:txBody>
      </p:sp>
    </p:spTree>
    <p:extLst>
      <p:ext uri="{BB962C8B-B14F-4D97-AF65-F5344CB8AC3E}">
        <p14:creationId xmlns:p14="http://schemas.microsoft.com/office/powerpoint/2010/main" val="1684143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29</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30</a:t>
            </a:fld>
            <a:endParaRPr lang="en-US"/>
          </a:p>
        </p:txBody>
      </p:sp>
    </p:spTree>
    <p:extLst>
      <p:ext uri="{BB962C8B-B14F-4D97-AF65-F5344CB8AC3E}">
        <p14:creationId xmlns:p14="http://schemas.microsoft.com/office/powerpoint/2010/main" val="857287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B94CB-9310-91F0-F809-57D034213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B3548-C75D-EAE5-9154-6B6583424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3435-4635-38C0-806D-EF0EF6280C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5018FF-3058-27F4-ABB4-1CC76677D414}"/>
              </a:ext>
            </a:extLst>
          </p:cNvPr>
          <p:cNvSpPr>
            <a:spLocks noGrp="1"/>
          </p:cNvSpPr>
          <p:nvPr>
            <p:ph type="sldNum" sz="quarter" idx="5"/>
          </p:nvPr>
        </p:nvSpPr>
        <p:spPr/>
        <p:txBody>
          <a:bodyPr/>
          <a:lstStyle/>
          <a:p>
            <a:fld id="{A5B4ED3A-914E-6443-A2E7-C28A873C6BCA}" type="slidenum">
              <a:rPr lang="en-US" smtClean="0"/>
              <a:t>31</a:t>
            </a:fld>
            <a:endParaRPr lang="en-US"/>
          </a:p>
        </p:txBody>
      </p:sp>
    </p:spTree>
    <p:extLst>
      <p:ext uri="{BB962C8B-B14F-4D97-AF65-F5344CB8AC3E}">
        <p14:creationId xmlns:p14="http://schemas.microsoft.com/office/powerpoint/2010/main" val="77466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hyperlink" Target="https://github.com/CWML/coding-with-clarity" TargetMode="External"/><Relationship Id="rId4" Type="http://schemas.openxmlformats.org/officeDocument/2006/relationships/hyperlink" Target="https://ai-chat.yale.edu/signin-oidc"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think/topics/generative-ai"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data-science-at-microsoft/accelerating-data-and-applied-sciences-using-llms-for-programming-64627449a6f0"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hyperlink" Target="https://medicine.yale.edu/news/yale-medicine-magazine/article/supercharged-data/#:~:text=Now%2C%20researchers%20across%20the%20country,physicians%20to%20customize%20treatment%20plans." TargetMode="External"/><Relationship Id="rId3" Type="http://schemas.openxmlformats.org/officeDocument/2006/relationships/hyperlink" Target="https://ai.yale.edu/seed-grant-awards-2025#:~:text=Our%20project%20will%20use%20AI,predictions%20and%20patient%20care%20quality." TargetMode="External"/><Relationship Id="rId7" Type="http://schemas.openxmlformats.org/officeDocument/2006/relationships/hyperlink" Target="https://medicine.yale.edu/neurology/divisions/vascular-neuro/research/#:~:text=These%20publications%20were%20inputted%20into,publication%20at%20zero%20added%20cost."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ventures.yale.edu/yale-technologies/closing-ai-human-validation-loop-accelerate-drug-discovery#:~:text=The%20team%20demonstrated%20Pfizer%2Dcollaborated,IL%2D6%20signaling%20or%20cancer." TargetMode="External"/><Relationship Id="rId5" Type="http://schemas.openxmlformats.org/officeDocument/2006/relationships/hyperlink" Target="https://ysph.yale.edu/news-article/new-ai-tool-helps-scientists-see-how-cells-work-together-inside-diseased-tissue/#:~:text=In%20the%20study%2C%20researchers%20introduce,in%20a%20more%20complete%20and" TargetMode="External"/><Relationship Id="rId4" Type="http://schemas.openxmlformats.org/officeDocument/2006/relationships/hyperlink" Target="https://medicine.yale.edu/news/yale-medicine-magazine/article/supercharged-data/#:~:text=One%20of%20the%20first%20applications,ease%20administrative%20burdens%20on%20clinicia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i.yale.edu/yales-ai-tools-and-resources/clarity-platform#:~:text=What%20is%20Clarity,support%20their%20work%20and%20research."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hyperlink" Target="https://ai.yale.edu/yales-ai-tools-and-resources/clarity-platform#:~:text=Choice%20of%20AI%20Models%3A%20Users,and%20another%20for%20generating%20answers." TargetMode="External"/><Relationship Id="rId4" Type="http://schemas.openxmlformats.org/officeDocument/2006/relationships/hyperlink" Target="https://provost.yale.edu/news/advancing-yales-leadership-artificial-intelligence-support-faculty-students-and-staff#:~:text=Importantly%2C%20Clarity%20provides%20a%20&#8220;walled,to%20train%20external%20AI%20model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click.message.yale.edu/?qs=ABB7InYiOjEsImQiOjQ5ODl9AAoAAAAABHNwzhEmT4ihCXiWiNNYI2YLFSHLUMHWZeyHHereXlxgFpCnmzoML5Ud1BMlRtkexVJD2ZsEuK74lBMGd-b2j0kBzZBvB7KllWgqrHikIP8" TargetMode="External"/><Relationship Id="rId7" Type="http://schemas.openxmlformats.org/officeDocument/2006/relationships/image" Target="../media/image6.png"/><Relationship Id="rId2" Type="http://schemas.openxmlformats.org/officeDocument/2006/relationships/hyperlink" Target="https://click.message.yale.edu/?qs=ABB7InYiOjEsImQiOjQ5ODl9AAoAAAAABHNwzhElGKhr-g8PmIZX5K_rDaCGVuGaHZL95WEDIIQczuX5OcyGQpdLtzs7minprdn5Z0yvJags5HTPR30AB-rtIGLglC5R1cVbOEwVSE8" TargetMode="External"/><Relationship Id="rId1" Type="http://schemas.openxmlformats.org/officeDocument/2006/relationships/slideLayout" Target="../slideLayouts/slideLayout13.xml"/><Relationship Id="rId6" Type="http://schemas.openxmlformats.org/officeDocument/2006/relationships/hyperlink" Target="https://click.message.yale.edu/?qs=ABB7InYiOjEsImQiOjQ5ODl9AAoAAAAABHNwzhEpkRLg8a96sCDWduQ0YZbds6UKURAnKetAjEMt8zOI295P9tLXU5NFrhbb2NJUgWIISK-m56TEYd22KATNp3xADwbPT3wrOMel6-k" TargetMode="External"/><Relationship Id="rId5" Type="http://schemas.openxmlformats.org/officeDocument/2006/relationships/hyperlink" Target="https://click.message.yale.edu/?qs=ABB7InYiOjEsImQiOjQ5ODl9AAoAAAAABHNwzhEou8bJU4oe6iZM0C4mWBrypUBnx8gFiDboJcyvE9FxzfUcVKI3gkHDwzUDNNllzBT4JsZ1RRNUA0275u_LsRoS9qDVzYxM5CzOpEM" TargetMode="External"/><Relationship Id="rId4" Type="http://schemas.openxmlformats.org/officeDocument/2006/relationships/hyperlink" Target="https://click.message.yale.edu/?qs=ABB7InYiOjEsImQiOjQ5ODl9AAoAAAAABHNwzhEnRO8RL1jv_mkcL6tv431eAlFpfBKx2SAIJvdQenTU1PIIahWgzki6GPx7hFZIqx1WIKAdcREomNrc8tOeYelosjK0ZhkQcHVCKu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lick.message.yale.edu/?qs=ABB7InYiOjEsImQiOjQ5ODl9AAoAAAAABHNwzhEqiesmMSPR6dmTWzbTsUXJQD71ZJStkpQv2bc0lv67mo-iP30fr2NX_-hlNtHU9T5398rZ0_AfYvjGpqI_lih9meONbfG-CpSYznc"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hyperlink" Target="https://ai.yale.edu/guidance" TargetMode="External"/><Relationship Id="rId7" Type="http://schemas.openxmlformats.org/officeDocument/2006/relationships/hyperlink" Target="https://ysph-dsde.github.io/ai-resources-page/Pages/tools.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ai.yale.edu/yales-ai-tools-and-resources" TargetMode="External"/><Relationship Id="rId5" Type="http://schemas.openxmlformats.org/officeDocument/2006/relationships/hyperlink" Target="https://ai.yale.edu/yales-ai-tools-and-resources/yale-standards-for-using-ai-tools-and-chatbots-in-health-sciences" TargetMode="External"/><Relationship Id="rId4" Type="http://schemas.openxmlformats.org/officeDocument/2006/relationships/hyperlink" Target="https://ai.yale.edu/yales-ai-tools-and-resources/health-sciences/using-ai-safely-and-responsibly-in-health-c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790060" y="1433524"/>
            <a:ext cx="6423025" cy="1964794"/>
          </a:xfrm>
        </p:spPr>
        <p:txBody>
          <a:bodyPr/>
          <a:lstStyle/>
          <a:p>
            <a:r>
              <a:rPr lang="en-US" sz="4000" dirty="0">
                <a:latin typeface="Avenir Book" panose="02000503020000020003" pitchFamily="2" charset="0"/>
              </a:rPr>
              <a:t>Coding with Clarity:</a:t>
            </a:r>
          </a:p>
          <a:p>
            <a:r>
              <a:rPr lang="en-US" sz="4000" dirty="0">
                <a:latin typeface="Avenir Book" panose="02000503020000020003" pitchFamily="2" charset="0"/>
              </a:rPr>
              <a:t>AI-Powered Programming for Researchers</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1" y="4057896"/>
            <a:ext cx="2802726"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3749156"/>
            <a:ext cx="2952401" cy="266700"/>
          </a:xfrm>
        </p:spPr>
        <p:txBody>
          <a:bodyPr>
            <a:noAutofit/>
          </a:bodyPr>
          <a:lstStyle/>
          <a:p>
            <a:r>
              <a:rPr lang="en-US" dirty="0"/>
              <a:t>MAXIMILIAN WEGENER, MPH</a:t>
            </a: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4790060" y="6259467"/>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
        <p:nvSpPr>
          <p:cNvPr id="2" name="Text Placeholder 3">
            <a:extLst>
              <a:ext uri="{FF2B5EF4-FFF2-40B4-BE49-F238E27FC236}">
                <a16:creationId xmlns:a16="http://schemas.microsoft.com/office/drawing/2014/main" id="{54276299-72ED-1E63-925C-055A05217004}"/>
              </a:ext>
            </a:extLst>
          </p:cNvPr>
          <p:cNvSpPr txBox="1">
            <a:spLocks/>
          </p:cNvSpPr>
          <p:nvPr/>
        </p:nvSpPr>
        <p:spPr>
          <a:xfrm>
            <a:off x="8444941" y="4057896"/>
            <a:ext cx="2952401" cy="8794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00" b="0" i="1" kern="1200">
                <a:solidFill>
                  <a:schemeClr val="tx1"/>
                </a:solidFill>
                <a:latin typeface="YaleNew" panose="02000602050000020003"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0" dirty="0"/>
              <a:t>System and Application Specialist</a:t>
            </a:r>
            <a:r>
              <a:rPr lang="en-US" dirty="0"/>
              <a:t> Cushing/Whitney Medical Library</a:t>
            </a:r>
          </a:p>
        </p:txBody>
      </p:sp>
      <p:sp>
        <p:nvSpPr>
          <p:cNvPr id="7" name="Text Placeholder 4">
            <a:extLst>
              <a:ext uri="{FF2B5EF4-FFF2-40B4-BE49-F238E27FC236}">
                <a16:creationId xmlns:a16="http://schemas.microsoft.com/office/drawing/2014/main" id="{DEDFEAF9-5725-4735-D224-56515316ECFC}"/>
              </a:ext>
            </a:extLst>
          </p:cNvPr>
          <p:cNvSpPr txBox="1">
            <a:spLocks/>
          </p:cNvSpPr>
          <p:nvPr/>
        </p:nvSpPr>
        <p:spPr>
          <a:xfrm>
            <a:off x="8444941" y="3749156"/>
            <a:ext cx="2549633" cy="2667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b="0" i="0" kern="1200" spc="300">
                <a:solidFill>
                  <a:schemeClr val="tx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Justin DeMayo</a:t>
            </a: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E680CD-B7B5-C696-BB7C-21441F51CADA}"/>
              </a:ext>
            </a:extLst>
          </p:cNvPr>
          <p:cNvSpPr>
            <a:spLocks noGrp="1"/>
          </p:cNvSpPr>
          <p:nvPr>
            <p:ph type="body" sz="quarter" idx="11"/>
          </p:nvPr>
        </p:nvSpPr>
        <p:spPr>
          <a:xfrm>
            <a:off x="486192" y="2740653"/>
            <a:ext cx="3171407" cy="1376693"/>
          </a:xfrm>
        </p:spPr>
        <p:txBody>
          <a:bodyPr/>
          <a:lstStyle/>
          <a:p>
            <a:r>
              <a:rPr lang="en-US" dirty="0"/>
              <a:t>Before we begin the lesson</a:t>
            </a:r>
          </a:p>
        </p:txBody>
      </p:sp>
      <p:sp>
        <p:nvSpPr>
          <p:cNvPr id="5" name="Slide Number Placeholder 4">
            <a:extLst>
              <a:ext uri="{FF2B5EF4-FFF2-40B4-BE49-F238E27FC236}">
                <a16:creationId xmlns:a16="http://schemas.microsoft.com/office/drawing/2014/main" id="{C47C55B8-2D07-2855-4581-568EAA02A738}"/>
              </a:ext>
            </a:extLst>
          </p:cNvPr>
          <p:cNvSpPr>
            <a:spLocks noGrp="1"/>
          </p:cNvSpPr>
          <p:nvPr>
            <p:ph type="sldNum" sz="quarter" idx="18"/>
          </p:nvPr>
        </p:nvSpPr>
        <p:spPr/>
        <p:txBody>
          <a:bodyPr/>
          <a:lstStyle/>
          <a:p>
            <a:fld id="{548469FB-C78A-B94B-B04A-B5BC8C934F85}" type="slidenum">
              <a:rPr lang="en-US" smtClean="0"/>
              <a:t>2</a:t>
            </a:fld>
            <a:endParaRPr lang="en-US"/>
          </a:p>
        </p:txBody>
      </p:sp>
      <p:pic>
        <p:nvPicPr>
          <p:cNvPr id="6" name="Picture 5">
            <a:extLst>
              <a:ext uri="{FF2B5EF4-FFF2-40B4-BE49-F238E27FC236}">
                <a16:creationId xmlns:a16="http://schemas.microsoft.com/office/drawing/2014/main" id="{BD996526-26F4-3115-3CE8-8F33F0DD0006}"/>
              </a:ext>
            </a:extLst>
          </p:cNvPr>
          <p:cNvPicPr>
            <a:picLocks noChangeAspect="1"/>
          </p:cNvPicPr>
          <p:nvPr/>
        </p:nvPicPr>
        <p:blipFill>
          <a:blip r:embed="rId3"/>
          <a:stretch>
            <a:fillRect/>
          </a:stretch>
        </p:blipFill>
        <p:spPr>
          <a:xfrm>
            <a:off x="7072993" y="264944"/>
            <a:ext cx="2642507" cy="2642507"/>
          </a:xfrm>
          <a:prstGeom prst="rect">
            <a:avLst/>
          </a:prstGeom>
        </p:spPr>
      </p:pic>
      <p:sp>
        <p:nvSpPr>
          <p:cNvPr id="8" name="TextBox 7">
            <a:extLst>
              <a:ext uri="{FF2B5EF4-FFF2-40B4-BE49-F238E27FC236}">
                <a16:creationId xmlns:a16="http://schemas.microsoft.com/office/drawing/2014/main" id="{39FB48DB-63B4-71ED-B10C-B60B0BA7CEAD}"/>
              </a:ext>
            </a:extLst>
          </p:cNvPr>
          <p:cNvSpPr txBox="1"/>
          <p:nvPr/>
        </p:nvSpPr>
        <p:spPr>
          <a:xfrm>
            <a:off x="4250873" y="482918"/>
            <a:ext cx="3619498" cy="1200329"/>
          </a:xfrm>
          <a:prstGeom prst="rect">
            <a:avLst/>
          </a:prstGeom>
          <a:noFill/>
        </p:spPr>
        <p:txBody>
          <a:bodyPr wrap="square">
            <a:spAutoFit/>
          </a:bodyPr>
          <a:lstStyle/>
          <a:p>
            <a:r>
              <a:rPr lang="en-US" sz="3600" dirty="0">
                <a:latin typeface="YaleNew" panose="02000602050000020003" pitchFamily="2" charset="77"/>
              </a:rPr>
              <a:t>Interactive poll questions</a:t>
            </a:r>
          </a:p>
        </p:txBody>
      </p:sp>
      <p:sp>
        <p:nvSpPr>
          <p:cNvPr id="9" name="TextBox 8">
            <a:extLst>
              <a:ext uri="{FF2B5EF4-FFF2-40B4-BE49-F238E27FC236}">
                <a16:creationId xmlns:a16="http://schemas.microsoft.com/office/drawing/2014/main" id="{AFF1008B-585E-0AD9-2E35-A3EF2ECC0C0B}"/>
              </a:ext>
            </a:extLst>
          </p:cNvPr>
          <p:cNvSpPr txBox="1"/>
          <p:nvPr/>
        </p:nvSpPr>
        <p:spPr>
          <a:xfrm>
            <a:off x="4454978" y="3428711"/>
            <a:ext cx="6813437" cy="646331"/>
          </a:xfrm>
          <a:prstGeom prst="rect">
            <a:avLst/>
          </a:prstGeom>
          <a:noFill/>
        </p:spPr>
        <p:txBody>
          <a:bodyPr wrap="square">
            <a:spAutoFit/>
          </a:bodyPr>
          <a:lstStyle/>
          <a:p>
            <a:r>
              <a:rPr lang="en-US" sz="3600" dirty="0">
                <a:latin typeface="YaleNew" panose="02000602050000020003" pitchFamily="2" charset="77"/>
              </a:rPr>
              <a:t>Sign into Clarity at </a:t>
            </a:r>
            <a:r>
              <a:rPr lang="en-US" sz="3600" dirty="0" err="1">
                <a:latin typeface="YaleNew" panose="02000602050000020003" pitchFamily="2" charset="77"/>
                <a:hlinkClick r:id="rId4"/>
              </a:rPr>
              <a:t>clarity.yale.edu</a:t>
            </a:r>
            <a:r>
              <a:rPr lang="en-US" sz="3600" dirty="0">
                <a:latin typeface="YaleNew" panose="02000602050000020003" pitchFamily="2" charset="77"/>
                <a:hlinkClick r:id="rId4"/>
              </a:rPr>
              <a:t> </a:t>
            </a:r>
            <a:endParaRPr lang="en-US" sz="3600" dirty="0">
              <a:latin typeface="YaleNew" panose="02000602050000020003" pitchFamily="2" charset="77"/>
            </a:endParaRPr>
          </a:p>
        </p:txBody>
      </p:sp>
      <p:sp>
        <p:nvSpPr>
          <p:cNvPr id="10" name="TextBox 9">
            <a:extLst>
              <a:ext uri="{FF2B5EF4-FFF2-40B4-BE49-F238E27FC236}">
                <a16:creationId xmlns:a16="http://schemas.microsoft.com/office/drawing/2014/main" id="{19D59128-63A1-E1A0-9FF7-7DFB0C3CF64D}"/>
              </a:ext>
            </a:extLst>
          </p:cNvPr>
          <p:cNvSpPr txBox="1"/>
          <p:nvPr/>
        </p:nvSpPr>
        <p:spPr>
          <a:xfrm>
            <a:off x="4463652" y="4800409"/>
            <a:ext cx="6813437" cy="1200329"/>
          </a:xfrm>
          <a:prstGeom prst="rect">
            <a:avLst/>
          </a:prstGeom>
          <a:noFill/>
        </p:spPr>
        <p:txBody>
          <a:bodyPr wrap="square">
            <a:spAutoFit/>
          </a:bodyPr>
          <a:lstStyle/>
          <a:p>
            <a:r>
              <a:rPr lang="en-US" sz="3600" dirty="0">
                <a:latin typeface="YaleNew" panose="02000602050000020003" pitchFamily="2" charset="77"/>
              </a:rPr>
              <a:t>Download sample dataset from </a:t>
            </a:r>
            <a:r>
              <a:rPr lang="en-US" sz="3600" dirty="0" err="1">
                <a:latin typeface="YaleNew" panose="02000602050000020003" pitchFamily="2" charset="77"/>
                <a:hlinkClick r:id="rId5"/>
              </a:rPr>
              <a:t>Github</a:t>
            </a:r>
            <a:endParaRPr lang="en-US" sz="3600" dirty="0">
              <a:latin typeface="YaleNew" panose="02000602050000020003" pitchFamily="2" charset="77"/>
            </a:endParaRPr>
          </a:p>
        </p:txBody>
      </p:sp>
      <p:pic>
        <p:nvPicPr>
          <p:cNvPr id="11" name="Picture 10">
            <a:extLst>
              <a:ext uri="{FF2B5EF4-FFF2-40B4-BE49-F238E27FC236}">
                <a16:creationId xmlns:a16="http://schemas.microsoft.com/office/drawing/2014/main" id="{1ABD0FC0-A9E4-7B2E-4798-CBEA5C6EAD36}"/>
              </a:ext>
            </a:extLst>
          </p:cNvPr>
          <p:cNvPicPr>
            <a:picLocks noChangeAspect="1"/>
          </p:cNvPicPr>
          <p:nvPr/>
        </p:nvPicPr>
        <p:blipFill>
          <a:blip r:embed="rId6"/>
          <a:stretch>
            <a:fillRect/>
          </a:stretch>
        </p:blipFill>
        <p:spPr>
          <a:xfrm>
            <a:off x="9715500" y="264944"/>
            <a:ext cx="2343150" cy="2604109"/>
          </a:xfrm>
          <a:prstGeom prst="rect">
            <a:avLst/>
          </a:prstGeom>
        </p:spPr>
      </p:pic>
      <p:sp>
        <p:nvSpPr>
          <p:cNvPr id="12" name="Oval 11">
            <a:extLst>
              <a:ext uri="{FF2B5EF4-FFF2-40B4-BE49-F238E27FC236}">
                <a16:creationId xmlns:a16="http://schemas.microsoft.com/office/drawing/2014/main" id="{F8CDB292-324C-F089-4553-88DF1A23FEF8}"/>
              </a:ext>
            </a:extLst>
          </p:cNvPr>
          <p:cNvSpPr/>
          <p:nvPr/>
        </p:nvSpPr>
        <p:spPr>
          <a:xfrm>
            <a:off x="9764484" y="2286558"/>
            <a:ext cx="648447" cy="25309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364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5226959" y="1010911"/>
            <a:ext cx="5941351" cy="4922433"/>
          </a:xfrm>
        </p:spPr>
        <p:txBody>
          <a:bodyPr>
            <a:normAutofit/>
          </a:bodyPr>
          <a:lstStyle/>
          <a:p>
            <a:pPr marL="514350" lvl="1" indent="-514350">
              <a:lnSpc>
                <a:spcPct val="100000"/>
              </a:lnSpc>
              <a:spcBef>
                <a:spcPts val="1000"/>
              </a:spcBef>
              <a:buFont typeface="+mj-lt"/>
              <a:buAutoNum type="arabicPeriod"/>
            </a:pPr>
            <a:r>
              <a:rPr lang="en-US" sz="2000" dirty="0">
                <a:latin typeface="Avenir Book" panose="02000503020000020003" pitchFamily="2" charset="0"/>
              </a:rPr>
              <a:t>Navigate to Yale’s Clarity Platform</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Craft effective prompts to get better coding assistance </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Implement AI coding assistants into your programming software</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Apply best practices for AI-assisted programming</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Import and clean data using coding assistant</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After this training, you should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3</a:t>
            </a:fld>
            <a:endParaRPr lang="en-US"/>
          </a:p>
        </p:txBody>
      </p:sp>
    </p:spTree>
    <p:extLst>
      <p:ext uri="{BB962C8B-B14F-4D97-AF65-F5344CB8AC3E}">
        <p14:creationId xmlns:p14="http://schemas.microsoft.com/office/powerpoint/2010/main" val="3472341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5181600" y="1283863"/>
            <a:ext cx="6628457" cy="4537273"/>
          </a:xfrm>
        </p:spPr>
        <p:txBody>
          <a:bodyPr>
            <a:normAutofit/>
          </a:bodyPr>
          <a:lstStyle/>
          <a:p>
            <a:r>
              <a:rPr lang="en-US" sz="2000" dirty="0">
                <a:latin typeface="Avenir Book" panose="02000503020000020003" pitchFamily="2" charset="0"/>
              </a:rPr>
              <a:t>Generative AI Overview</a:t>
            </a:r>
          </a:p>
          <a:p>
            <a:endParaRPr lang="en-US" sz="2000" dirty="0">
              <a:latin typeface="Avenir Book" panose="02000503020000020003" pitchFamily="2" charset="0"/>
            </a:endParaRPr>
          </a:p>
          <a:p>
            <a:r>
              <a:rPr lang="en-US" sz="2000" dirty="0">
                <a:latin typeface="Avenir Book" panose="02000503020000020003" pitchFamily="2" charset="0"/>
              </a:rPr>
              <a:t>Yale’s Clarity Platform</a:t>
            </a:r>
          </a:p>
          <a:p>
            <a:endParaRPr lang="en-US" sz="2000" dirty="0">
              <a:latin typeface="Avenir Book" panose="02000503020000020003" pitchFamily="2" charset="0"/>
            </a:endParaRPr>
          </a:p>
          <a:p>
            <a:r>
              <a:rPr lang="en-US" sz="2000" dirty="0">
                <a:latin typeface="Avenir Book" panose="02000503020000020003" pitchFamily="2" charset="0"/>
              </a:rPr>
              <a:t>Prompting</a:t>
            </a:r>
          </a:p>
          <a:p>
            <a:pPr marL="0" indent="0">
              <a:buNone/>
            </a:pPr>
            <a:endParaRPr lang="en-US" sz="2000" dirty="0">
              <a:latin typeface="Avenir Book" panose="02000503020000020003" pitchFamily="2" charset="0"/>
            </a:endParaRPr>
          </a:p>
          <a:p>
            <a:r>
              <a:rPr lang="en-US" sz="2000" dirty="0">
                <a:latin typeface="Avenir Book" panose="02000503020000020003" pitchFamily="2" charset="0"/>
              </a:rPr>
              <a:t>Workshop Activity – Hands on R Coding</a:t>
            </a:r>
          </a:p>
          <a:p>
            <a:endParaRPr lang="en-US" sz="2000" dirty="0">
              <a:latin typeface="Avenir Book" panose="02000503020000020003" pitchFamily="2" charset="0"/>
            </a:endParaRPr>
          </a:p>
          <a:p>
            <a:r>
              <a:rPr lang="en-US" sz="2000" dirty="0">
                <a:latin typeface="Avenir Book" panose="02000503020000020003" pitchFamily="2" charset="0"/>
              </a:rPr>
              <a:t>Coding with AI Agents (Live demo)</a:t>
            </a:r>
          </a:p>
          <a:p>
            <a:endParaRPr lang="en-US" sz="1400"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450962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E1C7F5-A95A-8EDF-116F-175F8BD17E45}"/>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DEDA7DA6-DC81-870B-9646-A6805394DF1C}"/>
              </a:ext>
            </a:extLst>
          </p:cNvPr>
          <p:cNvSpPr>
            <a:spLocks noGrp="1"/>
          </p:cNvSpPr>
          <p:nvPr>
            <p:ph type="body" sz="quarter" idx="15"/>
          </p:nvPr>
        </p:nvSpPr>
        <p:spPr/>
        <p:txBody>
          <a:bodyPr/>
          <a:lstStyle/>
          <a:p>
            <a:r>
              <a:rPr lang="en-US" dirty="0">
                <a:hlinkClick r:id="rId3"/>
              </a:rPr>
              <a:t>What is generative AI?</a:t>
            </a:r>
            <a:endParaRPr lang="en-US" dirty="0"/>
          </a:p>
          <a:p>
            <a:endParaRPr lang="en-US" dirty="0"/>
          </a:p>
        </p:txBody>
      </p:sp>
      <p:sp>
        <p:nvSpPr>
          <p:cNvPr id="5" name="Slide Number Placeholder 4">
            <a:extLst>
              <a:ext uri="{FF2B5EF4-FFF2-40B4-BE49-F238E27FC236}">
                <a16:creationId xmlns:a16="http://schemas.microsoft.com/office/drawing/2014/main" id="{F8841B4C-14E3-F203-A910-D1496E4A4DA0}"/>
              </a:ext>
            </a:extLst>
          </p:cNvPr>
          <p:cNvSpPr>
            <a:spLocks noGrp="1"/>
          </p:cNvSpPr>
          <p:nvPr>
            <p:ph type="sldNum" sz="quarter" idx="18"/>
          </p:nvPr>
        </p:nvSpPr>
        <p:spPr/>
        <p:txBody>
          <a:bodyPr/>
          <a:lstStyle/>
          <a:p>
            <a:fld id="{548469FB-C78A-B94B-B04A-B5BC8C934F85}" type="slidenum">
              <a:rPr lang="en-US" smtClean="0"/>
              <a:t>5</a:t>
            </a:fld>
            <a:endParaRPr lang="en-US"/>
          </a:p>
        </p:txBody>
      </p:sp>
      <p:sp>
        <p:nvSpPr>
          <p:cNvPr id="9" name="TextBox 8">
            <a:extLst>
              <a:ext uri="{FF2B5EF4-FFF2-40B4-BE49-F238E27FC236}">
                <a16:creationId xmlns:a16="http://schemas.microsoft.com/office/drawing/2014/main" id="{B8B8CBF1-DAAB-470C-9FE9-8EDD851C35CD}"/>
              </a:ext>
            </a:extLst>
          </p:cNvPr>
          <p:cNvSpPr txBox="1"/>
          <p:nvPr/>
        </p:nvSpPr>
        <p:spPr>
          <a:xfrm>
            <a:off x="4460510" y="1117803"/>
            <a:ext cx="7358324" cy="4401205"/>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A subset of AI that uses deep-learning models to create new content (text, code, images) rather than just classifying existing data</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Learns statistical patterns from massive datasets to predict and synthesize probable outputs</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Converting natural language instructions into functional programming syntax</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For use in programing, it understands the structural rules of R, Python, SQL, etc.</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"read" and explain existing logic or debug errors.</a:t>
            </a:r>
          </a:p>
        </p:txBody>
      </p:sp>
    </p:spTree>
    <p:extLst>
      <p:ext uri="{BB962C8B-B14F-4D97-AF65-F5344CB8AC3E}">
        <p14:creationId xmlns:p14="http://schemas.microsoft.com/office/powerpoint/2010/main" val="110604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6366-48D0-2E85-3840-3408C85A9E5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018344-BE91-F1ED-4B1E-87EE7AC547F6}"/>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A24A6694-AD37-D986-4FD9-DCEF4F008702}"/>
              </a:ext>
            </a:extLst>
          </p:cNvPr>
          <p:cNvSpPr>
            <a:spLocks noGrp="1"/>
          </p:cNvSpPr>
          <p:nvPr>
            <p:ph type="body" sz="quarter" idx="15"/>
          </p:nvPr>
        </p:nvSpPr>
        <p:spPr/>
        <p:txBody>
          <a:bodyPr/>
          <a:lstStyle/>
          <a:p>
            <a:r>
              <a:rPr lang="en-US" dirty="0"/>
              <a:t>A few examples how it is used in research</a:t>
            </a:r>
          </a:p>
          <a:p>
            <a:endParaRPr lang="en-US" dirty="0"/>
          </a:p>
        </p:txBody>
      </p:sp>
      <p:sp>
        <p:nvSpPr>
          <p:cNvPr id="5" name="Slide Number Placeholder 4">
            <a:extLst>
              <a:ext uri="{FF2B5EF4-FFF2-40B4-BE49-F238E27FC236}">
                <a16:creationId xmlns:a16="http://schemas.microsoft.com/office/drawing/2014/main" id="{C8D9A98C-7CE2-A34A-D318-7B629BE9C50B}"/>
              </a:ext>
            </a:extLst>
          </p:cNvPr>
          <p:cNvSpPr>
            <a:spLocks noGrp="1"/>
          </p:cNvSpPr>
          <p:nvPr>
            <p:ph type="sldNum" sz="quarter" idx="18"/>
          </p:nvPr>
        </p:nvSpPr>
        <p:spPr/>
        <p:txBody>
          <a:bodyPr/>
          <a:lstStyle/>
          <a:p>
            <a:fld id="{548469FB-C78A-B94B-B04A-B5BC8C934F85}" type="slidenum">
              <a:rPr lang="en-US" smtClean="0"/>
              <a:t>6</a:t>
            </a:fld>
            <a:endParaRPr lang="en-US"/>
          </a:p>
        </p:txBody>
      </p:sp>
      <p:sp>
        <p:nvSpPr>
          <p:cNvPr id="6" name="TextBox 5">
            <a:extLst>
              <a:ext uri="{FF2B5EF4-FFF2-40B4-BE49-F238E27FC236}">
                <a16:creationId xmlns:a16="http://schemas.microsoft.com/office/drawing/2014/main" id="{2C8F9E86-B793-BBC9-51C7-487B4DD51170}"/>
              </a:ext>
            </a:extLst>
          </p:cNvPr>
          <p:cNvSpPr txBox="1"/>
          <p:nvPr/>
        </p:nvSpPr>
        <p:spPr>
          <a:xfrm>
            <a:off x="4455016" y="1251153"/>
            <a:ext cx="7289800" cy="4462760"/>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venir Book" panose="02000503020000020003" pitchFamily="2" charset="0"/>
              </a:rPr>
              <a:t>Generate code (R, Python, etc.) for data cleaning complex statistical tests</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Create mock datasets used to test code or for teaching without the risks of exposing PHI data</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Accelerate pipeline development used to automate multi-step omics processing</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Extract clinical information from physician notes, discharge summaries, radiology reports, and pathology reports that would otherwise require manual chart review</a:t>
            </a:r>
          </a:p>
          <a:p>
            <a:endParaRPr lang="en-US" sz="800" dirty="0">
              <a:latin typeface="Avenir Book" panose="02000503020000020003" pitchFamily="2" charset="0"/>
            </a:endParaRPr>
          </a:p>
          <a:p>
            <a:pPr marL="800100" lvl="1" indent="-342900">
              <a:buFont typeface="Courier New" panose="02070309020205020404" pitchFamily="49" charset="0"/>
              <a:buChar char="o"/>
            </a:pPr>
            <a:r>
              <a:rPr lang="en-US" dirty="0">
                <a:latin typeface="Avenir Book" panose="02000503020000020003" pitchFamily="2" charset="0"/>
              </a:rPr>
              <a:t>Diagnoses, medications, procedures, lab values, symptoms, anatomical locations, etc.</a:t>
            </a:r>
          </a:p>
        </p:txBody>
      </p:sp>
    </p:spTree>
    <p:extLst>
      <p:ext uri="{BB962C8B-B14F-4D97-AF65-F5344CB8AC3E}">
        <p14:creationId xmlns:p14="http://schemas.microsoft.com/office/powerpoint/2010/main" val="2142179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4604A-A837-7181-0590-750E5768D19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EDD635-F1B4-AE83-3A95-ADF58996DD5B}"/>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D6712E7E-82DD-F6F4-A0D1-B0F47CFA51BB}"/>
              </a:ext>
            </a:extLst>
          </p:cNvPr>
          <p:cNvSpPr>
            <a:spLocks noGrp="1"/>
          </p:cNvSpPr>
          <p:nvPr>
            <p:ph type="body" sz="quarter" idx="15"/>
          </p:nvPr>
        </p:nvSpPr>
        <p:spPr/>
        <p:txBody>
          <a:bodyPr/>
          <a:lstStyle/>
          <a:p>
            <a:r>
              <a:rPr lang="en-US" dirty="0">
                <a:hlinkClick r:id="rId3"/>
              </a:rPr>
              <a:t>How can it benefit you?</a:t>
            </a:r>
            <a:endParaRPr lang="en-US" dirty="0"/>
          </a:p>
          <a:p>
            <a:endParaRPr lang="en-US" dirty="0"/>
          </a:p>
        </p:txBody>
      </p:sp>
      <p:sp>
        <p:nvSpPr>
          <p:cNvPr id="5" name="Slide Number Placeholder 4">
            <a:extLst>
              <a:ext uri="{FF2B5EF4-FFF2-40B4-BE49-F238E27FC236}">
                <a16:creationId xmlns:a16="http://schemas.microsoft.com/office/drawing/2014/main" id="{C35867B7-6710-8006-3E74-EF87B35709AF}"/>
              </a:ext>
            </a:extLst>
          </p:cNvPr>
          <p:cNvSpPr>
            <a:spLocks noGrp="1"/>
          </p:cNvSpPr>
          <p:nvPr>
            <p:ph type="sldNum" sz="quarter" idx="18"/>
          </p:nvPr>
        </p:nvSpPr>
        <p:spPr/>
        <p:txBody>
          <a:bodyPr/>
          <a:lstStyle/>
          <a:p>
            <a:fld id="{548469FB-C78A-B94B-B04A-B5BC8C934F85}" type="slidenum">
              <a:rPr lang="en-US" smtClean="0"/>
              <a:t>7</a:t>
            </a:fld>
            <a:endParaRPr lang="en-US"/>
          </a:p>
        </p:txBody>
      </p:sp>
      <p:sp>
        <p:nvSpPr>
          <p:cNvPr id="8" name="TextBox 7">
            <a:extLst>
              <a:ext uri="{FF2B5EF4-FFF2-40B4-BE49-F238E27FC236}">
                <a16:creationId xmlns:a16="http://schemas.microsoft.com/office/drawing/2014/main" id="{570AB034-4FF9-5F74-4FCE-B53CF981A8C4}"/>
              </a:ext>
            </a:extLst>
          </p:cNvPr>
          <p:cNvSpPr txBox="1"/>
          <p:nvPr/>
        </p:nvSpPr>
        <p:spPr>
          <a:xfrm>
            <a:off x="4385734" y="481712"/>
            <a:ext cx="7577666" cy="6247864"/>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Generates boilerplate code and initial drafts of functions instantly.</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Speeds up routine data manipulation and cleaning</a:t>
            </a:r>
          </a:p>
          <a:p>
            <a:pPr lvl="0" eaLnBrk="0" fontAlgn="base" hangingPunct="0">
              <a:spcBef>
                <a:spcPct val="0"/>
              </a:spcBef>
              <a:spcAft>
                <a:spcPct val="0"/>
              </a:spcAft>
            </a:pPr>
            <a:endParaRPr lang="en-US" altLang="en-US" sz="600" dirty="0">
              <a:solidFill>
                <a:srgbClr val="000000"/>
              </a:solidFill>
              <a:latin typeface="Avenir Book" panose="02000503020000020003" pitchFamily="2" charset="0"/>
            </a:endParaRPr>
          </a:p>
          <a:p>
            <a:pPr marL="800100" lvl="1" indent="-342900" eaLnBrk="0" fontAlgn="base" hangingPunct="0">
              <a:spcBef>
                <a:spcPct val="0"/>
              </a:spcBef>
              <a:spcAft>
                <a:spcPct val="0"/>
              </a:spcAft>
              <a:buFont typeface="Courier New" panose="02070309020205020404" pitchFamily="49" charset="0"/>
              <a:buChar char="o"/>
            </a:pPr>
            <a:r>
              <a:rPr lang="en-US" altLang="en-US" sz="2000" dirty="0">
                <a:solidFill>
                  <a:srgbClr val="000000"/>
                </a:solidFill>
                <a:latin typeface="Avenir Book" panose="02000503020000020003" pitchFamily="2" charset="0"/>
              </a:rPr>
              <a:t>handling missing values, reformatting datasets, etc.</a:t>
            </a:r>
          </a:p>
          <a:p>
            <a:pPr marL="800100" lvl="1" indent="-342900" eaLnBrk="0" fontAlgn="base" hangingPunct="0">
              <a:spcBef>
                <a:spcPct val="0"/>
              </a:spcBef>
              <a:spcAft>
                <a:spcPct val="0"/>
              </a:spcAft>
              <a:buFont typeface="Courier New" panose="02070309020205020404" pitchFamily="49" charset="0"/>
              <a:buChar char="o"/>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Rapid Visualization by creating complex plots from simple descriptions without you having to spend hours looking up syntax</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Real-time troubleshooting by providing instant explanations for error messages and suggests specific fixes</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acts as a personalized tutor for researchers switching between programming languages </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automatically generate comments and docstrings to make research code reproducible</a:t>
            </a:r>
            <a:endParaRPr lang="en-US" altLang="en-US" sz="2000" dirty="0">
              <a:latin typeface="Avenir Book" panose="02000503020000020003" pitchFamily="2" charset="0"/>
            </a:endParaRPr>
          </a:p>
          <a:p>
            <a:endParaRPr lang="en-US" sz="2000" dirty="0">
              <a:latin typeface="Avenir Book" panose="02000503020000020003" pitchFamily="2" charset="0"/>
            </a:endParaRPr>
          </a:p>
        </p:txBody>
      </p:sp>
    </p:spTree>
    <p:extLst>
      <p:ext uri="{BB962C8B-B14F-4D97-AF65-F5344CB8AC3E}">
        <p14:creationId xmlns:p14="http://schemas.microsoft.com/office/powerpoint/2010/main" val="8756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20B5-D5CF-62DD-2A6B-9E0D2CBF12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D29AD98-2741-37D4-421A-BA0086FDC7DC}"/>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E66356D7-79FC-8E0D-AC40-3055E28C6D44}"/>
              </a:ext>
            </a:extLst>
          </p:cNvPr>
          <p:cNvSpPr>
            <a:spLocks noGrp="1"/>
          </p:cNvSpPr>
          <p:nvPr>
            <p:ph type="body" sz="quarter" idx="15"/>
          </p:nvPr>
        </p:nvSpPr>
        <p:spPr/>
        <p:txBody>
          <a:bodyPr/>
          <a:lstStyle/>
          <a:p>
            <a:r>
              <a:rPr lang="en-US" dirty="0"/>
              <a:t>How is it being used at Yale currently</a:t>
            </a:r>
          </a:p>
          <a:p>
            <a:endParaRPr lang="en-US" dirty="0"/>
          </a:p>
        </p:txBody>
      </p:sp>
      <p:sp>
        <p:nvSpPr>
          <p:cNvPr id="5" name="Slide Number Placeholder 4">
            <a:extLst>
              <a:ext uri="{FF2B5EF4-FFF2-40B4-BE49-F238E27FC236}">
                <a16:creationId xmlns:a16="http://schemas.microsoft.com/office/drawing/2014/main" id="{0EB3136A-1C46-8C08-C74B-561171893715}"/>
              </a:ext>
            </a:extLst>
          </p:cNvPr>
          <p:cNvSpPr>
            <a:spLocks noGrp="1"/>
          </p:cNvSpPr>
          <p:nvPr>
            <p:ph type="sldNum" sz="quarter" idx="18"/>
          </p:nvPr>
        </p:nvSpPr>
        <p:spPr/>
        <p:txBody>
          <a:bodyPr/>
          <a:lstStyle/>
          <a:p>
            <a:fld id="{548469FB-C78A-B94B-B04A-B5BC8C934F85}" type="slidenum">
              <a:rPr lang="en-US" smtClean="0"/>
              <a:t>8</a:t>
            </a:fld>
            <a:endParaRPr lang="en-US"/>
          </a:p>
        </p:txBody>
      </p:sp>
      <p:sp>
        <p:nvSpPr>
          <p:cNvPr id="10" name="Rectangle 2">
            <a:extLst>
              <a:ext uri="{FF2B5EF4-FFF2-40B4-BE49-F238E27FC236}">
                <a16:creationId xmlns:a16="http://schemas.microsoft.com/office/drawing/2014/main" id="{143AF03F-C51C-4AB7-3BA9-82EBA5C35BD5}"/>
              </a:ext>
            </a:extLst>
          </p:cNvPr>
          <p:cNvSpPr>
            <a:spLocks noChangeArrowheads="1"/>
          </p:cNvSpPr>
          <p:nvPr/>
        </p:nvSpPr>
        <p:spPr bwMode="auto">
          <a:xfrm>
            <a:off x="4141824" y="136525"/>
            <a:ext cx="8171261"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3"/>
              </a:rPr>
              <a:t>Precision Oncology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AI frameworks to integrate clinical, genetic, and phenotypic data to create patient-specific prognostic tests, particularly for aggressive cancers like glioblastoma.</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4"/>
              </a:rPr>
              <a:t>Me-</a:t>
            </a:r>
            <a:r>
              <a:rPr kumimoji="0" lang="en-US" altLang="en-US" sz="1600" b="1" i="0" u="none" strike="noStrike" cap="none" normalizeH="0" baseline="0" dirty="0" err="1">
                <a:ln>
                  <a:noFill/>
                </a:ln>
                <a:solidFill>
                  <a:srgbClr val="000000"/>
                </a:solidFill>
                <a:effectLst/>
                <a:latin typeface="Avenir Book" panose="02000503020000020003" pitchFamily="2" charset="0"/>
                <a:hlinkClick r:id="rId4"/>
              </a:rPr>
              <a:t>LLaMA</a:t>
            </a:r>
            <a:r>
              <a:rPr kumimoji="0" lang="en-US" altLang="en-US" sz="1600" b="1" i="0" u="none" strike="noStrike" cap="none" normalizeH="0" baseline="0" dirty="0">
                <a:ln>
                  <a:noFill/>
                </a:ln>
                <a:solidFill>
                  <a:srgbClr val="000000"/>
                </a:solidFill>
                <a:effectLst/>
                <a:latin typeface="Avenir Book" panose="02000503020000020003" pitchFamily="2" charset="0"/>
                <a:hlinkClick r:id="rId4"/>
              </a:rPr>
              <a:t> Clinical Chatbot</a:t>
            </a:r>
            <a:r>
              <a:rPr kumimoji="0" lang="en-US" altLang="en-US" sz="1600" b="0" i="0" u="none" strike="noStrike" cap="none" normalizeH="0" baseline="0" dirty="0">
                <a:ln>
                  <a:noFill/>
                </a:ln>
                <a:solidFill>
                  <a:srgbClr val="000000"/>
                </a:solidFill>
                <a:effectLst/>
                <a:latin typeface="Avenir Book" panose="02000503020000020003" pitchFamily="2" charset="0"/>
                <a:hlinkClick r:id="rId4"/>
              </a:rPr>
              <a:t> </a:t>
            </a:r>
            <a:endParaRPr kumimoji="0" lang="en-US" altLang="en-US" sz="1600" b="0" i="0" u="none" strike="noStrike" cap="none" normalizeH="0" baseline="0" dirty="0">
              <a:ln>
                <a:noFill/>
              </a:ln>
              <a:solidFill>
                <a:srgbClr val="000000"/>
              </a:solidFill>
              <a:effectLst/>
              <a:latin typeface="Avenir Book" panose="02000503020000020003" pitchFamily="2" charset="0"/>
            </a:endParaRPr>
          </a:p>
          <a:p>
            <a:r>
              <a:rPr lang="en-US" sz="1600" dirty="0">
                <a:latin typeface="Avenir Book" panose="02000503020000020003" pitchFamily="2" charset="0"/>
              </a:rPr>
              <a:t>clinical chatbot designed to assist in diagnosing complex medical cases and summarizing clinical data, built to handle the nuances of medical terminology better than general-purpose AI.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000000"/>
                </a:solidFill>
                <a:effectLst/>
                <a:latin typeface="Avenir Book" panose="02000503020000020003" pitchFamily="2" charset="0"/>
                <a:hlinkClick r:id="rId5"/>
              </a:rPr>
              <a:t>spEMO</a:t>
            </a:r>
            <a:r>
              <a:rPr kumimoji="0" lang="en-US" altLang="en-US" sz="1600" b="1" i="0" u="none" strike="noStrike" cap="none" normalizeH="0" baseline="0" dirty="0">
                <a:ln>
                  <a:noFill/>
                </a:ln>
                <a:solidFill>
                  <a:srgbClr val="000000"/>
                </a:solidFill>
                <a:effectLst/>
                <a:latin typeface="Avenir Book" panose="02000503020000020003" pitchFamily="2" charset="0"/>
                <a:hlinkClick r:id="rId5"/>
              </a:rPr>
              <a:t> (Spatial Multi-Modal Embeddings)</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A new tool from the YSPH that uses AI to combine tissue slide images with gene and protein activity. It helps scientists "see" how cells interact in diseased tissue and even drafts medical reports for pathologists.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000000"/>
                </a:solidFill>
                <a:effectLst/>
                <a:latin typeface="Avenir Book" panose="02000503020000020003" pitchFamily="2" charset="0"/>
                <a:hlinkClick r:id="rId6"/>
              </a:rPr>
              <a:t>CardioGenAI</a:t>
            </a:r>
            <a:r>
              <a:rPr kumimoji="0" lang="en-US" altLang="en-US" sz="1600" b="1" i="0" u="none" strike="noStrike" cap="none" normalizeH="0" baseline="0" dirty="0">
                <a:ln>
                  <a:noFill/>
                </a:ln>
                <a:solidFill>
                  <a:srgbClr val="000000"/>
                </a:solidFill>
                <a:effectLst/>
                <a:latin typeface="Avenir Book" panose="02000503020000020003" pitchFamily="2" charset="0"/>
                <a:hlinkClick r:id="rId6"/>
              </a:rPr>
              <a:t> &amp; Drug Discovery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Generative models designed to synthesize novel small molecules for autoimmune diseases and cancer, drastically shortening the time to validate new drug leads.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7"/>
              </a:rPr>
              <a:t>Science Dissemination (Neurology)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GenAI (Google Notebook-LM) to transform complex flagship guidelines into synthetic podcasts and FAQs to make cutting-edge stroke research more accessible to clinicians.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8"/>
              </a:rPr>
              <a:t>Digital Twin Simulations</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Ongoing research in therapeutic radiology at Yale uses AI to build computational replicas of patients to simulate how they might respond to specific radiation therapies before treatment begins.</a:t>
            </a:r>
          </a:p>
        </p:txBody>
      </p:sp>
    </p:spTree>
    <p:extLst>
      <p:ext uri="{BB962C8B-B14F-4D97-AF65-F5344CB8AC3E}">
        <p14:creationId xmlns:p14="http://schemas.microsoft.com/office/powerpoint/2010/main" val="162600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D604-FD5D-97BE-293F-7D52CA2F69E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AC0B59D-66F6-A91F-EC36-7407A842E445}"/>
              </a:ext>
            </a:extLst>
          </p:cNvPr>
          <p:cNvSpPr>
            <a:spLocks noGrp="1"/>
          </p:cNvSpPr>
          <p:nvPr>
            <p:ph type="subTitle" idx="1"/>
          </p:nvPr>
        </p:nvSpPr>
        <p:spPr/>
        <p:txBody>
          <a:bodyPr/>
          <a:lstStyle/>
          <a:p>
            <a:endParaRPr lang="en-US"/>
          </a:p>
        </p:txBody>
      </p:sp>
      <p:pic>
        <p:nvPicPr>
          <p:cNvPr id="5" name="slide.url=https://www.polleverywhere.com/multiple_choice_polls/viXjqA8KjImbZMPArxaVL?state=opened&amp;flow=Default&amp;onscreen=persist">
            <a:extLst>
              <a:ext uri="{FF2B5EF4-FFF2-40B4-BE49-F238E27FC236}">
                <a16:creationId xmlns:a16="http://schemas.microsoft.com/office/drawing/2014/main" id="{F4A2F03A-AD65-B8CD-5ADE-CA77FAFA1620}"/>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7979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03553-D68A-795C-5CEC-B724C68CE55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92A9979-2F96-149F-9C62-42495F5A925F}"/>
              </a:ext>
            </a:extLst>
          </p:cNvPr>
          <p:cNvSpPr>
            <a:spLocks noGrp="1"/>
          </p:cNvSpPr>
          <p:nvPr>
            <p:ph type="subTitle" idx="1"/>
          </p:nvPr>
        </p:nvSpPr>
        <p:spPr/>
        <p:txBody>
          <a:bodyPr/>
          <a:lstStyle/>
          <a:p>
            <a:endParaRPr lang="en-US"/>
          </a:p>
        </p:txBody>
      </p:sp>
      <p:pic>
        <p:nvPicPr>
          <p:cNvPr id="5" name="slide.url=https://www.polleverywhere.com/multiple_choice_polls/gFSc3Cu7azVJShfC6M9zV?state=opened&amp;flow=Default&amp;onscreen=persist">
            <a:extLst>
              <a:ext uri="{FF2B5EF4-FFF2-40B4-BE49-F238E27FC236}">
                <a16:creationId xmlns:a16="http://schemas.microsoft.com/office/drawing/2014/main" id="{1ED6A270-B8E5-E7F8-38BB-AEEE6BE8B16B}"/>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273289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7941F-1CFE-A344-F8D9-0974E23034F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8929056-9198-BF6B-1158-8F7A1C4CAC7E}"/>
              </a:ext>
            </a:extLst>
          </p:cNvPr>
          <p:cNvSpPr>
            <a:spLocks noGrp="1"/>
          </p:cNvSpPr>
          <p:nvPr>
            <p:ph type="body" sz="quarter" idx="11"/>
          </p:nvPr>
        </p:nvSpPr>
        <p:spPr>
          <a:xfrm>
            <a:off x="575147" y="1706582"/>
            <a:ext cx="2866553" cy="1643569"/>
          </a:xfrm>
        </p:spPr>
        <p:txBody>
          <a:bodyPr/>
          <a:lstStyle/>
          <a:p>
            <a:r>
              <a:rPr lang="en-US" dirty="0">
                <a:latin typeface="YaleNew" panose="02000602050000020003" pitchFamily="2" charset="77"/>
              </a:rPr>
              <a:t>Yale’s Clarity Platform</a:t>
            </a:r>
          </a:p>
        </p:txBody>
      </p:sp>
      <p:sp>
        <p:nvSpPr>
          <p:cNvPr id="5" name="Text Placeholder 3">
            <a:extLst>
              <a:ext uri="{FF2B5EF4-FFF2-40B4-BE49-F238E27FC236}">
                <a16:creationId xmlns:a16="http://schemas.microsoft.com/office/drawing/2014/main" id="{D5F37129-9098-CCDD-6B6A-6F9131F81EC7}"/>
              </a:ext>
            </a:extLst>
          </p:cNvPr>
          <p:cNvSpPr>
            <a:spLocks noGrp="1"/>
          </p:cNvSpPr>
          <p:nvPr>
            <p:ph type="body" sz="quarter" idx="15"/>
          </p:nvPr>
        </p:nvSpPr>
        <p:spPr>
          <a:xfrm>
            <a:off x="658821" y="3162300"/>
            <a:ext cx="3030943" cy="266700"/>
          </a:xfrm>
        </p:spPr>
        <p:txBody>
          <a:bodyPr/>
          <a:lstStyle/>
          <a:p>
            <a:r>
              <a:rPr lang="en-US" dirty="0">
                <a:solidFill>
                  <a:schemeClr val="bg1"/>
                </a:solidFill>
              </a:rPr>
              <a:t>Overview</a:t>
            </a:r>
            <a:endParaRPr lang="en-US" dirty="0"/>
          </a:p>
        </p:txBody>
      </p:sp>
      <p:sp>
        <p:nvSpPr>
          <p:cNvPr id="4" name="Slide Number Placeholder 3">
            <a:extLst>
              <a:ext uri="{FF2B5EF4-FFF2-40B4-BE49-F238E27FC236}">
                <a16:creationId xmlns:a16="http://schemas.microsoft.com/office/drawing/2014/main" id="{C57B6852-9624-DD1F-CA17-9928032AE298}"/>
              </a:ext>
            </a:extLst>
          </p:cNvPr>
          <p:cNvSpPr>
            <a:spLocks noGrp="1"/>
          </p:cNvSpPr>
          <p:nvPr>
            <p:ph type="sldNum" sz="quarter" idx="18"/>
          </p:nvPr>
        </p:nvSpPr>
        <p:spPr/>
        <p:txBody>
          <a:bodyPr/>
          <a:lstStyle/>
          <a:p>
            <a:fld id="{548469FB-C78A-B94B-B04A-B5BC8C934F85}" type="slidenum">
              <a:rPr lang="en-US" smtClean="0"/>
              <a:t>11</a:t>
            </a:fld>
            <a:endParaRPr lang="en-US"/>
          </a:p>
        </p:txBody>
      </p:sp>
      <p:sp>
        <p:nvSpPr>
          <p:cNvPr id="7" name="TextBox 6">
            <a:extLst>
              <a:ext uri="{FF2B5EF4-FFF2-40B4-BE49-F238E27FC236}">
                <a16:creationId xmlns:a16="http://schemas.microsoft.com/office/drawing/2014/main" id="{806BA540-4790-BD28-D363-C523E30DB0DA}"/>
              </a:ext>
            </a:extLst>
          </p:cNvPr>
          <p:cNvSpPr txBox="1"/>
          <p:nvPr/>
        </p:nvSpPr>
        <p:spPr>
          <a:xfrm>
            <a:off x="4318408" y="351234"/>
            <a:ext cx="7529306" cy="6155531"/>
          </a:xfrm>
          <a:prstGeom prst="rect">
            <a:avLst/>
          </a:prstGeom>
          <a:noFill/>
        </p:spPr>
        <p:txBody>
          <a:bodyPr wrap="square" rtlCol="0">
            <a:spAutoFit/>
          </a:bodyPr>
          <a:lstStyle/>
          <a:p>
            <a:r>
              <a:rPr lang="en-US" altLang="en-US" sz="2000" b="1" dirty="0">
                <a:solidFill>
                  <a:srgbClr val="000000"/>
                </a:solidFill>
                <a:latin typeface="Avenir Book" panose="02000503020000020003" pitchFamily="2" charset="0"/>
              </a:rPr>
              <a:t>Yale’s secure home for generative AI</a:t>
            </a:r>
            <a:endParaRPr lang="en-US" altLang="en-US" sz="2000" b="1" dirty="0">
              <a:latin typeface="Avenir Book" panose="02000503020000020003" pitchFamily="2" charset="0"/>
            </a:endParaRPr>
          </a:p>
          <a:p>
            <a:endParaRPr lang="en-US" altLang="en-US" sz="1100" b="1" dirty="0">
              <a:solidFill>
                <a:srgbClr val="000000"/>
              </a:solidFill>
              <a:latin typeface="Avenir Book" panose="02000503020000020003" pitchFamily="2" charset="0"/>
              <a:hlinkClick r:id="rId3"/>
            </a:endParaRPr>
          </a:p>
          <a:p>
            <a:r>
              <a:rPr lang="en-US" altLang="en-US" b="1" dirty="0">
                <a:solidFill>
                  <a:srgbClr val="000000"/>
                </a:solidFill>
                <a:latin typeface="Avenir Book" panose="02000503020000020003" pitchFamily="2" charset="0"/>
                <a:hlinkClick r:id="rId3"/>
              </a:rPr>
              <a:t>Secure AI Gateway</a:t>
            </a:r>
            <a:endParaRPr lang="en-US" altLang="en-US" b="1" dirty="0">
              <a:solidFill>
                <a:srgbClr val="000000"/>
              </a:solidFill>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Provides access to multiple advanced AI models (GPT-4o, Claude 3.5 Sonnet, Gemini Pro, and others) within a secure, Yale-controlled environment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Free for Yale community (students, faculty, staff) with Yale NetID authentication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Enterprise-grade security infrastructure maintained by Yale IT</a:t>
            </a:r>
            <a:endParaRPr lang="en-US" altLang="en-US" sz="1600" dirty="0">
              <a:solidFill>
                <a:srgbClr val="000000"/>
              </a:solidFill>
              <a:latin typeface="Avenir Book" panose="02000503020000020003" pitchFamily="2" charset="0"/>
            </a:endParaRPr>
          </a:p>
          <a:p>
            <a:endParaRPr lang="en-US" altLang="en-US" sz="1200" dirty="0">
              <a:solidFill>
                <a:srgbClr val="000000"/>
              </a:solidFill>
              <a:latin typeface="Avenir Book" panose="02000503020000020003" pitchFamily="2" charset="0"/>
            </a:endParaRPr>
          </a:p>
          <a:p>
            <a:r>
              <a:rPr lang="en-US" b="1" dirty="0">
                <a:latin typeface="Avenir Book" panose="02000503020000020003" pitchFamily="2" charset="0"/>
                <a:hlinkClick r:id="rId4"/>
              </a:rPr>
              <a:t>Data Privacy Guarantee</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Your conversations and uploaded data are NOT used to train external AI models </a:t>
            </a:r>
          </a:p>
          <a:p>
            <a:pPr marL="285750" indent="-285750">
              <a:buFont typeface="Arial" panose="020B0604020202020204" pitchFamily="34" charset="0"/>
              <a:buChar char="•"/>
            </a:pPr>
            <a:endParaRPr lang="en-US" sz="11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Suitable for working with de-identified health data (check current Yale IRB guidance for specific use cases)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Information stays within Yale's controlled systems, not sent to public AI services </a:t>
            </a:r>
          </a:p>
          <a:p>
            <a:pPr marL="285750" indent="-285750">
              <a:buFont typeface="Arial" panose="020B0604020202020204" pitchFamily="34" charset="0"/>
              <a:buChar char="•"/>
            </a:pPr>
            <a:endParaRPr lang="en-US" sz="11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Meets Yale's data governance and security requirements</a:t>
            </a:r>
          </a:p>
          <a:p>
            <a:endParaRPr lang="en-US" sz="1100" dirty="0">
              <a:latin typeface="Avenir Book" panose="02000503020000020003" pitchFamily="2" charset="0"/>
            </a:endParaRPr>
          </a:p>
          <a:p>
            <a:pPr lvl="0" eaLnBrk="0" fontAlgn="base" hangingPunct="0">
              <a:spcBef>
                <a:spcPct val="0"/>
              </a:spcBef>
              <a:spcAft>
                <a:spcPct val="0"/>
              </a:spcAft>
            </a:pPr>
            <a:r>
              <a:rPr lang="en-US" altLang="en-US" dirty="0">
                <a:solidFill>
                  <a:srgbClr val="000000"/>
                </a:solidFill>
                <a:latin typeface="Arial" panose="020B0604020202020204" pitchFamily="34" charset="0"/>
                <a:hlinkClick r:id="rId5"/>
              </a:rPr>
              <a:t>Model Flexibility</a:t>
            </a:r>
            <a:endParaRPr lang="en-US" altLang="en-US" dirty="0">
              <a:solidFill>
                <a:srgbClr val="000000"/>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Allows researchers to "toggle" between different AI models to compare results (i.e. validating code accuracy)</a:t>
            </a:r>
            <a:endParaRPr lang="en-US" altLang="en-US" dirty="0">
              <a:solidFill>
                <a:srgbClr val="000000"/>
              </a:solidFill>
              <a:latin typeface="Arial" panose="020B0604020202020204" pitchFamily="34" charset="0"/>
            </a:endParaRPr>
          </a:p>
        </p:txBody>
      </p:sp>
      <p:sp>
        <p:nvSpPr>
          <p:cNvPr id="2" name="TextBox 1">
            <a:extLst>
              <a:ext uri="{FF2B5EF4-FFF2-40B4-BE49-F238E27FC236}">
                <a16:creationId xmlns:a16="http://schemas.microsoft.com/office/drawing/2014/main" id="{56604705-061E-969F-C711-2713975C1ADE}"/>
              </a:ext>
            </a:extLst>
          </p:cNvPr>
          <p:cNvSpPr txBox="1"/>
          <p:nvPr/>
        </p:nvSpPr>
        <p:spPr>
          <a:xfrm>
            <a:off x="-196298" y="5529129"/>
            <a:ext cx="184731" cy="646331"/>
          </a:xfrm>
          <a:prstGeom prst="rect">
            <a:avLst/>
          </a:prstGeom>
          <a:noFill/>
        </p:spPr>
        <p:txBody>
          <a:bodyPr wrap="non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441020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81B46-0B9E-1A19-AAE7-64C2E19B0AB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9D6F1A5-FEC3-C3B1-2D90-8F292000FD56}"/>
              </a:ext>
            </a:extLst>
          </p:cNvPr>
          <p:cNvSpPr>
            <a:spLocks noGrp="1"/>
          </p:cNvSpPr>
          <p:nvPr>
            <p:ph type="body" sz="quarter" idx="11"/>
          </p:nvPr>
        </p:nvSpPr>
        <p:spPr>
          <a:xfrm>
            <a:off x="575147" y="1706582"/>
            <a:ext cx="2866553" cy="1643569"/>
          </a:xfrm>
        </p:spPr>
        <p:txBody>
          <a:bodyPr/>
          <a:lstStyle/>
          <a:p>
            <a:r>
              <a:rPr lang="en-US" dirty="0">
                <a:latin typeface="YaleNew" panose="02000602050000020003" pitchFamily="2" charset="77"/>
              </a:rPr>
              <a:t>Yale’s Clarity Platform</a:t>
            </a:r>
          </a:p>
          <a:p>
            <a:endParaRPr lang="en-US" dirty="0">
              <a:latin typeface="YaleNew" panose="02000602050000020003" pitchFamily="2" charset="77"/>
            </a:endParaRPr>
          </a:p>
        </p:txBody>
      </p:sp>
      <p:sp>
        <p:nvSpPr>
          <p:cNvPr id="5" name="Text Placeholder 3">
            <a:extLst>
              <a:ext uri="{FF2B5EF4-FFF2-40B4-BE49-F238E27FC236}">
                <a16:creationId xmlns:a16="http://schemas.microsoft.com/office/drawing/2014/main" id="{59F07A57-3951-62D6-40E4-F8AD9E3090F2}"/>
              </a:ext>
            </a:extLst>
          </p:cNvPr>
          <p:cNvSpPr>
            <a:spLocks noGrp="1"/>
          </p:cNvSpPr>
          <p:nvPr>
            <p:ph type="body" sz="quarter" idx="15"/>
          </p:nvPr>
        </p:nvSpPr>
        <p:spPr>
          <a:xfrm>
            <a:off x="658821" y="3162300"/>
            <a:ext cx="3030943" cy="266700"/>
          </a:xfrm>
        </p:spPr>
        <p:txBody>
          <a:bodyPr/>
          <a:lstStyle/>
          <a:p>
            <a:r>
              <a:rPr lang="en-US" dirty="0">
                <a:solidFill>
                  <a:schemeClr val="bg1"/>
                </a:solidFill>
              </a:rPr>
              <a:t>Best practices</a:t>
            </a:r>
            <a:endParaRPr lang="en-US" dirty="0"/>
          </a:p>
        </p:txBody>
      </p:sp>
      <p:sp>
        <p:nvSpPr>
          <p:cNvPr id="4" name="Slide Number Placeholder 3">
            <a:extLst>
              <a:ext uri="{FF2B5EF4-FFF2-40B4-BE49-F238E27FC236}">
                <a16:creationId xmlns:a16="http://schemas.microsoft.com/office/drawing/2014/main" id="{5482B0AE-C21D-C3EE-6B57-E096D2EF75D2}"/>
              </a:ext>
            </a:extLst>
          </p:cNvPr>
          <p:cNvSpPr>
            <a:spLocks noGrp="1"/>
          </p:cNvSpPr>
          <p:nvPr>
            <p:ph type="sldNum" sz="quarter" idx="18"/>
          </p:nvPr>
        </p:nvSpPr>
        <p:spPr/>
        <p:txBody>
          <a:bodyPr/>
          <a:lstStyle/>
          <a:p>
            <a:fld id="{548469FB-C78A-B94B-B04A-B5BC8C934F85}" type="slidenum">
              <a:rPr lang="en-US" smtClean="0"/>
              <a:t>12</a:t>
            </a:fld>
            <a:endParaRPr lang="en-US"/>
          </a:p>
        </p:txBody>
      </p:sp>
      <p:sp>
        <p:nvSpPr>
          <p:cNvPr id="7" name="TextBox 6">
            <a:extLst>
              <a:ext uri="{FF2B5EF4-FFF2-40B4-BE49-F238E27FC236}">
                <a16:creationId xmlns:a16="http://schemas.microsoft.com/office/drawing/2014/main" id="{A147E2D3-5F44-F5A8-B6B4-D23062E8484F}"/>
              </a:ext>
            </a:extLst>
          </p:cNvPr>
          <p:cNvSpPr txBox="1"/>
          <p:nvPr/>
        </p:nvSpPr>
        <p:spPr>
          <a:xfrm>
            <a:off x="4271286" y="443567"/>
            <a:ext cx="7739373" cy="5293757"/>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venir Book" panose="02000503020000020003" pitchFamily="2" charset="0"/>
              </a:rPr>
              <a:t>Upload large script files</a:t>
            </a:r>
          </a:p>
          <a:p>
            <a:endParaRPr lang="en-US" sz="500" dirty="0">
              <a:latin typeface="Avenir Book" panose="02000503020000020003" pitchFamily="2" charset="0"/>
            </a:endParaRPr>
          </a:p>
          <a:p>
            <a:pPr marL="742950" lvl="1" indent="-285750">
              <a:buFont typeface="Courier New" panose="02070309020205020404" pitchFamily="49" charset="0"/>
              <a:buChar char="o"/>
            </a:pPr>
            <a:r>
              <a:rPr lang="en-US" sz="1600" dirty="0">
                <a:latin typeface="Avenir Book" panose="02000503020000020003" pitchFamily="2" charset="0"/>
              </a:rPr>
              <a:t>Save your file as (</a:t>
            </a:r>
            <a:r>
              <a:rPr lang="en-US" sz="1600" i="1" dirty="0">
                <a:latin typeface="Avenir Book" panose="02000503020000020003" pitchFamily="2" charset="0"/>
              </a:rPr>
              <a:t>save as</a:t>
            </a:r>
            <a:r>
              <a:rPr lang="en-US" sz="1600" dirty="0">
                <a:latin typeface="Avenir Book" panose="02000503020000020003" pitchFamily="2" charset="0"/>
              </a:rPr>
              <a:t>) a text (.txt) file</a:t>
            </a:r>
          </a:p>
          <a:p>
            <a:pPr marL="742950" lvl="1" indent="-285750">
              <a:buFont typeface="Courier New" panose="02070309020205020404" pitchFamily="49" charset="0"/>
              <a:buChar char="o"/>
            </a:pPr>
            <a:r>
              <a:rPr lang="en-US" sz="1600" dirty="0">
                <a:latin typeface="Avenir Book" panose="02000503020000020003" pitchFamily="2" charset="0"/>
              </a:rPr>
              <a:t>This can be used on common script file types: .R, .md, .</a:t>
            </a:r>
            <a:r>
              <a:rPr lang="en-US" sz="1600" dirty="0" err="1">
                <a:latin typeface="Avenir Book" panose="02000503020000020003" pitchFamily="2" charset="0"/>
              </a:rPr>
              <a:t>rmd</a:t>
            </a:r>
            <a:r>
              <a:rPr lang="en-US" sz="1600" dirty="0">
                <a:latin typeface="Avenir Book" panose="02000503020000020003" pitchFamily="2" charset="0"/>
              </a:rPr>
              <a:t>, .</a:t>
            </a:r>
            <a:r>
              <a:rPr lang="en-US" sz="1600" dirty="0" err="1">
                <a:latin typeface="Avenir Book" panose="02000503020000020003" pitchFamily="2" charset="0"/>
              </a:rPr>
              <a:t>qmd</a:t>
            </a:r>
            <a:r>
              <a:rPr lang="en-US" sz="1600" dirty="0">
                <a:latin typeface="Avenir Book" panose="02000503020000020003" pitchFamily="2" charset="0"/>
              </a:rPr>
              <a:t>, .</a:t>
            </a:r>
            <a:r>
              <a:rPr lang="en-US" sz="1600" dirty="0" err="1">
                <a:latin typeface="Avenir Book" panose="02000503020000020003" pitchFamily="2" charset="0"/>
              </a:rPr>
              <a:t>py</a:t>
            </a:r>
            <a:r>
              <a:rPr lang="en-US" sz="1600" dirty="0">
                <a:latin typeface="Avenir Book" panose="02000503020000020003" pitchFamily="2" charset="0"/>
              </a:rPr>
              <a:t>, .</a:t>
            </a:r>
            <a:r>
              <a:rPr lang="en-US" sz="1600" dirty="0" err="1">
                <a:latin typeface="Avenir Book" panose="02000503020000020003" pitchFamily="2" charset="0"/>
              </a:rPr>
              <a:t>ipnyd</a:t>
            </a:r>
            <a:r>
              <a:rPr lang="en-US" sz="1600" dirty="0">
                <a:latin typeface="Avenir Book" panose="02000503020000020003" pitchFamily="2" charset="0"/>
              </a:rPr>
              <a:t> (might be easier to do this manually)</a:t>
            </a:r>
          </a:p>
          <a:p>
            <a:endParaRPr lang="en-US" sz="1400"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Copy/paste smaller code chunks directly into prompt bar</a:t>
            </a:r>
          </a:p>
          <a:p>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De-identify data (remove names, MRNs, etc.) before uploading to the platform unless specifically required for the analysis</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Always test AI-generated code before using in production research </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Iterative Prompting (building block approach):</a:t>
            </a:r>
          </a:p>
          <a:p>
            <a:endParaRPr lang="en-US" sz="500" dirty="0">
              <a:latin typeface="Avenir Book" panose="02000503020000020003" pitchFamily="2" charset="0"/>
            </a:endParaRPr>
          </a:p>
          <a:p>
            <a:pPr marL="742950" lvl="1" indent="-285750">
              <a:buFont typeface="Courier New" panose="02070309020205020404" pitchFamily="49" charset="0"/>
              <a:buChar char="o"/>
            </a:pPr>
            <a:r>
              <a:rPr lang="en-US" sz="1600" dirty="0">
                <a:latin typeface="Avenir Book" panose="02000503020000020003" pitchFamily="2" charset="0"/>
              </a:rPr>
              <a:t>Don’t write complex 200-line script at once</a:t>
            </a:r>
          </a:p>
          <a:p>
            <a:pPr marL="742950" lvl="1" indent="-285750">
              <a:buFont typeface="Courier New" panose="02070309020205020404" pitchFamily="49" charset="0"/>
              <a:buChar char="o"/>
            </a:pPr>
            <a:r>
              <a:rPr lang="en-US" sz="1600" dirty="0">
                <a:latin typeface="Avenir Book" panose="02000503020000020003" pitchFamily="2" charset="0"/>
              </a:rPr>
              <a:t>Load data; Clean data; Run analysis; Create plot.</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Always evaluate and manually review code generated by AI, especially for statistical calculations or data-cleaning steps that impact study results</a:t>
            </a:r>
            <a:endParaRPr lang="en-US" altLang="en-US" dirty="0">
              <a:latin typeface="Avenir Book" panose="02000503020000020003" pitchFamily="2" charset="0"/>
            </a:endParaRPr>
          </a:p>
        </p:txBody>
      </p:sp>
    </p:spTree>
    <p:extLst>
      <p:ext uri="{BB962C8B-B14F-4D97-AF65-F5344CB8AC3E}">
        <p14:creationId xmlns:p14="http://schemas.microsoft.com/office/powerpoint/2010/main" val="3997785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E4B1FAE-92C9-B9F9-8DF8-0A29EA859347}"/>
              </a:ext>
            </a:extLst>
          </p:cNvPr>
          <p:cNvSpPr>
            <a:spLocks noGrp="1"/>
          </p:cNvSpPr>
          <p:nvPr>
            <p:ph type="pic" sz="quarter" idx="12"/>
          </p:nvPr>
        </p:nvSpPr>
        <p:spPr>
          <a:xfrm>
            <a:off x="4043680" y="0"/>
            <a:ext cx="8148320" cy="6858000"/>
          </a:xfrm>
        </p:spPr>
        <p:txBody>
          <a:bodyPr/>
          <a:lstStyle/>
          <a:p>
            <a:endParaRPr lang="en-US"/>
          </a:p>
        </p:txBody>
      </p:sp>
      <p:sp>
        <p:nvSpPr>
          <p:cNvPr id="3" name="Text Placeholder 2">
            <a:extLst>
              <a:ext uri="{FF2B5EF4-FFF2-40B4-BE49-F238E27FC236}">
                <a16:creationId xmlns:a16="http://schemas.microsoft.com/office/drawing/2014/main" id="{5F88C997-067F-A139-A807-EAD3ADB4BFBF}"/>
              </a:ext>
            </a:extLst>
          </p:cNvPr>
          <p:cNvSpPr>
            <a:spLocks noGrp="1"/>
          </p:cNvSpPr>
          <p:nvPr>
            <p:ph type="body" sz="quarter" idx="11"/>
          </p:nvPr>
        </p:nvSpPr>
        <p:spPr>
          <a:xfrm>
            <a:off x="494357" y="890878"/>
            <a:ext cx="3034570" cy="1376693"/>
          </a:xfrm>
        </p:spPr>
        <p:txBody>
          <a:bodyPr/>
          <a:lstStyle/>
          <a:p>
            <a:r>
              <a:rPr lang="en-US" dirty="0"/>
              <a:t>Clarity now Supports ePHI</a:t>
            </a:r>
          </a:p>
        </p:txBody>
      </p:sp>
      <p:sp>
        <p:nvSpPr>
          <p:cNvPr id="4" name="Text Placeholder 3">
            <a:extLst>
              <a:ext uri="{FF2B5EF4-FFF2-40B4-BE49-F238E27FC236}">
                <a16:creationId xmlns:a16="http://schemas.microsoft.com/office/drawing/2014/main" id="{734E69F3-7E48-8947-4CEA-4F677CA03437}"/>
              </a:ext>
            </a:extLst>
          </p:cNvPr>
          <p:cNvSpPr>
            <a:spLocks noGrp="1"/>
          </p:cNvSpPr>
          <p:nvPr>
            <p:ph type="body" sz="quarter" idx="15"/>
          </p:nvPr>
        </p:nvSpPr>
        <p:spPr>
          <a:xfrm>
            <a:off x="494357" y="3429000"/>
            <a:ext cx="3030943" cy="266700"/>
          </a:xfrm>
        </p:spPr>
        <p:txBody>
          <a:bodyPr/>
          <a:lstStyle/>
          <a:p>
            <a:endParaRPr lang="en-US" dirty="0"/>
          </a:p>
        </p:txBody>
      </p:sp>
      <p:sp>
        <p:nvSpPr>
          <p:cNvPr id="5" name="Slide Number Placeholder 4">
            <a:extLst>
              <a:ext uri="{FF2B5EF4-FFF2-40B4-BE49-F238E27FC236}">
                <a16:creationId xmlns:a16="http://schemas.microsoft.com/office/drawing/2014/main" id="{08AF5468-E4AC-1712-34AA-299DFF1D5034}"/>
              </a:ext>
            </a:extLst>
          </p:cNvPr>
          <p:cNvSpPr>
            <a:spLocks noGrp="1"/>
          </p:cNvSpPr>
          <p:nvPr>
            <p:ph type="sldNum" sz="quarter" idx="18"/>
          </p:nvPr>
        </p:nvSpPr>
        <p:spPr/>
        <p:txBody>
          <a:bodyPr/>
          <a:lstStyle/>
          <a:p>
            <a:fld id="{548469FB-C78A-B94B-B04A-B5BC8C934F85}" type="slidenum">
              <a:rPr lang="en-US" smtClean="0"/>
              <a:t>13</a:t>
            </a:fld>
            <a:endParaRPr lang="en-US"/>
          </a:p>
        </p:txBody>
      </p:sp>
      <p:sp>
        <p:nvSpPr>
          <p:cNvPr id="7" name="TextBox 6">
            <a:extLst>
              <a:ext uri="{FF2B5EF4-FFF2-40B4-BE49-F238E27FC236}">
                <a16:creationId xmlns:a16="http://schemas.microsoft.com/office/drawing/2014/main" id="{1807739B-3550-0A26-D99C-FE7A1E004F7D}"/>
              </a:ext>
            </a:extLst>
          </p:cNvPr>
          <p:cNvSpPr txBox="1"/>
          <p:nvPr/>
        </p:nvSpPr>
        <p:spPr>
          <a:xfrm>
            <a:off x="4292946" y="371713"/>
            <a:ext cx="7649787" cy="6370975"/>
          </a:xfrm>
          <a:prstGeom prst="rect">
            <a:avLst/>
          </a:prstGeom>
          <a:noFill/>
        </p:spPr>
        <p:txBody>
          <a:bodyPr wrap="square">
            <a:spAutoFit/>
          </a:bodyPr>
          <a:lstStyle/>
          <a:p>
            <a:pPr marL="285750" lvl="0" indent="-285750" algn="l">
              <a:buFont typeface="Arial" panose="020B0604020202020204" pitchFamily="34" charset="0"/>
              <a:buChar char="•"/>
            </a:pPr>
            <a:r>
              <a:rPr lang="en-US" sz="2400" b="0" i="0" u="none" strike="noStrike" dirty="0">
                <a:solidFill>
                  <a:schemeClr val="tx1"/>
                </a:solidFill>
                <a:effectLst/>
                <a:latin typeface="+mn-lt"/>
              </a:rPr>
              <a:t>Use is limited to approved workflows and must align with HIPAA, IRB, and Yale data governance requirements and, for clinical use cases, approval by the Enterprise Healthcare AI Governance process.</a:t>
            </a:r>
          </a:p>
          <a:p>
            <a:pPr marL="285750" lvl="0" indent="-285750" algn="l">
              <a:buFont typeface="Arial" panose="020B0604020202020204" pitchFamily="34" charset="0"/>
              <a:buChar char="•"/>
            </a:pPr>
            <a:endParaRPr lang="en-US" sz="2400" b="0" i="0" u="none" strike="noStrike" dirty="0">
              <a:solidFill>
                <a:schemeClr val="tx1"/>
              </a:solidFill>
              <a:effectLst/>
              <a:latin typeface="+mn-lt"/>
            </a:endParaRPr>
          </a:p>
          <a:p>
            <a:pPr marL="285750" lvl="0" indent="-285750" algn="l">
              <a:buFont typeface="Arial" panose="020B0604020202020204" pitchFamily="34" charset="0"/>
              <a:buChar char="•"/>
            </a:pPr>
            <a:r>
              <a:rPr lang="en-US" sz="2400" b="0" i="0" u="none" strike="noStrike" dirty="0">
                <a:solidFill>
                  <a:schemeClr val="tx1"/>
                </a:solidFill>
                <a:effectLst/>
                <a:latin typeface="+mn-lt"/>
              </a:rPr>
              <a:t>When users log into the </a:t>
            </a:r>
            <a:r>
              <a:rPr lang="en-US" sz="2400" b="0" i="0" u="sng" strike="noStrike" dirty="0">
                <a:solidFill>
                  <a:schemeClr val="tx1"/>
                </a:solidFill>
                <a:effectLst/>
                <a:latin typeface="+mn-lt"/>
                <a:hlinkClick r:id="rId2" tooltip="Clarity platform"/>
              </a:rPr>
              <a:t>Clarity platform</a:t>
            </a:r>
            <a:r>
              <a:rPr lang="en-US" sz="2400" b="0" i="0" u="none" strike="noStrike" dirty="0">
                <a:solidFill>
                  <a:schemeClr val="tx1"/>
                </a:solidFill>
                <a:effectLst/>
                <a:latin typeface="+mn-lt"/>
              </a:rPr>
              <a:t>, individuals in the </a:t>
            </a:r>
            <a:r>
              <a:rPr lang="en-US" sz="2400" b="0" i="0" u="sng" strike="noStrike" dirty="0">
                <a:solidFill>
                  <a:schemeClr val="tx1"/>
                </a:solidFill>
                <a:effectLst/>
                <a:latin typeface="+mn-lt"/>
                <a:hlinkClick r:id="rId3" tooltip="Yale University HIPAA Covered Entity"/>
              </a:rPr>
              <a:t>Yale University HIPAA Covered Entity</a:t>
            </a:r>
            <a:r>
              <a:rPr lang="en-US" sz="2400" b="0" i="0" u="none" strike="noStrike" dirty="0">
                <a:solidFill>
                  <a:schemeClr val="tx1"/>
                </a:solidFill>
                <a:effectLst/>
                <a:latin typeface="+mn-lt"/>
              </a:rPr>
              <a:t> will see a new “</a:t>
            </a:r>
            <a:r>
              <a:rPr lang="en-US" sz="2400" b="1" i="0" u="none" strike="noStrike" dirty="0">
                <a:solidFill>
                  <a:schemeClr val="tx1"/>
                </a:solidFill>
                <a:effectLst/>
                <a:latin typeface="+mn-lt"/>
              </a:rPr>
              <a:t>Health</a:t>
            </a:r>
            <a:r>
              <a:rPr lang="en-US" sz="2400" b="0" i="0" u="none" strike="noStrike" dirty="0">
                <a:solidFill>
                  <a:schemeClr val="tx1"/>
                </a:solidFill>
                <a:effectLst/>
                <a:latin typeface="+mn-lt"/>
              </a:rPr>
              <a:t>” option in the chatbot drop-down menu by default</a:t>
            </a:r>
          </a:p>
          <a:p>
            <a:pPr marL="285750" lvl="0" indent="-285750" algn="l">
              <a:buFont typeface="Arial" panose="020B0604020202020204" pitchFamily="34" charset="0"/>
              <a:buChar char="•"/>
            </a:pPr>
            <a:endParaRPr lang="en-US" sz="2400" b="0" i="0" u="none" strike="noStrike" dirty="0">
              <a:solidFill>
                <a:schemeClr val="tx1"/>
              </a:solidFill>
              <a:effectLst/>
              <a:latin typeface="+mn-lt"/>
            </a:endParaRPr>
          </a:p>
          <a:p>
            <a:pPr marL="285750" lvl="0" indent="-285750">
              <a:buFont typeface="Arial" panose="020B0604020202020204" pitchFamily="34" charset="0"/>
              <a:buChar char="•"/>
            </a:pPr>
            <a:r>
              <a:rPr lang="en-US" sz="2400" dirty="0"/>
              <a:t>Only </a:t>
            </a:r>
            <a:r>
              <a:rPr lang="en-US" sz="2400" u="sng" dirty="0">
                <a:hlinkClick r:id="rId4" tooltip="approved tools"/>
              </a:rPr>
              <a:t>approved tools</a:t>
            </a:r>
            <a:r>
              <a:rPr lang="en-US" sz="2400" dirty="0"/>
              <a:t> may be used for sensitive Health Sciences work (non-approved commercial and public chatbots are not permitted).</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Users who are not in the </a:t>
            </a:r>
            <a:r>
              <a:rPr lang="en-US" sz="2400" u="sng" dirty="0">
                <a:hlinkClick r:id="rId5" tooltip="Yale University HIPAA Covered Entity"/>
              </a:rPr>
              <a:t>Yale University HIPAA Covered Entity</a:t>
            </a:r>
            <a:r>
              <a:rPr lang="en-US" sz="2400" dirty="0"/>
              <a:t> who want access to the new Health chatbots must submit a request to the </a:t>
            </a:r>
            <a:r>
              <a:rPr lang="en-US" sz="2400" u="sng" dirty="0">
                <a:hlinkClick r:id="rId6" tooltip="ITS helpdesk"/>
              </a:rPr>
              <a:t>ITS helpdesk</a:t>
            </a:r>
            <a:r>
              <a:rPr lang="en-US" sz="2400" dirty="0"/>
              <a:t>.</a:t>
            </a:r>
          </a:p>
        </p:txBody>
      </p:sp>
      <p:pic>
        <p:nvPicPr>
          <p:cNvPr id="8" name="Picture 7">
            <a:extLst>
              <a:ext uri="{FF2B5EF4-FFF2-40B4-BE49-F238E27FC236}">
                <a16:creationId xmlns:a16="http://schemas.microsoft.com/office/drawing/2014/main" id="{351DA790-C716-A61B-B0E2-8DE5E11A02DB}"/>
              </a:ext>
            </a:extLst>
          </p:cNvPr>
          <p:cNvPicPr>
            <a:picLocks noChangeAspect="1"/>
          </p:cNvPicPr>
          <p:nvPr/>
        </p:nvPicPr>
        <p:blipFill>
          <a:blip r:embed="rId7"/>
          <a:stretch>
            <a:fillRect/>
          </a:stretch>
        </p:blipFill>
        <p:spPr>
          <a:xfrm>
            <a:off x="107559" y="3010867"/>
            <a:ext cx="3804538" cy="3159125"/>
          </a:xfrm>
          <a:prstGeom prst="rect">
            <a:avLst/>
          </a:prstGeom>
          <a:effectLst>
            <a:glow rad="173932">
              <a:schemeClr val="accent1">
                <a:alpha val="40000"/>
              </a:schemeClr>
            </a:glow>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AB5CD390-3ECF-88D7-FC89-7E2EBF89F0A7}"/>
              </a:ext>
            </a:extLst>
          </p:cNvPr>
          <p:cNvSpPr txBox="1"/>
          <p:nvPr/>
        </p:nvSpPr>
        <p:spPr>
          <a:xfrm>
            <a:off x="308668" y="6361658"/>
            <a:ext cx="6151418" cy="369332"/>
          </a:xfrm>
          <a:prstGeom prst="rect">
            <a:avLst/>
          </a:prstGeom>
          <a:noFill/>
        </p:spPr>
        <p:txBody>
          <a:bodyPr wrap="square">
            <a:spAutoFit/>
          </a:bodyPr>
          <a:lstStyle/>
          <a:p>
            <a:r>
              <a:rPr lang="en-US" sz="1800" dirty="0">
                <a:solidFill>
                  <a:schemeClr val="bg1"/>
                </a:solidFill>
              </a:rPr>
              <a:t>HSIT email sent on 3/26/2026</a:t>
            </a:r>
          </a:p>
        </p:txBody>
      </p:sp>
    </p:spTree>
    <p:extLst>
      <p:ext uri="{BB962C8B-B14F-4D97-AF65-F5344CB8AC3E}">
        <p14:creationId xmlns:p14="http://schemas.microsoft.com/office/powerpoint/2010/main" val="53435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E9C4-5D1F-0289-CF74-59A88453F03C}"/>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F2A3B7E-7D85-D8D7-628B-61793CC5E7E2}"/>
              </a:ext>
            </a:extLst>
          </p:cNvPr>
          <p:cNvSpPr>
            <a:spLocks noGrp="1"/>
          </p:cNvSpPr>
          <p:nvPr>
            <p:ph type="pic" sz="quarter" idx="12"/>
          </p:nvPr>
        </p:nvSpPr>
        <p:spPr>
          <a:xfrm>
            <a:off x="4043680" y="0"/>
            <a:ext cx="8148320" cy="6858000"/>
          </a:xfrm>
        </p:spPr>
        <p:txBody>
          <a:bodyPr/>
          <a:lstStyle/>
          <a:p>
            <a:endParaRPr lang="en-US"/>
          </a:p>
        </p:txBody>
      </p:sp>
      <p:sp>
        <p:nvSpPr>
          <p:cNvPr id="3" name="Text Placeholder 2">
            <a:extLst>
              <a:ext uri="{FF2B5EF4-FFF2-40B4-BE49-F238E27FC236}">
                <a16:creationId xmlns:a16="http://schemas.microsoft.com/office/drawing/2014/main" id="{EF327218-0716-C1C6-080C-2027DFDF46F1}"/>
              </a:ext>
            </a:extLst>
          </p:cNvPr>
          <p:cNvSpPr>
            <a:spLocks noGrp="1"/>
          </p:cNvSpPr>
          <p:nvPr>
            <p:ph type="body" sz="quarter" idx="11"/>
          </p:nvPr>
        </p:nvSpPr>
        <p:spPr>
          <a:xfrm>
            <a:off x="494357" y="890878"/>
            <a:ext cx="3034570" cy="1376693"/>
          </a:xfrm>
        </p:spPr>
        <p:txBody>
          <a:bodyPr/>
          <a:lstStyle/>
          <a:p>
            <a:r>
              <a:rPr lang="en-US" dirty="0"/>
              <a:t>Clarity now Supports ePHI</a:t>
            </a:r>
          </a:p>
        </p:txBody>
      </p:sp>
      <p:sp>
        <p:nvSpPr>
          <p:cNvPr id="4" name="Text Placeholder 3">
            <a:extLst>
              <a:ext uri="{FF2B5EF4-FFF2-40B4-BE49-F238E27FC236}">
                <a16:creationId xmlns:a16="http://schemas.microsoft.com/office/drawing/2014/main" id="{C741485B-CF72-D37C-453B-451D0A94630B}"/>
              </a:ext>
            </a:extLst>
          </p:cNvPr>
          <p:cNvSpPr>
            <a:spLocks noGrp="1"/>
          </p:cNvSpPr>
          <p:nvPr>
            <p:ph type="body" sz="quarter" idx="15"/>
          </p:nvPr>
        </p:nvSpPr>
        <p:spPr>
          <a:xfrm>
            <a:off x="494357" y="3429000"/>
            <a:ext cx="3030943" cy="266700"/>
          </a:xfrm>
        </p:spPr>
        <p:txBody>
          <a:bodyPr/>
          <a:lstStyle/>
          <a:p>
            <a:endParaRPr lang="en-US" dirty="0"/>
          </a:p>
        </p:txBody>
      </p:sp>
      <p:sp>
        <p:nvSpPr>
          <p:cNvPr id="5" name="Slide Number Placeholder 4">
            <a:extLst>
              <a:ext uri="{FF2B5EF4-FFF2-40B4-BE49-F238E27FC236}">
                <a16:creationId xmlns:a16="http://schemas.microsoft.com/office/drawing/2014/main" id="{193AE59D-BB9D-0D38-0356-4594D9183939}"/>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7" name="TextBox 6">
            <a:extLst>
              <a:ext uri="{FF2B5EF4-FFF2-40B4-BE49-F238E27FC236}">
                <a16:creationId xmlns:a16="http://schemas.microsoft.com/office/drawing/2014/main" id="{59B80808-D0A9-7A3E-5070-F9799BDCD24E}"/>
              </a:ext>
            </a:extLst>
          </p:cNvPr>
          <p:cNvSpPr txBox="1"/>
          <p:nvPr/>
        </p:nvSpPr>
        <p:spPr>
          <a:xfrm>
            <a:off x="4292946" y="371713"/>
            <a:ext cx="7649787" cy="6370975"/>
          </a:xfrm>
          <a:prstGeom prst="rect">
            <a:avLst/>
          </a:prstGeom>
          <a:noFill/>
        </p:spPr>
        <p:txBody>
          <a:bodyPr wrap="square">
            <a:spAutoFit/>
          </a:bodyPr>
          <a:lstStyle/>
          <a:p>
            <a:pPr marL="285750" lvl="0" indent="-285750">
              <a:buFont typeface="Arial" panose="020B0604020202020204" pitchFamily="34" charset="0"/>
              <a:buChar char="•"/>
            </a:pPr>
            <a:r>
              <a:rPr lang="en-US" sz="2400" dirty="0"/>
              <a:t>AI tools may not be used for independent clinical decision making such as diagnosis or treatment planning unless formally approved for that purpose.</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Research use involving identifiable data </a:t>
            </a:r>
            <a:r>
              <a:rPr lang="en-US" sz="2400" b="1" u="sng" dirty="0"/>
              <a:t>requires</a:t>
            </a:r>
            <a:r>
              <a:rPr lang="en-US" sz="2400" dirty="0"/>
              <a:t> IRB review or exemption.</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Users are responsible for the accuracy, appropriateness, and compliance of all AI-assisted outputs, as well as for meeting any additional reporting obligations required by other organizations.</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When using AI tools in Health Sciences environments,</a:t>
            </a:r>
            <a:r>
              <a:rPr lang="en-US" sz="2400" i="1" dirty="0"/>
              <a:t> </a:t>
            </a:r>
            <a:r>
              <a:rPr lang="en-US" sz="2400" dirty="0"/>
              <a:t>apply</a:t>
            </a:r>
            <a:r>
              <a:rPr lang="en-US" sz="2400" i="1" dirty="0"/>
              <a:t> Yale’s AI Review Framework for Trustworthy AI Systems</a:t>
            </a:r>
            <a:r>
              <a:rPr lang="en-US" sz="2400" dirty="0"/>
              <a:t> and </a:t>
            </a:r>
            <a:r>
              <a:rPr lang="en-US" sz="2400" u="sng" dirty="0">
                <a:hlinkClick r:id="rId2" tooltip="CHAI"/>
              </a:rPr>
              <a:t>CHAI</a:t>
            </a:r>
            <a:r>
              <a:rPr lang="en-US" sz="2400" dirty="0"/>
              <a:t> principles which guide Yale’s AI governance and Enterprise Healthcare AI Governance frameworks.</a:t>
            </a:r>
          </a:p>
        </p:txBody>
      </p:sp>
      <p:pic>
        <p:nvPicPr>
          <p:cNvPr id="8" name="Picture 7">
            <a:extLst>
              <a:ext uri="{FF2B5EF4-FFF2-40B4-BE49-F238E27FC236}">
                <a16:creationId xmlns:a16="http://schemas.microsoft.com/office/drawing/2014/main" id="{7E9BE13C-ABC3-8EAC-DB58-394EC1618AE6}"/>
              </a:ext>
            </a:extLst>
          </p:cNvPr>
          <p:cNvPicPr>
            <a:picLocks noChangeAspect="1"/>
          </p:cNvPicPr>
          <p:nvPr/>
        </p:nvPicPr>
        <p:blipFill>
          <a:blip r:embed="rId3"/>
          <a:stretch>
            <a:fillRect/>
          </a:stretch>
        </p:blipFill>
        <p:spPr>
          <a:xfrm>
            <a:off x="107559" y="3010867"/>
            <a:ext cx="3804538" cy="3159125"/>
          </a:xfrm>
          <a:prstGeom prst="rect">
            <a:avLst/>
          </a:prstGeom>
          <a:effectLst>
            <a:glow rad="173932">
              <a:schemeClr val="accent1">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268882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608B-48E5-0080-ED4F-5036DBF0675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DC3DB79-66ED-DA06-B364-99E97A3E8220}"/>
              </a:ext>
            </a:extLst>
          </p:cNvPr>
          <p:cNvSpPr>
            <a:spLocks noGrp="1"/>
          </p:cNvSpPr>
          <p:nvPr>
            <p:ph type="subTitle" idx="1"/>
          </p:nvPr>
        </p:nvSpPr>
        <p:spPr/>
        <p:txBody>
          <a:bodyPr/>
          <a:lstStyle/>
          <a:p>
            <a:endParaRPr lang="en-US"/>
          </a:p>
        </p:txBody>
      </p:sp>
      <p:pic>
        <p:nvPicPr>
          <p:cNvPr id="5" name="slide.url=https://www.polleverywhere.com/ranking_polls/6V0rBP2FWxZcxNCaVjD7y">
            <a:extLst>
              <a:ext uri="{FF2B5EF4-FFF2-40B4-BE49-F238E27FC236}">
                <a16:creationId xmlns:a16="http://schemas.microsoft.com/office/drawing/2014/main" id="{345E8465-04C9-C895-4C9F-C0E62C911119}"/>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39425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93B78-0AAC-A929-8049-590ED1A6451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730C12A-9DEF-669B-B170-E8DC5A8F045E}"/>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CFCA11BF-8E71-CA2C-447F-5848EEE36835}"/>
              </a:ext>
            </a:extLst>
          </p:cNvPr>
          <p:cNvSpPr>
            <a:spLocks noGrp="1"/>
          </p:cNvSpPr>
          <p:nvPr>
            <p:ph type="body" sz="quarter" idx="15"/>
          </p:nvPr>
        </p:nvSpPr>
        <p:spPr>
          <a:xfrm>
            <a:off x="624113" y="2816751"/>
            <a:ext cx="3030943" cy="266700"/>
          </a:xfrm>
        </p:spPr>
        <p:txBody>
          <a:bodyPr/>
          <a:lstStyle/>
          <a:p>
            <a:r>
              <a:rPr lang="en-US" dirty="0"/>
              <a:t>Overview</a:t>
            </a:r>
          </a:p>
        </p:txBody>
      </p:sp>
      <p:sp>
        <p:nvSpPr>
          <p:cNvPr id="5" name="Slide Number Placeholder 4">
            <a:extLst>
              <a:ext uri="{FF2B5EF4-FFF2-40B4-BE49-F238E27FC236}">
                <a16:creationId xmlns:a16="http://schemas.microsoft.com/office/drawing/2014/main" id="{71DAC22B-755E-9700-E891-2273B6E0A593}"/>
              </a:ext>
            </a:extLst>
          </p:cNvPr>
          <p:cNvSpPr>
            <a:spLocks noGrp="1"/>
          </p:cNvSpPr>
          <p:nvPr>
            <p:ph type="sldNum" sz="quarter" idx="18"/>
          </p:nvPr>
        </p:nvSpPr>
        <p:spPr/>
        <p:txBody>
          <a:bodyPr/>
          <a:lstStyle/>
          <a:p>
            <a:fld id="{548469FB-C78A-B94B-B04A-B5BC8C934F85}" type="slidenum">
              <a:rPr lang="en-US" smtClean="0"/>
              <a:t>16</a:t>
            </a:fld>
            <a:endParaRPr lang="en-US"/>
          </a:p>
        </p:txBody>
      </p:sp>
      <p:sp>
        <p:nvSpPr>
          <p:cNvPr id="6" name="TextBox 5">
            <a:extLst>
              <a:ext uri="{FF2B5EF4-FFF2-40B4-BE49-F238E27FC236}">
                <a16:creationId xmlns:a16="http://schemas.microsoft.com/office/drawing/2014/main" id="{BBF3EBBA-AC4C-04F2-8758-6D508C6777A4}"/>
              </a:ext>
            </a:extLst>
          </p:cNvPr>
          <p:cNvSpPr txBox="1"/>
          <p:nvPr/>
        </p:nvSpPr>
        <p:spPr>
          <a:xfrm>
            <a:off x="4503907" y="593389"/>
            <a:ext cx="7295744" cy="6309420"/>
          </a:xfrm>
          <a:prstGeom prst="rect">
            <a:avLst/>
          </a:prstGeom>
          <a:noFill/>
        </p:spPr>
        <p:txBody>
          <a:bodyPr wrap="square" rtlCol="0">
            <a:spAutoFit/>
          </a:bodyPr>
          <a:lstStyle/>
          <a:p>
            <a:r>
              <a:rPr lang="en-US" sz="2000" b="1" dirty="0">
                <a:solidFill>
                  <a:schemeClr val="tx2">
                    <a:lumMod val="90000"/>
                    <a:lumOff val="10000"/>
                  </a:schemeClr>
                </a:solidFill>
                <a:latin typeface="Avenir Book" panose="02000503020000020003" pitchFamily="2" charset="0"/>
              </a:rPr>
              <a:t>What is a </a:t>
            </a:r>
            <a:r>
              <a:rPr lang="en-US" sz="2000" b="1" dirty="0">
                <a:solidFill>
                  <a:srgbClr val="163E64"/>
                </a:solidFill>
                <a:latin typeface="Avenir Book" panose="02000503020000020003" pitchFamily="2" charset="0"/>
              </a:rPr>
              <a:t>prompt</a:t>
            </a:r>
            <a:r>
              <a:rPr lang="en-US" sz="2000" b="1" dirty="0">
                <a:solidFill>
                  <a:schemeClr val="tx2">
                    <a:lumMod val="90000"/>
                    <a:lumOff val="10000"/>
                  </a:schemeClr>
                </a:solidFill>
                <a:latin typeface="Avenir Book" panose="02000503020000020003" pitchFamily="2" charset="0"/>
              </a:rPr>
              <a:t>?</a:t>
            </a:r>
          </a:p>
          <a:p>
            <a:pPr marL="285750" indent="-285750">
              <a:buFont typeface="Arial" panose="020B0604020202020204" pitchFamily="34" charset="0"/>
              <a:buChar char="•"/>
            </a:pPr>
            <a:r>
              <a:rPr lang="en-US" dirty="0">
                <a:latin typeface="Avenir Book" panose="02000503020000020003" pitchFamily="2" charset="0"/>
              </a:rPr>
              <a:t>A clear, structured instruction given to an AI model</a:t>
            </a:r>
          </a:p>
          <a:p>
            <a:pPr marL="285750" indent="-285750">
              <a:buFont typeface="Arial" panose="020B0604020202020204" pitchFamily="34" charset="0"/>
              <a:buChar char="•"/>
            </a:pPr>
            <a:r>
              <a:rPr lang="en-US" dirty="0">
                <a:latin typeface="Avenir Book" panose="02000503020000020003" pitchFamily="2" charset="0"/>
              </a:rPr>
              <a:t>Acts as the interface between human intent and machine output</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Key elements of effective prompts:</a:t>
            </a:r>
          </a:p>
          <a:p>
            <a:pPr marL="285750" indent="-285750">
              <a:buFont typeface="Arial" panose="020B0604020202020204" pitchFamily="34" charset="0"/>
              <a:buChar char="•"/>
            </a:pPr>
            <a:r>
              <a:rPr lang="en-US" dirty="0">
                <a:latin typeface="Avenir Book" panose="02000503020000020003" pitchFamily="2" charset="0"/>
              </a:rPr>
              <a:t>Unambiguous language and explicit instructions</a:t>
            </a:r>
          </a:p>
          <a:p>
            <a:pPr marL="285750" indent="-285750">
              <a:buFont typeface="Arial" panose="020B0604020202020204" pitchFamily="34" charset="0"/>
              <a:buChar char="•"/>
            </a:pPr>
            <a:r>
              <a:rPr lang="en-US" dirty="0">
                <a:latin typeface="Avenir Book" panose="02000503020000020003" pitchFamily="2" charset="0"/>
              </a:rPr>
              <a:t>Relevant background information and constraints </a:t>
            </a:r>
          </a:p>
          <a:p>
            <a:pPr marL="285750" indent="-285750">
              <a:buFont typeface="Arial" panose="020B0604020202020204" pitchFamily="34" charset="0"/>
              <a:buChar char="•"/>
            </a:pPr>
            <a:r>
              <a:rPr lang="en-US" dirty="0">
                <a:latin typeface="Avenir Book" panose="02000503020000020003" pitchFamily="2" charset="0"/>
              </a:rPr>
              <a:t>Precise details about data, methods, software, and expected outputs</a:t>
            </a:r>
          </a:p>
          <a:p>
            <a:pPr marL="285750" indent="-285750">
              <a:buFont typeface="Arial" panose="020B0604020202020204" pitchFamily="34" charset="0"/>
              <a:buChar char="•"/>
            </a:pPr>
            <a:r>
              <a:rPr lang="en-US" dirty="0">
                <a:latin typeface="Avenir Book" panose="02000503020000020003" pitchFamily="2" charset="0"/>
              </a:rPr>
              <a:t>Defined structure for the desired result</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Why good prompting matters for research</a:t>
            </a:r>
            <a:r>
              <a:rPr lang="en-US" sz="2000" dirty="0">
                <a:solidFill>
                  <a:schemeClr val="tx2">
                    <a:lumMod val="90000"/>
                    <a:lumOff val="10000"/>
                  </a:schemeClr>
                </a:solidFill>
                <a:latin typeface="Avenir Book" panose="02000503020000020003" pitchFamily="2" charset="0"/>
              </a:rPr>
              <a:t>:</a:t>
            </a:r>
          </a:p>
          <a:p>
            <a:pPr marL="285750" indent="-285750">
              <a:buFont typeface="Arial" panose="020B0604020202020204" pitchFamily="34" charset="0"/>
              <a:buChar char="•"/>
            </a:pPr>
            <a:r>
              <a:rPr lang="en-US" dirty="0">
                <a:latin typeface="Avenir Book" panose="02000503020000020003" pitchFamily="2" charset="0"/>
              </a:rPr>
              <a:t>Reduces errors and misinterpretation</a:t>
            </a:r>
          </a:p>
          <a:p>
            <a:pPr marL="285750" indent="-285750">
              <a:buFont typeface="Arial" panose="020B0604020202020204" pitchFamily="34" charset="0"/>
              <a:buChar char="•"/>
            </a:pPr>
            <a:r>
              <a:rPr lang="en-US" dirty="0">
                <a:latin typeface="Avenir Book" panose="02000503020000020003" pitchFamily="2" charset="0"/>
              </a:rPr>
              <a:t>Ensures consistent, replicable results</a:t>
            </a:r>
          </a:p>
          <a:p>
            <a:pPr marL="285750" indent="-285750">
              <a:buFont typeface="Arial" panose="020B0604020202020204" pitchFamily="34" charset="0"/>
              <a:buChar char="•"/>
            </a:pPr>
            <a:r>
              <a:rPr lang="en-US" dirty="0">
                <a:latin typeface="Avenir Book" panose="02000503020000020003" pitchFamily="2" charset="0"/>
              </a:rPr>
              <a:t>Minimizes iterations and saves time</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The iterative nature of prompting:</a:t>
            </a:r>
          </a:p>
          <a:p>
            <a:pPr marL="285750" indent="-285750">
              <a:buFont typeface="Arial" panose="020B0604020202020204" pitchFamily="34" charset="0"/>
              <a:buChar char="•"/>
            </a:pPr>
            <a:r>
              <a:rPr lang="en-US" dirty="0">
                <a:latin typeface="Avenir Book" panose="02000503020000020003" pitchFamily="2" charset="0"/>
              </a:rPr>
              <a:t>Less is more</a:t>
            </a:r>
          </a:p>
          <a:p>
            <a:pPr marL="285750" indent="-285750">
              <a:buFont typeface="Arial" panose="020B0604020202020204" pitchFamily="34" charset="0"/>
              <a:buChar char="•"/>
            </a:pPr>
            <a:r>
              <a:rPr lang="en-US" dirty="0">
                <a:latin typeface="Avenir Book" panose="02000503020000020003" pitchFamily="2" charset="0"/>
              </a:rPr>
              <a:t>Refine prompts based on initial outputs</a:t>
            </a:r>
          </a:p>
          <a:p>
            <a:pPr marL="285750" indent="-285750">
              <a:buFont typeface="Arial" panose="020B0604020202020204" pitchFamily="34" charset="0"/>
              <a:buChar char="•"/>
            </a:pPr>
            <a:r>
              <a:rPr lang="en-US" dirty="0">
                <a:latin typeface="Avenir Book" panose="02000503020000020003" pitchFamily="2" charset="0"/>
              </a:rPr>
              <a:t>Adjust specificity and context as needed</a:t>
            </a:r>
          </a:p>
          <a:p>
            <a:endParaRPr lang="en-US" dirty="0">
              <a:latin typeface="Avenir Book" panose="02000503020000020003" pitchFamily="2" charset="0"/>
            </a:endParaRPr>
          </a:p>
          <a:p>
            <a:endParaRPr lang="en-US" dirty="0">
              <a:latin typeface="Avenir Book" panose="02000503020000020003" pitchFamily="2" charset="0"/>
            </a:endParaRPr>
          </a:p>
        </p:txBody>
      </p:sp>
    </p:spTree>
    <p:extLst>
      <p:ext uri="{BB962C8B-B14F-4D97-AF65-F5344CB8AC3E}">
        <p14:creationId xmlns:p14="http://schemas.microsoft.com/office/powerpoint/2010/main" val="1642128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FF1B-5D00-6F03-BB88-077E5983780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11A085D-7D6D-9EB4-1C97-C42B60BBE3C3}"/>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4B689A39-389A-FAE1-B40D-565D338787F1}"/>
              </a:ext>
            </a:extLst>
          </p:cNvPr>
          <p:cNvSpPr>
            <a:spLocks noGrp="1"/>
          </p:cNvSpPr>
          <p:nvPr>
            <p:ph type="body" sz="quarter" idx="15"/>
          </p:nvPr>
        </p:nvSpPr>
        <p:spPr>
          <a:xfrm>
            <a:off x="624113" y="2816751"/>
            <a:ext cx="3030943" cy="266700"/>
          </a:xfrm>
        </p:spPr>
        <p:txBody>
          <a:bodyPr/>
          <a:lstStyle/>
          <a:p>
            <a:r>
              <a:rPr lang="en-US" dirty="0"/>
              <a:t>Framework for success</a:t>
            </a:r>
          </a:p>
        </p:txBody>
      </p:sp>
      <p:sp>
        <p:nvSpPr>
          <p:cNvPr id="5" name="Slide Number Placeholder 4">
            <a:extLst>
              <a:ext uri="{FF2B5EF4-FFF2-40B4-BE49-F238E27FC236}">
                <a16:creationId xmlns:a16="http://schemas.microsoft.com/office/drawing/2014/main" id="{7CB095A6-5803-DDC8-8750-454FC54C09C8}"/>
              </a:ext>
            </a:extLst>
          </p:cNvPr>
          <p:cNvSpPr>
            <a:spLocks noGrp="1"/>
          </p:cNvSpPr>
          <p:nvPr>
            <p:ph type="sldNum" sz="quarter" idx="18"/>
          </p:nvPr>
        </p:nvSpPr>
        <p:spPr/>
        <p:txBody>
          <a:bodyPr/>
          <a:lstStyle/>
          <a:p>
            <a:fld id="{548469FB-C78A-B94B-B04A-B5BC8C934F85}" type="slidenum">
              <a:rPr lang="en-US" smtClean="0"/>
              <a:t>17</a:t>
            </a:fld>
            <a:endParaRPr lang="en-US"/>
          </a:p>
        </p:txBody>
      </p:sp>
      <p:sp>
        <p:nvSpPr>
          <p:cNvPr id="8" name="TextBox 7">
            <a:extLst>
              <a:ext uri="{FF2B5EF4-FFF2-40B4-BE49-F238E27FC236}">
                <a16:creationId xmlns:a16="http://schemas.microsoft.com/office/drawing/2014/main" id="{734DD4A7-2766-CEEE-F8E6-E314195EAE3E}"/>
              </a:ext>
            </a:extLst>
          </p:cNvPr>
          <p:cNvSpPr txBox="1"/>
          <p:nvPr/>
        </p:nvSpPr>
        <p:spPr>
          <a:xfrm>
            <a:off x="4510203" y="288945"/>
            <a:ext cx="7444011" cy="6432530"/>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Role</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Assign the AI a persona:</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You are an expert Bioinformatician</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You are a senior data scientist</a:t>
            </a: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This sets the tone and complexity of the code</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Task</a:t>
            </a: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Define the specific goal clearly</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Write a Python script to perform a t-test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Write R code to change the values of variable X from 0 to Yes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Context</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Provide the "environment”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My data is a CSV with 10 columns; the variable 'Group' is categorical”</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Provide DF names, variable names, etc. -&gt; </a:t>
            </a:r>
            <a:r>
              <a:rPr lang="en-US" altLang="en-US" sz="1600" dirty="0" err="1">
                <a:solidFill>
                  <a:srgbClr val="000000"/>
                </a:solidFill>
                <a:latin typeface="Avenir Book" panose="02000503020000020003" pitchFamily="2" charset="0"/>
              </a:rPr>
              <a:t>i.e</a:t>
            </a:r>
            <a:r>
              <a:rPr lang="en-US" altLang="en-US" sz="1600" dirty="0">
                <a:solidFill>
                  <a:srgbClr val="000000"/>
                </a:solidFill>
                <a:latin typeface="Avenir Book" panose="02000503020000020003" pitchFamily="2" charset="0"/>
              </a:rPr>
              <a:t> upload str() outputs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Constraints</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Set boundaries </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Use the </a:t>
            </a:r>
            <a:r>
              <a:rPr lang="en-US" altLang="en-US" sz="1600" dirty="0" err="1">
                <a:solidFill>
                  <a:srgbClr val="000000"/>
                </a:solidFill>
                <a:latin typeface="Avenir Book" panose="02000503020000020003" pitchFamily="2" charset="0"/>
              </a:rPr>
              <a:t>tidyverse</a:t>
            </a:r>
            <a:r>
              <a:rPr lang="en-US" altLang="en-US" sz="1600" dirty="0">
                <a:solidFill>
                  <a:srgbClr val="000000"/>
                </a:solidFill>
                <a:latin typeface="Avenir Book" panose="02000503020000020003" pitchFamily="2" charset="0"/>
              </a:rPr>
              <a:t> in R</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Do not use deprecated functions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Output (Format)</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Specify how you want the code</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In a single block with detailed comments for each line</a:t>
            </a:r>
          </a:p>
          <a:p>
            <a:pPr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Examples (</a:t>
            </a:r>
            <a:r>
              <a:rPr lang="en-US" altLang="en-US" sz="1600" b="1" dirty="0">
                <a:solidFill>
                  <a:schemeClr val="tx2">
                    <a:lumMod val="90000"/>
                    <a:lumOff val="10000"/>
                  </a:schemeClr>
                </a:solidFill>
                <a:latin typeface="Avenir Book" panose="02000503020000020003" pitchFamily="2" charset="0"/>
              </a:rPr>
              <a:t>Ask for)</a:t>
            </a:r>
            <a:endParaRPr lang="en-US" altLang="en-US" sz="16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Show input/output sample</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Show the Expected output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What data for this analysis usually looks like</a:t>
            </a:r>
          </a:p>
        </p:txBody>
      </p:sp>
    </p:spTree>
    <p:extLst>
      <p:ext uri="{BB962C8B-B14F-4D97-AF65-F5344CB8AC3E}">
        <p14:creationId xmlns:p14="http://schemas.microsoft.com/office/powerpoint/2010/main" val="873603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4E7A-3AF4-A10A-E45A-D4B940919D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D81A621-7469-197D-AD0A-4824A7B0CF71}"/>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2ECBDBC0-58D6-5108-F801-75061D7D6311}"/>
              </a:ext>
            </a:extLst>
          </p:cNvPr>
          <p:cNvSpPr>
            <a:spLocks noGrp="1"/>
          </p:cNvSpPr>
          <p:nvPr>
            <p:ph type="body" sz="quarter" idx="15"/>
          </p:nvPr>
        </p:nvSpPr>
        <p:spPr>
          <a:xfrm>
            <a:off x="624113" y="2816751"/>
            <a:ext cx="3030943" cy="266700"/>
          </a:xfrm>
        </p:spPr>
        <p:txBody>
          <a:bodyPr/>
          <a:lstStyle/>
          <a:p>
            <a:r>
              <a:rPr lang="en-US" dirty="0"/>
              <a:t>Evaluation</a:t>
            </a:r>
          </a:p>
        </p:txBody>
      </p:sp>
      <p:sp>
        <p:nvSpPr>
          <p:cNvPr id="5" name="Slide Number Placeholder 4">
            <a:extLst>
              <a:ext uri="{FF2B5EF4-FFF2-40B4-BE49-F238E27FC236}">
                <a16:creationId xmlns:a16="http://schemas.microsoft.com/office/drawing/2014/main" id="{82F57BF1-8BD5-69AB-EA05-310BD2A8D0BF}"/>
              </a:ext>
            </a:extLst>
          </p:cNvPr>
          <p:cNvSpPr>
            <a:spLocks noGrp="1"/>
          </p:cNvSpPr>
          <p:nvPr>
            <p:ph type="sldNum" sz="quarter" idx="18"/>
          </p:nvPr>
        </p:nvSpPr>
        <p:spPr/>
        <p:txBody>
          <a:bodyPr/>
          <a:lstStyle/>
          <a:p>
            <a:fld id="{548469FB-C78A-B94B-B04A-B5BC8C934F85}" type="slidenum">
              <a:rPr lang="en-US" smtClean="0"/>
              <a:t>18</a:t>
            </a:fld>
            <a:endParaRPr lang="en-US"/>
          </a:p>
        </p:txBody>
      </p:sp>
      <p:sp>
        <p:nvSpPr>
          <p:cNvPr id="9" name="TextBox 8">
            <a:extLst>
              <a:ext uri="{FF2B5EF4-FFF2-40B4-BE49-F238E27FC236}">
                <a16:creationId xmlns:a16="http://schemas.microsoft.com/office/drawing/2014/main" id="{41157E34-AEC8-FD2F-50FA-8C482E075CAD}"/>
              </a:ext>
            </a:extLst>
          </p:cNvPr>
          <p:cNvSpPr txBox="1"/>
          <p:nvPr/>
        </p:nvSpPr>
        <p:spPr>
          <a:xfrm>
            <a:off x="4396901" y="305068"/>
            <a:ext cx="7450309" cy="6309420"/>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rgbClr val="163E64"/>
                </a:solidFill>
                <a:latin typeface="Avenir Book" panose="02000503020000020003" pitchFamily="2" charset="0"/>
              </a:rPr>
              <a:t>Test (Never assume code works)</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Copy it into your local RStudio or </a:t>
            </a:r>
            <a:r>
              <a:rPr lang="en-US" altLang="en-US" dirty="0" err="1">
                <a:solidFill>
                  <a:srgbClr val="000000"/>
                </a:solidFill>
                <a:latin typeface="Avenir Book" panose="02000503020000020003" pitchFamily="2" charset="0"/>
              </a:rPr>
              <a:t>Jupyter</a:t>
            </a:r>
            <a:r>
              <a:rPr lang="en-US" altLang="en-US" dirty="0">
                <a:solidFill>
                  <a:srgbClr val="000000"/>
                </a:solidFill>
                <a:latin typeface="Avenir Book" panose="02000503020000020003" pitchFamily="2" charset="0"/>
              </a:rPr>
              <a:t> Notebook and run it with a subset of your data first</a:t>
            </a:r>
          </a:p>
          <a:p>
            <a:pPr lvl="0"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eaLnBrk="0" fontAlgn="base" hangingPunct="0">
              <a:spcBef>
                <a:spcPct val="0"/>
              </a:spcBef>
              <a:spcAft>
                <a:spcPct val="0"/>
              </a:spcAft>
            </a:pPr>
            <a:r>
              <a:rPr lang="en-US" altLang="en-US" b="1" dirty="0">
                <a:solidFill>
                  <a:srgbClr val="163E64"/>
                </a:solidFill>
                <a:latin typeface="Avenir Book" panose="02000503020000020003" pitchFamily="2" charset="0"/>
              </a:rPr>
              <a:t>Verification (Read the code line-by-line)</a:t>
            </a:r>
          </a:p>
          <a:p>
            <a:pPr eaLnBrk="0" fontAlgn="base" hangingPunct="0">
              <a:spcBef>
                <a:spcPct val="0"/>
              </a:spcBef>
              <a:spcAft>
                <a:spcPct val="0"/>
              </a:spcAft>
            </a:pPr>
            <a:r>
              <a:rPr lang="en-US" altLang="en-US" dirty="0">
                <a:solidFill>
                  <a:srgbClr val="000000"/>
                </a:solidFill>
                <a:latin typeface="Avenir Book" panose="02000503020000020003" pitchFamily="2" charset="0"/>
              </a:rPr>
              <a:t>Do the methods the AI chose match your study design</a:t>
            </a:r>
          </a:p>
          <a:p>
            <a:pPr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b="1" dirty="0">
                <a:solidFill>
                  <a:srgbClr val="163E64"/>
                </a:solidFill>
                <a:latin typeface="Avenir Book" panose="02000503020000020003" pitchFamily="2" charset="0"/>
              </a:rPr>
              <a:t>Check for Hallucinated Libraries</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AI occasionally invents packages, functions, dataset names that don't exist</a:t>
            </a:r>
          </a:p>
          <a:p>
            <a:pPr lvl="0"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eaLnBrk="0" fontAlgn="base" hangingPunct="0">
              <a:spcBef>
                <a:spcPct val="0"/>
              </a:spcBef>
              <a:spcAft>
                <a:spcPct val="0"/>
              </a:spcAft>
            </a:pPr>
            <a:r>
              <a:rPr lang="en-US" altLang="en-US" b="1" dirty="0">
                <a:solidFill>
                  <a:srgbClr val="163E64"/>
                </a:solidFill>
                <a:latin typeface="Avenir Book" panose="02000503020000020003" pitchFamily="2" charset="0"/>
              </a:rPr>
              <a:t>Security</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Before running, ensure the AI hasn't suggested an external API call that might send your data to an unverified third-party server.</a:t>
            </a:r>
          </a:p>
          <a:p>
            <a:pPr lvl="0" eaLnBrk="0" fontAlgn="base" hangingPunct="0">
              <a:spcBef>
                <a:spcPct val="0"/>
              </a:spcBef>
              <a:spcAft>
                <a:spcPct val="0"/>
              </a:spcAft>
            </a:pPr>
            <a:endParaRPr lang="en-US" altLang="en-US" sz="1600" dirty="0">
              <a:solidFill>
                <a:srgbClr val="163E64"/>
              </a:solidFill>
              <a:latin typeface="Avenir Book" panose="02000503020000020003" pitchFamily="2" charset="0"/>
            </a:endParaRPr>
          </a:p>
          <a:p>
            <a:pPr lvl="0" eaLnBrk="0" fontAlgn="base" hangingPunct="0">
              <a:spcBef>
                <a:spcPct val="0"/>
              </a:spcBef>
              <a:spcAft>
                <a:spcPct val="0"/>
              </a:spcAft>
            </a:pPr>
            <a:r>
              <a:rPr lang="en-US" altLang="en-US" b="1" dirty="0">
                <a:solidFill>
                  <a:srgbClr val="163E64"/>
                </a:solidFill>
                <a:latin typeface="Avenir Book" panose="02000503020000020003" pitchFamily="2" charset="0"/>
              </a:rPr>
              <a:t>Consistency Check</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Ask something like "Explain</a:t>
            </a:r>
            <a:r>
              <a:rPr lang="en-US" altLang="en-US" i="1" dirty="0">
                <a:solidFill>
                  <a:srgbClr val="000000"/>
                </a:solidFill>
                <a:latin typeface="Avenir Book" panose="02000503020000020003" pitchFamily="2" charset="0"/>
              </a:rPr>
              <a:t> the logic behind the function you just wrote"</a:t>
            </a:r>
            <a:r>
              <a:rPr lang="en-US" altLang="en-US" dirty="0">
                <a:solidFill>
                  <a:srgbClr val="000000"/>
                </a:solidFill>
                <a:latin typeface="Avenir Book" panose="02000503020000020003" pitchFamily="2" charset="0"/>
              </a:rPr>
              <a:t> If the explanation doesn't match the code, the output is unreliable</a:t>
            </a:r>
          </a:p>
          <a:p>
            <a:pPr lvl="0" eaLnBrk="0" fontAlgn="base" hangingPunct="0">
              <a:spcBef>
                <a:spcPct val="0"/>
              </a:spcBef>
              <a:spcAft>
                <a:spcPct val="0"/>
              </a:spcAft>
            </a:pPr>
            <a:endParaRPr lang="en-US" altLang="en-US" sz="1600" dirty="0">
              <a:latin typeface="Avenir Book" panose="02000503020000020003" pitchFamily="2" charset="0"/>
            </a:endParaRPr>
          </a:p>
          <a:p>
            <a:r>
              <a:rPr lang="en-US" altLang="en-US" b="1" dirty="0">
                <a:solidFill>
                  <a:srgbClr val="163E64"/>
                </a:solidFill>
                <a:latin typeface="Avenir Book" panose="02000503020000020003" pitchFamily="2" charset="0"/>
              </a:rPr>
              <a:t>Case Testing</a:t>
            </a:r>
          </a:p>
          <a:p>
            <a:r>
              <a:rPr lang="en-US" altLang="en-US" dirty="0">
                <a:latin typeface="Avenir Book" panose="02000503020000020003" pitchFamily="2" charset="0"/>
              </a:rPr>
              <a:t>Ask the AI, "What happens to this code if my data has missing values (NAs)?" Ensure the script handles medical data realities</a:t>
            </a:r>
          </a:p>
        </p:txBody>
      </p:sp>
    </p:spTree>
    <p:extLst>
      <p:ext uri="{BB962C8B-B14F-4D97-AF65-F5344CB8AC3E}">
        <p14:creationId xmlns:p14="http://schemas.microsoft.com/office/powerpoint/2010/main" val="3715177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33C3-175B-F97A-8B19-2DA6BA47BBE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70D017C-E6F7-C7C8-028E-CB0293D33867}"/>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62FCB43F-9002-F142-96B7-D1B78C10A4DE}"/>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543EA546-BF87-E0C9-2785-9D67CCE7E17B}"/>
              </a:ext>
            </a:extLst>
          </p:cNvPr>
          <p:cNvSpPr>
            <a:spLocks noGrp="1"/>
          </p:cNvSpPr>
          <p:nvPr>
            <p:ph type="sldNum" sz="quarter" idx="18"/>
          </p:nvPr>
        </p:nvSpPr>
        <p:spPr/>
        <p:txBody>
          <a:bodyPr/>
          <a:lstStyle/>
          <a:p>
            <a:fld id="{548469FB-C78A-B94B-B04A-B5BC8C934F85}" type="slidenum">
              <a:rPr lang="en-US" smtClean="0"/>
              <a:t>19</a:t>
            </a:fld>
            <a:endParaRPr lang="en-US"/>
          </a:p>
        </p:txBody>
      </p:sp>
      <p:sp>
        <p:nvSpPr>
          <p:cNvPr id="11" name="TextBox 10">
            <a:extLst>
              <a:ext uri="{FF2B5EF4-FFF2-40B4-BE49-F238E27FC236}">
                <a16:creationId xmlns:a16="http://schemas.microsoft.com/office/drawing/2014/main" id="{4FB3FE40-B81B-3AF4-B575-E5AE127788F3}"/>
              </a:ext>
            </a:extLst>
          </p:cNvPr>
          <p:cNvSpPr txBox="1"/>
          <p:nvPr/>
        </p:nvSpPr>
        <p:spPr>
          <a:xfrm>
            <a:off x="4318000" y="566678"/>
            <a:ext cx="7417750" cy="5724644"/>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endParaRPr lang="en-US" altLang="en-US" sz="2000" b="1" dirty="0">
              <a:solidFill>
                <a:srgbClr val="C00000"/>
              </a:solidFill>
              <a:latin typeface="Avenir Book" panose="02000503020000020003" pitchFamily="2" charset="0"/>
            </a:endParaRP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“Write a Python script to analyze this CSV file and make a plot.”</a:t>
            </a:r>
          </a:p>
          <a:p>
            <a:pPr lvl="0" eaLnBrk="0" fontAlgn="base" hangingPunct="0">
              <a:spcBef>
                <a:spcPct val="0"/>
              </a:spcBef>
              <a:spcAft>
                <a:spcPct val="0"/>
              </a:spcAft>
            </a:pPr>
            <a:endParaRPr lang="en-US" altLang="en-US" sz="1400" b="1"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It lacks Context and Constraints. The AI doesn't know which columns to use, what kind of analysis to perform, or what library (Matplotlib? </a:t>
            </a:r>
            <a:r>
              <a:rPr lang="en-US" altLang="en-US" sz="1400" dirty="0" err="1">
                <a:solidFill>
                  <a:srgbClr val="000000"/>
                </a:solidFill>
                <a:latin typeface="Avenir Book" panose="02000503020000020003" pitchFamily="2" charset="0"/>
              </a:rPr>
              <a:t>Plotly</a:t>
            </a:r>
            <a:r>
              <a:rPr lang="en-US" altLang="en-US" sz="1400" dirty="0">
                <a:solidFill>
                  <a:srgbClr val="000000"/>
                </a:solidFill>
                <a:latin typeface="Avenir Book" panose="02000503020000020003" pitchFamily="2" charset="0"/>
              </a:rPr>
              <a:t>? Seaborn?) you prefer.</a:t>
            </a: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2400" b="1" dirty="0">
                <a:solidFill>
                  <a:schemeClr val="accent6">
                    <a:lumMod val="50000"/>
                  </a:schemeClr>
                </a:solidFill>
                <a:latin typeface="Avenir Book" panose="02000503020000020003" pitchFamily="2" charset="0"/>
              </a:rPr>
              <a:t>Good</a:t>
            </a:r>
          </a:p>
          <a:p>
            <a:pPr lvl="0" eaLnBrk="0" fontAlgn="base" hangingPunct="0">
              <a:spcBef>
                <a:spcPct val="0"/>
              </a:spcBef>
              <a:spcAft>
                <a:spcPct val="0"/>
              </a:spcAft>
            </a:pPr>
            <a:endParaRPr lang="en-US" altLang="en-US" sz="1400" dirty="0">
              <a:latin typeface="Avenir Book" panose="02000503020000020003" pitchFamily="2" charset="0"/>
            </a:endParaRP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Role:</a:t>
            </a:r>
            <a:r>
              <a:rPr lang="en-US" altLang="en-US" dirty="0">
                <a:latin typeface="Avenir Book" panose="02000503020000020003" pitchFamily="2" charset="0"/>
              </a:rPr>
              <a:t> Act as a Senior Data Scientist.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Create a Python script using pandas and seaborn to analyze a dataset named </a:t>
            </a:r>
            <a:r>
              <a:rPr lang="en-US" altLang="en-US" dirty="0" err="1">
                <a:latin typeface="Avenir Book" panose="02000503020000020003" pitchFamily="2" charset="0"/>
              </a:rPr>
              <a:t>sales_data.csv</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The data contains columns for 'Date', 'Revenue', and '</a:t>
            </a:r>
            <a:r>
              <a:rPr lang="en-US" altLang="en-US" dirty="0" err="1">
                <a:latin typeface="Avenir Book" panose="02000503020000020003" pitchFamily="2" charset="0"/>
              </a:rPr>
              <a:t>Product_Category</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I need to handle missing values by filling them with the median.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Output:</a:t>
            </a:r>
            <a:r>
              <a:rPr lang="en-US" altLang="en-US" dirty="0">
                <a:latin typeface="Avenir Book" panose="02000503020000020003" pitchFamily="2" charset="0"/>
              </a:rPr>
              <a:t> Generate a line chart showing total monthly revenue trends and a bar chart of revenue by category. Include comments explaining each step.</a:t>
            </a:r>
          </a:p>
        </p:txBody>
      </p:sp>
    </p:spTree>
    <p:extLst>
      <p:ext uri="{BB962C8B-B14F-4D97-AF65-F5344CB8AC3E}">
        <p14:creationId xmlns:p14="http://schemas.microsoft.com/office/powerpoint/2010/main" val="1892294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90FED-5FC7-CA76-2279-8A2391F437F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44FA36-8802-C425-93F3-34F91215257B}"/>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335B95C8-18C7-CCA1-C1B6-D9C37AAF4DF7}"/>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DAB6B7E9-4346-E409-4777-A94FC073532E}"/>
              </a:ext>
            </a:extLst>
          </p:cNvPr>
          <p:cNvSpPr>
            <a:spLocks noGrp="1"/>
          </p:cNvSpPr>
          <p:nvPr>
            <p:ph type="sldNum" sz="quarter" idx="18"/>
          </p:nvPr>
        </p:nvSpPr>
        <p:spPr/>
        <p:txBody>
          <a:bodyPr/>
          <a:lstStyle/>
          <a:p>
            <a:fld id="{548469FB-C78A-B94B-B04A-B5BC8C934F85}" type="slidenum">
              <a:rPr lang="en-US" smtClean="0"/>
              <a:t>20</a:t>
            </a:fld>
            <a:endParaRPr lang="en-US"/>
          </a:p>
        </p:txBody>
      </p:sp>
      <p:sp>
        <p:nvSpPr>
          <p:cNvPr id="11" name="TextBox 10">
            <a:extLst>
              <a:ext uri="{FF2B5EF4-FFF2-40B4-BE49-F238E27FC236}">
                <a16:creationId xmlns:a16="http://schemas.microsoft.com/office/drawing/2014/main" id="{547C9DAF-31E3-E036-9412-26D440B3AB48}"/>
              </a:ext>
            </a:extLst>
          </p:cNvPr>
          <p:cNvSpPr txBox="1"/>
          <p:nvPr/>
        </p:nvSpPr>
        <p:spPr>
          <a:xfrm>
            <a:off x="4357169" y="905232"/>
            <a:ext cx="7417750" cy="5047536"/>
          </a:xfrm>
          <a:prstGeom prst="rect">
            <a:avLst/>
          </a:prstGeom>
          <a:noFill/>
        </p:spPr>
        <p:txBody>
          <a:bodyPr wrap="square" rtlCol="0">
            <a:spAutoFit/>
          </a:bodyPr>
          <a:lstStyle/>
          <a:p>
            <a:pPr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endParaRPr lang="en-US" altLang="en-US" b="1" dirty="0">
              <a:solidFill>
                <a:srgbClr val="C00000"/>
              </a:solidFill>
              <a:latin typeface="Avenir Book" panose="02000503020000020003" pitchFamily="2" charset="0"/>
            </a:endParaRP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"How do I filter data in R?”</a:t>
            </a: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This is too broad. Are you using Base R, </a:t>
            </a:r>
            <a:r>
              <a:rPr lang="en-US" altLang="en-US" sz="1400" dirty="0" err="1">
                <a:solidFill>
                  <a:srgbClr val="000000"/>
                </a:solidFill>
                <a:latin typeface="Avenir Book" panose="02000503020000020003" pitchFamily="2" charset="0"/>
              </a:rPr>
              <a:t>dplyr</a:t>
            </a:r>
            <a:r>
              <a:rPr lang="en-US" altLang="en-US" sz="1400" dirty="0">
                <a:solidFill>
                  <a:srgbClr val="000000"/>
                </a:solidFill>
                <a:latin typeface="Avenir Book" panose="02000503020000020003" pitchFamily="2" charset="0"/>
              </a:rPr>
              <a:t>, or </a:t>
            </a:r>
            <a:r>
              <a:rPr lang="en-US" altLang="en-US" sz="1400" dirty="0" err="1">
                <a:solidFill>
                  <a:srgbClr val="000000"/>
                </a:solidFill>
                <a:latin typeface="Avenir Book" panose="02000503020000020003" pitchFamily="2" charset="0"/>
              </a:rPr>
              <a:t>data.table</a:t>
            </a:r>
            <a:r>
              <a:rPr lang="en-US" altLang="en-US" sz="1400" dirty="0">
                <a:solidFill>
                  <a:srgbClr val="000000"/>
                </a:solidFill>
                <a:latin typeface="Avenir Book" panose="02000503020000020003" pitchFamily="2" charset="0"/>
              </a:rPr>
              <a:t>? What is the condition for filtering?</a:t>
            </a: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2400" b="1" dirty="0">
                <a:solidFill>
                  <a:schemeClr val="accent6">
                    <a:lumMod val="50000"/>
                  </a:schemeClr>
                </a:solidFill>
                <a:latin typeface="Avenir Book" panose="02000503020000020003" pitchFamily="2" charset="0"/>
              </a:rPr>
              <a:t>Good</a:t>
            </a:r>
          </a:p>
          <a:p>
            <a:pPr lvl="0" eaLnBrk="0" fontAlgn="base" hangingPunct="0">
              <a:spcBef>
                <a:spcPct val="0"/>
              </a:spcBef>
              <a:spcAft>
                <a:spcPct val="0"/>
              </a:spcAft>
            </a:pPr>
            <a:endParaRPr lang="en-US" altLang="en-US" sz="1400" dirty="0">
              <a:latin typeface="Avenir Book" panose="02000503020000020003" pitchFamily="2" charset="0"/>
            </a:endParaRP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Role:</a:t>
            </a:r>
            <a:r>
              <a:rPr lang="en-US" altLang="en-US" dirty="0">
                <a:latin typeface="Avenir Book" panose="02000503020000020003" pitchFamily="2" charset="0"/>
              </a:rPr>
              <a:t> Act as an R Programming Expert.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Provide a code snippet to filter a </a:t>
            </a:r>
            <a:r>
              <a:rPr lang="en-US" altLang="en-US" dirty="0" err="1">
                <a:latin typeface="Avenir Book" panose="02000503020000020003" pitchFamily="2" charset="0"/>
              </a:rPr>
              <a:t>dataframe</a:t>
            </a:r>
            <a:r>
              <a:rPr lang="en-US" altLang="en-US" dirty="0">
                <a:latin typeface="Avenir Book" panose="02000503020000020003" pitchFamily="2" charset="0"/>
              </a:rPr>
              <a:t> called </a:t>
            </a:r>
            <a:r>
              <a:rPr lang="en-US" altLang="en-US" dirty="0" err="1">
                <a:latin typeface="Avenir Book" panose="02000503020000020003" pitchFamily="2" charset="0"/>
              </a:rPr>
              <a:t>survey_results</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I am using the </a:t>
            </a:r>
            <a:r>
              <a:rPr lang="en-US" altLang="en-US" dirty="0" err="1">
                <a:latin typeface="Avenir Book" panose="02000503020000020003" pitchFamily="2" charset="0"/>
              </a:rPr>
              <a:t>tidyverse</a:t>
            </a:r>
            <a:r>
              <a:rPr lang="en-US" altLang="en-US" dirty="0">
                <a:latin typeface="Avenir Book" panose="02000503020000020003" pitchFamily="2" charset="0"/>
              </a:rPr>
              <a:t> library.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I only want to keep rows where the age is over 18 AND the status is 'Complete’.</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Output:</a:t>
            </a:r>
            <a:r>
              <a:rPr lang="en-US" altLang="en-US" dirty="0">
                <a:latin typeface="Avenir Book" panose="02000503020000020003" pitchFamily="2" charset="0"/>
              </a:rPr>
              <a:t> Provide the </a:t>
            </a:r>
            <a:r>
              <a:rPr lang="en-US" altLang="en-US" dirty="0" err="1">
                <a:latin typeface="Avenir Book" panose="02000503020000020003" pitchFamily="2" charset="0"/>
              </a:rPr>
              <a:t>dplyr</a:t>
            </a:r>
            <a:r>
              <a:rPr lang="en-US" altLang="en-US" dirty="0">
                <a:latin typeface="Avenir Book" panose="02000503020000020003" pitchFamily="2" charset="0"/>
              </a:rPr>
              <a:t> code and show how to pipe the output into a new object called </a:t>
            </a:r>
            <a:r>
              <a:rPr lang="en-US" altLang="en-US" dirty="0" err="1">
                <a:latin typeface="Avenir Book" panose="02000503020000020003" pitchFamily="2" charset="0"/>
              </a:rPr>
              <a:t>cleaned_data</a:t>
            </a:r>
            <a:r>
              <a:rPr lang="en-US" altLang="en-US" dirty="0">
                <a:latin typeface="Avenir Book" panose="02000503020000020003" pitchFamily="2" charset="0"/>
              </a:rPr>
              <a:t>.</a:t>
            </a:r>
          </a:p>
        </p:txBody>
      </p:sp>
    </p:spTree>
    <p:extLst>
      <p:ext uri="{BB962C8B-B14F-4D97-AF65-F5344CB8AC3E}">
        <p14:creationId xmlns:p14="http://schemas.microsoft.com/office/powerpoint/2010/main" val="2032281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7223-C49A-B5DF-70AC-3456B23F50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92CE978-FF13-E89D-8D27-70B70FE28937}"/>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2DA65517-95C4-AB16-A2CA-6B5E2B560116}"/>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54F06D93-0E17-B0EA-0145-488794A2A803}"/>
              </a:ext>
            </a:extLst>
          </p:cNvPr>
          <p:cNvSpPr>
            <a:spLocks noGrp="1"/>
          </p:cNvSpPr>
          <p:nvPr>
            <p:ph type="sldNum" sz="quarter" idx="18"/>
          </p:nvPr>
        </p:nvSpPr>
        <p:spPr/>
        <p:txBody>
          <a:bodyPr/>
          <a:lstStyle/>
          <a:p>
            <a:fld id="{548469FB-C78A-B94B-B04A-B5BC8C934F85}" type="slidenum">
              <a:rPr lang="en-US" smtClean="0"/>
              <a:t>21</a:t>
            </a:fld>
            <a:endParaRPr lang="en-US"/>
          </a:p>
        </p:txBody>
      </p:sp>
      <p:sp>
        <p:nvSpPr>
          <p:cNvPr id="11" name="TextBox 10">
            <a:extLst>
              <a:ext uri="{FF2B5EF4-FFF2-40B4-BE49-F238E27FC236}">
                <a16:creationId xmlns:a16="http://schemas.microsoft.com/office/drawing/2014/main" id="{B54C1174-79CB-2D87-4CB3-A1909E7753ED}"/>
              </a:ext>
            </a:extLst>
          </p:cNvPr>
          <p:cNvSpPr txBox="1"/>
          <p:nvPr/>
        </p:nvSpPr>
        <p:spPr>
          <a:xfrm>
            <a:off x="4386367" y="766732"/>
            <a:ext cx="7417750" cy="5324535"/>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p>
          <a:p>
            <a:pPr lvl="0" eaLnBrk="0" fontAlgn="base" hangingPunct="0">
              <a:spcBef>
                <a:spcPct val="0"/>
              </a:spcBef>
              <a:spcAft>
                <a:spcPct val="0"/>
              </a:spcAft>
            </a:pPr>
            <a:endParaRPr lang="en-US" altLang="en-US" sz="1400" b="1"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"Convert this SAS code to Python: </a:t>
            </a:r>
          </a:p>
          <a:p>
            <a:pPr lvl="0" eaLnBrk="0" fontAlgn="base" hangingPunct="0">
              <a:spcBef>
                <a:spcPct val="0"/>
              </a:spcBef>
              <a:spcAft>
                <a:spcPct val="0"/>
              </a:spcAft>
            </a:pPr>
            <a:r>
              <a:rPr lang="en-US" altLang="en-US" dirty="0">
                <a:latin typeface="Avenir Book" panose="02000503020000020003" pitchFamily="2" charset="0"/>
              </a:rPr>
              <a:t>proc means data=</a:t>
            </a:r>
            <a:r>
              <a:rPr lang="en-US" altLang="en-US" dirty="0" err="1">
                <a:latin typeface="Avenir Book" panose="02000503020000020003" pitchFamily="2" charset="0"/>
              </a:rPr>
              <a:t>work.test</a:t>
            </a:r>
            <a:r>
              <a:rPr lang="en-US" altLang="en-US" dirty="0">
                <a:latin typeface="Avenir Book" panose="02000503020000020003" pitchFamily="2" charset="0"/>
              </a:rPr>
              <a:t>; var age; run;”</a:t>
            </a: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While the AI might get it right, it often misses the "Why." It might provide a basic result without considering how Python handles </a:t>
            </a:r>
            <a:r>
              <a:rPr lang="en-US" altLang="en-US" sz="1400" dirty="0" err="1">
                <a:solidFill>
                  <a:srgbClr val="000000"/>
                </a:solidFill>
                <a:latin typeface="Avenir Book" panose="02000503020000020003" pitchFamily="2" charset="0"/>
              </a:rPr>
              <a:t>dataframes</a:t>
            </a:r>
            <a:r>
              <a:rPr lang="en-US" altLang="en-US" sz="1400" dirty="0">
                <a:solidFill>
                  <a:srgbClr val="000000"/>
                </a:solidFill>
                <a:latin typeface="Avenir Book" panose="02000503020000020003" pitchFamily="2" charset="0"/>
              </a:rPr>
              <a:t> vs. SAS libraries.</a:t>
            </a:r>
          </a:p>
          <a:p>
            <a:endParaRPr lang="en-US" sz="1400" dirty="0">
              <a:latin typeface="Avenir Book" panose="02000503020000020003" pitchFamily="2" charset="0"/>
            </a:endParaRPr>
          </a:p>
          <a:p>
            <a:endParaRPr lang="en-US" sz="1400" dirty="0">
              <a:latin typeface="Avenir Book" panose="02000503020000020003" pitchFamily="2" charset="0"/>
            </a:endParaRPr>
          </a:p>
          <a:p>
            <a:endParaRPr lang="en-US" sz="1400" dirty="0">
              <a:latin typeface="Avenir Book" panose="02000503020000020003" pitchFamily="2" charset="0"/>
            </a:endParaRPr>
          </a:p>
          <a:p>
            <a:r>
              <a:rPr lang="en-US" sz="2400" b="1" dirty="0">
                <a:solidFill>
                  <a:schemeClr val="accent6">
                    <a:lumMod val="50000"/>
                  </a:schemeClr>
                </a:solidFill>
                <a:latin typeface="Avenir Book" panose="02000503020000020003" pitchFamily="2" charset="0"/>
              </a:rPr>
              <a:t>Good</a:t>
            </a:r>
            <a:endParaRPr lang="en-US" sz="1400" b="1" dirty="0">
              <a:solidFill>
                <a:schemeClr val="accent6">
                  <a:lumMod val="50000"/>
                </a:schemeClr>
              </a:solidFill>
              <a:latin typeface="Avenir Book" panose="02000503020000020003" pitchFamily="2" charset="0"/>
            </a:endParaRPr>
          </a:p>
          <a:p>
            <a:endParaRPr lang="en-US" sz="1400" dirty="0">
              <a:latin typeface="Avenir Book" panose="02000503020000020003" pitchFamily="2" charset="0"/>
            </a:endParaRPr>
          </a:p>
          <a:p>
            <a:pPr marL="285750" indent="-285750">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Translate the provided SAS PROC MEANS step into Python code. </a:t>
            </a:r>
          </a:p>
          <a:p>
            <a:pPr marL="285750" indent="-285750">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I am migrating a clinical trial workflow from SAS to a </a:t>
            </a:r>
            <a:r>
              <a:rPr lang="en-US" altLang="en-US" dirty="0" err="1">
                <a:latin typeface="Avenir Book" panose="02000503020000020003" pitchFamily="2" charset="0"/>
              </a:rPr>
              <a:t>Jupyter</a:t>
            </a:r>
            <a:r>
              <a:rPr lang="en-US" altLang="en-US" dirty="0">
                <a:latin typeface="Avenir Book" panose="02000503020000020003" pitchFamily="2" charset="0"/>
              </a:rPr>
              <a:t> Notebook environment using pandas. </a:t>
            </a:r>
          </a:p>
          <a:p>
            <a:pPr marL="285750" indent="-285750">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Ensure the output includes the mean, standard deviation, and N (count), matching the default SAS output format. </a:t>
            </a:r>
          </a:p>
          <a:p>
            <a:pPr marL="285750" indent="-285750">
              <a:buFont typeface="Wingdings" pitchFamily="2" charset="2"/>
              <a:buChar char="§"/>
            </a:pPr>
            <a:r>
              <a:rPr lang="en-US" altLang="en-US" b="1" dirty="0">
                <a:latin typeface="Avenir Book" panose="02000503020000020003" pitchFamily="2" charset="0"/>
              </a:rPr>
              <a:t>Evaluation:</a:t>
            </a:r>
            <a:r>
              <a:rPr lang="en-US" altLang="en-US" dirty="0">
                <a:latin typeface="Avenir Book" panose="02000503020000020003" pitchFamily="2" charset="0"/>
              </a:rPr>
              <a:t> Does the Python output handle </a:t>
            </a:r>
            <a:r>
              <a:rPr lang="en-US" altLang="en-US" dirty="0" err="1">
                <a:latin typeface="Avenir Book" panose="02000503020000020003" pitchFamily="2" charset="0"/>
              </a:rPr>
              <a:t>NaN</a:t>
            </a:r>
            <a:r>
              <a:rPr lang="en-US" altLang="en-US" dirty="0">
                <a:latin typeface="Avenir Book" panose="02000503020000020003" pitchFamily="2" charset="0"/>
              </a:rPr>
              <a:t> values the same way SAS excludes missing values in summary statistics?</a:t>
            </a:r>
          </a:p>
        </p:txBody>
      </p:sp>
    </p:spTree>
    <p:extLst>
      <p:ext uri="{BB962C8B-B14F-4D97-AF65-F5344CB8AC3E}">
        <p14:creationId xmlns:p14="http://schemas.microsoft.com/office/powerpoint/2010/main" val="4201326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00AA-AB11-1DF9-D904-15B895C4A23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20E8F1D-DCE3-8788-A1B5-91E25A81BB17}"/>
              </a:ext>
            </a:extLst>
          </p:cNvPr>
          <p:cNvSpPr>
            <a:spLocks noGrp="1"/>
          </p:cNvSpPr>
          <p:nvPr>
            <p:ph type="subTitle" idx="1"/>
          </p:nvPr>
        </p:nvSpPr>
        <p:spPr/>
        <p:txBody>
          <a:bodyPr/>
          <a:lstStyle/>
          <a:p>
            <a:endParaRPr lang="en-US"/>
          </a:p>
        </p:txBody>
      </p:sp>
      <p:pic>
        <p:nvPicPr>
          <p:cNvPr id="5" name="slide.url=https://www.polleverywhere.com/multiple_choice_polls/BJYxlK9hpVgbmrRRtfpvr?state=opened&amp;flow=Default&amp;onscreen=persist">
            <a:extLst>
              <a:ext uri="{FF2B5EF4-FFF2-40B4-BE49-F238E27FC236}">
                <a16:creationId xmlns:a16="http://schemas.microsoft.com/office/drawing/2014/main" id="{33D4DC63-A754-03C8-9AAD-1763294DC63E}"/>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330953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CD35-6B0E-709C-6E94-5A4257629D8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9B04AAE-7C36-A643-11D0-9191DEF7C835}"/>
              </a:ext>
            </a:extLst>
          </p:cNvPr>
          <p:cNvSpPr>
            <a:spLocks noGrp="1"/>
          </p:cNvSpPr>
          <p:nvPr>
            <p:ph type="body" sz="quarter" idx="11"/>
          </p:nvPr>
        </p:nvSpPr>
        <p:spPr>
          <a:xfrm>
            <a:off x="558799" y="1714500"/>
            <a:ext cx="3147787" cy="2334986"/>
          </a:xfrm>
        </p:spPr>
        <p:txBody>
          <a:bodyPr vert="horz" lIns="91440" tIns="45720" rIns="91440" bIns="45720" rtlCol="0">
            <a:noAutofit/>
          </a:bodyPr>
          <a:lstStyle/>
          <a:p>
            <a:r>
              <a:rPr lang="en-US" dirty="0">
                <a:latin typeface="YaleNew" panose="02000602050000020003" pitchFamily="2" charset="77"/>
              </a:rPr>
              <a:t>Exercise</a:t>
            </a:r>
          </a:p>
        </p:txBody>
      </p:sp>
      <p:sp>
        <p:nvSpPr>
          <p:cNvPr id="5" name="Slide Number Placeholder 4">
            <a:extLst>
              <a:ext uri="{FF2B5EF4-FFF2-40B4-BE49-F238E27FC236}">
                <a16:creationId xmlns:a16="http://schemas.microsoft.com/office/drawing/2014/main" id="{185DA0AC-1D5C-2CBF-3427-889B89533094}"/>
              </a:ext>
            </a:extLst>
          </p:cNvPr>
          <p:cNvSpPr>
            <a:spLocks noGrp="1"/>
          </p:cNvSpPr>
          <p:nvPr>
            <p:ph type="sldNum" sz="quarter" idx="18"/>
          </p:nvPr>
        </p:nvSpPr>
        <p:spPr/>
        <p:txBody>
          <a:bodyPr/>
          <a:lstStyle/>
          <a:p>
            <a:fld id="{548469FB-C78A-B94B-B04A-B5BC8C934F85}" type="slidenum">
              <a:rPr lang="en-US" smtClean="0"/>
              <a:t>23</a:t>
            </a:fld>
            <a:endParaRPr lang="en-US"/>
          </a:p>
        </p:txBody>
      </p:sp>
      <p:sp>
        <p:nvSpPr>
          <p:cNvPr id="4" name="TextBox 3">
            <a:extLst>
              <a:ext uri="{FF2B5EF4-FFF2-40B4-BE49-F238E27FC236}">
                <a16:creationId xmlns:a16="http://schemas.microsoft.com/office/drawing/2014/main" id="{06F08708-6D40-2175-1B4D-2AB52CEEDECD}"/>
              </a:ext>
            </a:extLst>
          </p:cNvPr>
          <p:cNvSpPr txBox="1"/>
          <p:nvPr/>
        </p:nvSpPr>
        <p:spPr>
          <a:xfrm>
            <a:off x="4315626" y="240804"/>
            <a:ext cx="7563028" cy="6617196"/>
          </a:xfrm>
          <a:prstGeom prst="rect">
            <a:avLst/>
          </a:prstGeom>
          <a:noFill/>
        </p:spPr>
        <p:txBody>
          <a:bodyPr wrap="square" rtlCol="0">
            <a:spAutoFit/>
          </a:bodyPr>
          <a:lstStyle/>
          <a:p>
            <a:r>
              <a:rPr lang="en-US" sz="2000" dirty="0">
                <a:latin typeface="Avenir Book" panose="02000503020000020003" pitchFamily="2" charset="0"/>
              </a:rPr>
              <a:t>Using Clarity and what you’ve learned about prompting complete the following:</a:t>
            </a:r>
          </a:p>
          <a:p>
            <a:endParaRPr lang="en-US" sz="2000" dirty="0">
              <a:latin typeface="Avenir Book" panose="02000503020000020003" pitchFamily="2" charset="0"/>
            </a:endParaRPr>
          </a:p>
          <a:p>
            <a:pPr marL="342900" indent="-342900">
              <a:buFont typeface="+mj-lt"/>
              <a:buAutoNum type="arabicPeriod"/>
            </a:pPr>
            <a:r>
              <a:rPr lang="en-US" dirty="0">
                <a:latin typeface="Avenir Book" panose="02000503020000020003" pitchFamily="2" charset="0"/>
              </a:rPr>
              <a:t>Import dataset into </a:t>
            </a:r>
            <a:r>
              <a:rPr lang="en-US" dirty="0" err="1">
                <a:latin typeface="Avenir Book" panose="02000503020000020003" pitchFamily="2" charset="0"/>
              </a:rPr>
              <a:t>Rstudio</a:t>
            </a:r>
            <a:r>
              <a:rPr lang="en-US" dirty="0">
                <a:latin typeface="Avenir Book" panose="02000503020000020003" pitchFamily="2" charset="0"/>
              </a:rPr>
              <a:t> or Positron environment</a:t>
            </a:r>
          </a:p>
          <a:p>
            <a:pPr marL="342900" indent="-342900">
              <a:buFont typeface="+mj-lt"/>
              <a:buAutoNum type="arabicPeriod"/>
            </a:pPr>
            <a:r>
              <a:rPr lang="en-US" dirty="0">
                <a:latin typeface="Avenir Book" panose="02000503020000020003" pitchFamily="2" charset="0"/>
              </a:rPr>
              <a:t>Inspect data</a:t>
            </a:r>
          </a:p>
          <a:p>
            <a:pPr marL="800100" lvl="1" indent="-342900">
              <a:buFont typeface="Arial" panose="020B0604020202020204" pitchFamily="34" charset="0"/>
              <a:buChar char="•"/>
            </a:pPr>
            <a:r>
              <a:rPr lang="en-US" sz="1600" dirty="0">
                <a:latin typeface="Avenir Book" panose="02000503020000020003" pitchFamily="2" charset="0"/>
              </a:rPr>
              <a:t>str(), glimpse(), skim()</a:t>
            </a:r>
          </a:p>
          <a:p>
            <a:pPr marL="342900" indent="-342900">
              <a:buFont typeface="+mj-lt"/>
              <a:buAutoNum type="arabicPeriod"/>
            </a:pPr>
            <a:r>
              <a:rPr lang="en-US" dirty="0">
                <a:latin typeface="Avenir Book" panose="02000503020000020003" pitchFamily="2" charset="0"/>
              </a:rPr>
              <a:t>Clean the data using the following directions:</a:t>
            </a:r>
          </a:p>
          <a:p>
            <a:pPr marL="800100" lvl="1" indent="-342900">
              <a:buFont typeface="+mj-lt"/>
              <a:buAutoNum type="alphaLcPeriod"/>
            </a:pPr>
            <a:r>
              <a:rPr lang="en-US" sz="1600" dirty="0">
                <a:latin typeface="Avenir Book" panose="02000503020000020003" pitchFamily="2" charset="0"/>
              </a:rPr>
              <a:t>Clean column names (get rid of spaces and uppercase letters)</a:t>
            </a:r>
          </a:p>
          <a:p>
            <a:pPr marL="800100" lvl="1" indent="-342900">
              <a:buFont typeface="+mj-lt"/>
              <a:buAutoNum type="alphaLcPeriod"/>
            </a:pPr>
            <a:r>
              <a:rPr lang="en-US" sz="1600" dirty="0">
                <a:latin typeface="Avenir Book" panose="02000503020000020003" pitchFamily="2" charset="0"/>
              </a:rPr>
              <a:t>Make sure age is an </a:t>
            </a:r>
            <a:r>
              <a:rPr lang="en-US" sz="1600" dirty="0" err="1">
                <a:latin typeface="Avenir Book" panose="02000503020000020003" pitchFamily="2" charset="0"/>
              </a:rPr>
              <a:t>interger</a:t>
            </a:r>
            <a:endParaRPr lang="en-US" sz="1600" dirty="0">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Update: anemia, diabetes, high blood pressure, smoking</a:t>
            </a:r>
          </a:p>
          <a:p>
            <a:pPr marL="1314450" lvl="2" indent="-400050">
              <a:buFont typeface="+mj-lt"/>
              <a:buAutoNum type="romanLcPeriod"/>
            </a:pPr>
            <a:r>
              <a:rPr lang="en-US" sz="1600" dirty="0">
                <a:latin typeface="Avenir Book" panose="02000503020000020003" pitchFamily="2" charset="0"/>
              </a:rPr>
              <a:t>0=no; 1=yes</a:t>
            </a:r>
          </a:p>
          <a:p>
            <a:pPr marL="800100" lvl="1" indent="-342900">
              <a:buFont typeface="+mj-lt"/>
              <a:buAutoNum type="alphaLcPeriod"/>
            </a:pPr>
            <a:r>
              <a:rPr lang="en-US" sz="1600" dirty="0">
                <a:latin typeface="Avenir Book" panose="02000503020000020003" pitchFamily="2" charset="0"/>
              </a:rPr>
              <a:t>Update sex</a:t>
            </a:r>
          </a:p>
          <a:p>
            <a:pPr marL="1314450" lvl="2" indent="-400050">
              <a:buFont typeface="+mj-lt"/>
              <a:buAutoNum type="romanLcPeriod"/>
            </a:pPr>
            <a:r>
              <a:rPr lang="en-US" sz="1600" dirty="0">
                <a:latin typeface="Avenir Book" panose="02000503020000020003" pitchFamily="2" charset="0"/>
              </a:rPr>
              <a:t>0=woman; 1=man</a:t>
            </a:r>
          </a:p>
          <a:p>
            <a:pPr marL="857250" lvl="1" indent="-400050">
              <a:buFont typeface="+mj-lt"/>
              <a:buAutoNum type="alphaLcPeriod"/>
            </a:pPr>
            <a:r>
              <a:rPr lang="en-US" sz="1600" dirty="0">
                <a:latin typeface="Avenir Book" panose="02000503020000020003" pitchFamily="2" charset="0"/>
              </a:rPr>
              <a:t>Update death event</a:t>
            </a:r>
          </a:p>
          <a:p>
            <a:pPr marL="1314450" lvl="2" indent="-400050">
              <a:buFont typeface="+mj-lt"/>
              <a:buAutoNum type="romanLcPeriod"/>
            </a:pPr>
            <a:r>
              <a:rPr lang="en-US" sz="1600" dirty="0">
                <a:latin typeface="Avenir Book" panose="02000503020000020003" pitchFamily="2" charset="0"/>
              </a:rPr>
              <a:t>0=dead; 1=alive</a:t>
            </a:r>
          </a:p>
          <a:p>
            <a:pPr marL="857250" lvl="1" indent="-400050">
              <a:buFont typeface="+mj-lt"/>
              <a:buAutoNum type="alphaLcPeriod"/>
            </a:pPr>
            <a:r>
              <a:rPr lang="en-US" sz="1600" dirty="0">
                <a:latin typeface="Avenir Book" panose="02000503020000020003" pitchFamily="2" charset="0"/>
              </a:rPr>
              <a:t>Create a new variable called </a:t>
            </a:r>
            <a:r>
              <a:rPr lang="en-US" sz="1600" dirty="0" err="1">
                <a:latin typeface="Avenir Book" panose="02000503020000020003" pitchFamily="2" charset="0"/>
              </a:rPr>
              <a:t>age_group</a:t>
            </a:r>
            <a:endParaRPr lang="en-US" sz="1600" dirty="0">
              <a:latin typeface="Avenir Book" panose="02000503020000020003" pitchFamily="2" charset="0"/>
            </a:endParaRPr>
          </a:p>
          <a:p>
            <a:pPr marL="1314450" lvl="2" indent="-400050">
              <a:buFont typeface="+mj-lt"/>
              <a:buAutoNum type="romanLcPeriod"/>
            </a:pPr>
            <a:r>
              <a:rPr lang="en-US" sz="1600" dirty="0">
                <a:latin typeface="Avenir Book" panose="02000503020000020003" pitchFamily="2" charset="0"/>
              </a:rPr>
              <a:t>40-49; 50-59; 60-69, 70-79, 80+</a:t>
            </a:r>
          </a:p>
          <a:p>
            <a:pPr marL="342900" indent="-342900">
              <a:buFont typeface="+mj-lt"/>
              <a:buAutoNum type="arabicPeriod"/>
            </a:pPr>
            <a:r>
              <a:rPr lang="en-US" sz="1600" dirty="0">
                <a:latin typeface="Avenir Book" panose="02000503020000020003" pitchFamily="2" charset="0"/>
              </a:rPr>
              <a:t>Visualize</a:t>
            </a:r>
          </a:p>
          <a:p>
            <a:pPr marL="800100" lvl="1" indent="-342900">
              <a:buFont typeface="+mj-lt"/>
              <a:buAutoNum type="alphaLcPeriod"/>
            </a:pPr>
            <a:r>
              <a:rPr lang="en-US" altLang="en-US" sz="1600" dirty="0">
                <a:solidFill>
                  <a:srgbClr val="000000"/>
                </a:solidFill>
                <a:latin typeface="Avenir Book" panose="02000503020000020003" pitchFamily="2" charset="0"/>
              </a:rPr>
              <a:t>Create a boxplot showing the distribution of </a:t>
            </a:r>
            <a:r>
              <a:rPr lang="en-US" altLang="en-US" sz="1600" dirty="0" err="1">
                <a:solidFill>
                  <a:srgbClr val="000000"/>
                </a:solidFill>
                <a:latin typeface="Avenir Book" panose="02000503020000020003" pitchFamily="2" charset="0"/>
              </a:rPr>
              <a:t>ejection_fraction</a:t>
            </a:r>
            <a:r>
              <a:rPr lang="en-US" altLang="en-US" sz="1600" dirty="0">
                <a:solidFill>
                  <a:srgbClr val="000000"/>
                </a:solidFill>
                <a:latin typeface="Avenir Book" panose="02000503020000020003" pitchFamily="2" charset="0"/>
              </a:rPr>
              <a:t> grouped by </a:t>
            </a:r>
            <a:r>
              <a:rPr lang="en-US" altLang="en-US" sz="1600" dirty="0" err="1">
                <a:solidFill>
                  <a:srgbClr val="000000"/>
                </a:solidFill>
                <a:latin typeface="Avenir Book" panose="02000503020000020003" pitchFamily="2" charset="0"/>
              </a:rPr>
              <a:t>death_event</a:t>
            </a:r>
            <a:endParaRPr lang="en-US" altLang="en-US" sz="1600" dirty="0">
              <a:solidFill>
                <a:srgbClr val="000000"/>
              </a:solidFill>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Create a bar chart showing the death rate for smokers vs. non-smokers who also have diabetes.</a:t>
            </a:r>
            <a:endParaRPr lang="en-US" altLang="en-US" sz="1600" dirty="0">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Create line graph showing the mean high blood pressure by age group stratified by sex</a:t>
            </a:r>
          </a:p>
          <a:p>
            <a:pPr marL="800100" lvl="1" indent="-342900">
              <a:buFont typeface="+mj-lt"/>
              <a:buAutoNum type="alphaLcPeriod"/>
            </a:pPr>
            <a:endParaRPr lang="en-US" dirty="0">
              <a:latin typeface="Avenir Book" panose="02000503020000020003" pitchFamily="2" charset="0"/>
            </a:endParaRPr>
          </a:p>
        </p:txBody>
      </p:sp>
      <p:sp>
        <p:nvSpPr>
          <p:cNvPr id="8" name="TextBox 7">
            <a:extLst>
              <a:ext uri="{FF2B5EF4-FFF2-40B4-BE49-F238E27FC236}">
                <a16:creationId xmlns:a16="http://schemas.microsoft.com/office/drawing/2014/main" id="{263E7C6D-F391-DA84-88A3-422F3F19A479}"/>
              </a:ext>
            </a:extLst>
          </p:cNvPr>
          <p:cNvSpPr txBox="1"/>
          <p:nvPr/>
        </p:nvSpPr>
        <p:spPr>
          <a:xfrm>
            <a:off x="769121" y="492237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24629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26C4-B39E-EAF9-7314-7EBB1195A52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19A88D3-662E-F29D-DE81-6F2A430ABBDF}"/>
              </a:ext>
            </a:extLst>
          </p:cNvPr>
          <p:cNvSpPr>
            <a:spLocks noGrp="1"/>
          </p:cNvSpPr>
          <p:nvPr>
            <p:ph type="body" sz="quarter" idx="11"/>
          </p:nvPr>
        </p:nvSpPr>
        <p:spPr>
          <a:xfrm>
            <a:off x="558799" y="1714500"/>
            <a:ext cx="3072675" cy="1102251"/>
          </a:xfrm>
        </p:spPr>
        <p:txBody>
          <a:bodyPr vert="horz" lIns="91440" tIns="45720" rIns="91440" bIns="45720" rtlCol="0">
            <a:noAutofit/>
          </a:bodyPr>
          <a:lstStyle/>
          <a:p>
            <a:r>
              <a:rPr lang="en-US" dirty="0">
                <a:latin typeface="YaleNew" panose="02000602050000020003" pitchFamily="2" charset="77"/>
              </a:rPr>
              <a:t>Beyond the Chatbot – </a:t>
            </a:r>
          </a:p>
          <a:p>
            <a:r>
              <a:rPr lang="en-US" dirty="0">
                <a:latin typeface="YaleNew" panose="02000602050000020003" pitchFamily="2" charset="77"/>
              </a:rPr>
              <a:t>AI Pair Programming</a:t>
            </a:r>
          </a:p>
        </p:txBody>
      </p:sp>
      <p:sp>
        <p:nvSpPr>
          <p:cNvPr id="5" name="Slide Number Placeholder 4">
            <a:extLst>
              <a:ext uri="{FF2B5EF4-FFF2-40B4-BE49-F238E27FC236}">
                <a16:creationId xmlns:a16="http://schemas.microsoft.com/office/drawing/2014/main" id="{04BE6166-9D95-A617-2BAF-8D71651F6347}"/>
              </a:ext>
            </a:extLst>
          </p:cNvPr>
          <p:cNvSpPr>
            <a:spLocks noGrp="1"/>
          </p:cNvSpPr>
          <p:nvPr>
            <p:ph type="sldNum" sz="quarter" idx="18"/>
          </p:nvPr>
        </p:nvSpPr>
        <p:spPr/>
        <p:txBody>
          <a:bodyPr/>
          <a:lstStyle/>
          <a:p>
            <a:fld id="{548469FB-C78A-B94B-B04A-B5BC8C934F85}" type="slidenum">
              <a:rPr lang="en-US" smtClean="0"/>
              <a:t>24</a:t>
            </a:fld>
            <a:endParaRPr lang="en-US"/>
          </a:p>
        </p:txBody>
      </p:sp>
      <p:sp>
        <p:nvSpPr>
          <p:cNvPr id="4" name="TextBox 3">
            <a:extLst>
              <a:ext uri="{FF2B5EF4-FFF2-40B4-BE49-F238E27FC236}">
                <a16:creationId xmlns:a16="http://schemas.microsoft.com/office/drawing/2014/main" id="{AD1FE2B4-411E-F57C-7D45-A7EA417827E6}"/>
              </a:ext>
            </a:extLst>
          </p:cNvPr>
          <p:cNvSpPr txBox="1"/>
          <p:nvPr/>
        </p:nvSpPr>
        <p:spPr>
          <a:xfrm>
            <a:off x="4708635" y="354068"/>
            <a:ext cx="5303520" cy="457200"/>
          </a:xfrm>
          <a:prstGeom prst="rect">
            <a:avLst/>
          </a:prstGeom>
          <a:noFill/>
        </p:spPr>
        <p:txBody>
          <a:bodyPr wrap="square">
            <a:spAutoFit/>
          </a:bodyPr>
          <a:lstStyle/>
          <a:p>
            <a:pPr algn="l"/>
            <a:r>
              <a:rPr sz="1800" b="1" dirty="0">
                <a:solidFill>
                  <a:srgbClr val="00356B"/>
                </a:solidFill>
              </a:rPr>
              <a:t>The Core Shift</a:t>
            </a:r>
          </a:p>
        </p:txBody>
      </p:sp>
      <p:sp>
        <p:nvSpPr>
          <p:cNvPr id="6" name="TextBox 5">
            <a:extLst>
              <a:ext uri="{FF2B5EF4-FFF2-40B4-BE49-F238E27FC236}">
                <a16:creationId xmlns:a16="http://schemas.microsoft.com/office/drawing/2014/main" id="{9EB7E238-C9DA-435B-20EA-AFE65A061F1F}"/>
              </a:ext>
            </a:extLst>
          </p:cNvPr>
          <p:cNvSpPr txBox="1"/>
          <p:nvPr/>
        </p:nvSpPr>
        <p:spPr>
          <a:xfrm>
            <a:off x="4679968" y="915451"/>
            <a:ext cx="6083826" cy="1908215"/>
          </a:xfrm>
          <a:prstGeom prst="rect">
            <a:avLst/>
          </a:prstGeom>
          <a:noFill/>
        </p:spPr>
        <p:txBody>
          <a:bodyPr wrap="square">
            <a:spAutoFit/>
          </a:bodyPr>
          <a:lstStyle/>
          <a:p>
            <a:pPr algn="l">
              <a:spcBef>
                <a:spcPts val="400"/>
              </a:spcBef>
            </a:pPr>
            <a:r>
              <a:rPr dirty="0">
                <a:solidFill>
                  <a:srgbClr val="333333"/>
                </a:solidFill>
              </a:rPr>
              <a:t>▸  From Web to Workspace — natively embedded AI agents.</a:t>
            </a:r>
          </a:p>
          <a:p>
            <a:pPr algn="l">
              <a:spcBef>
                <a:spcPts val="400"/>
              </a:spcBef>
            </a:pPr>
            <a:r>
              <a:rPr dirty="0">
                <a:solidFill>
                  <a:srgbClr val="333333"/>
                </a:solidFill>
              </a:rPr>
              <a:t>▸  Full Context Awareness — agents read your files, variables, and project structure.</a:t>
            </a:r>
          </a:p>
          <a:p>
            <a:pPr algn="l">
              <a:spcBef>
                <a:spcPts val="400"/>
              </a:spcBef>
            </a:pPr>
            <a:r>
              <a:rPr dirty="0">
                <a:solidFill>
                  <a:srgbClr val="333333"/>
                </a:solidFill>
              </a:rPr>
              <a:t>▸  No copy-paste context-switching from browser to IDE.</a:t>
            </a:r>
          </a:p>
          <a:p>
            <a:pPr algn="l">
              <a:spcBef>
                <a:spcPts val="400"/>
              </a:spcBef>
            </a:pPr>
            <a:r>
              <a:rPr dirty="0">
                <a:solidFill>
                  <a:srgbClr val="333333"/>
                </a:solidFill>
              </a:rPr>
              <a:t>▸  Expanding from Yale Clarity's secure web gateway → secure API / IDE integrations.</a:t>
            </a:r>
          </a:p>
        </p:txBody>
      </p:sp>
      <p:sp>
        <p:nvSpPr>
          <p:cNvPr id="7" name="TextBox 6">
            <a:extLst>
              <a:ext uri="{FF2B5EF4-FFF2-40B4-BE49-F238E27FC236}">
                <a16:creationId xmlns:a16="http://schemas.microsoft.com/office/drawing/2014/main" id="{4479C619-5B1E-3F23-9167-9F6022FA318A}"/>
              </a:ext>
            </a:extLst>
          </p:cNvPr>
          <p:cNvSpPr txBox="1"/>
          <p:nvPr/>
        </p:nvSpPr>
        <p:spPr>
          <a:xfrm>
            <a:off x="4617195" y="3168869"/>
            <a:ext cx="5486400" cy="369332"/>
          </a:xfrm>
          <a:prstGeom prst="rect">
            <a:avLst/>
          </a:prstGeom>
          <a:noFill/>
        </p:spPr>
        <p:txBody>
          <a:bodyPr wrap="square">
            <a:spAutoFit/>
          </a:bodyPr>
          <a:lstStyle/>
          <a:p>
            <a:pPr algn="l"/>
            <a:r>
              <a:rPr lang="en-US" sz="1800" b="1" dirty="0">
                <a:solidFill>
                  <a:srgbClr val="00356B"/>
                </a:solidFill>
              </a:rPr>
              <a:t>Chatbot </a:t>
            </a:r>
            <a:r>
              <a:rPr sz="1800" b="1" dirty="0">
                <a:solidFill>
                  <a:srgbClr val="00356B"/>
                </a:solidFill>
              </a:rPr>
              <a:t>vs.  </a:t>
            </a:r>
            <a:r>
              <a:rPr lang="en-US" sz="1800" b="1" dirty="0">
                <a:solidFill>
                  <a:srgbClr val="00356B"/>
                </a:solidFill>
              </a:rPr>
              <a:t>Coding</a:t>
            </a:r>
            <a:r>
              <a:rPr sz="1800" b="1" dirty="0">
                <a:solidFill>
                  <a:srgbClr val="00356B"/>
                </a:solidFill>
              </a:rPr>
              <a:t> Agent</a:t>
            </a:r>
          </a:p>
        </p:txBody>
      </p:sp>
      <p:graphicFrame>
        <p:nvGraphicFramePr>
          <p:cNvPr id="8" name="Table 7">
            <a:extLst>
              <a:ext uri="{FF2B5EF4-FFF2-40B4-BE49-F238E27FC236}">
                <a16:creationId xmlns:a16="http://schemas.microsoft.com/office/drawing/2014/main" id="{DC1EDFD1-C4CC-B257-A8A9-7D94B4CC0E92}"/>
              </a:ext>
            </a:extLst>
          </p:cNvPr>
          <p:cNvGraphicFramePr>
            <a:graphicFrameLocks noGrp="1"/>
          </p:cNvGraphicFramePr>
          <p:nvPr/>
        </p:nvGraphicFramePr>
        <p:xfrm>
          <a:off x="4617194" y="3580349"/>
          <a:ext cx="6083826" cy="2926080"/>
        </p:xfrm>
        <a:graphic>
          <a:graphicData uri="http://schemas.openxmlformats.org/drawingml/2006/table">
            <a:tbl>
              <a:tblPr firstRow="1" bandRow="1">
                <a:tableStyleId>{5C22544A-7EE6-4342-B048-85BDC9FD1C3A}</a:tableStyleId>
              </a:tblPr>
              <a:tblGrid>
                <a:gridCol w="3041913">
                  <a:extLst>
                    <a:ext uri="{9D8B030D-6E8A-4147-A177-3AD203B41FA5}">
                      <a16:colId xmlns:a16="http://schemas.microsoft.com/office/drawing/2014/main" val="20000"/>
                    </a:ext>
                  </a:extLst>
                </a:gridCol>
                <a:gridCol w="3041913">
                  <a:extLst>
                    <a:ext uri="{9D8B030D-6E8A-4147-A177-3AD203B41FA5}">
                      <a16:colId xmlns:a16="http://schemas.microsoft.com/office/drawing/2014/main" val="20001"/>
                    </a:ext>
                  </a:extLst>
                </a:gridCol>
              </a:tblGrid>
              <a:tr h="585216">
                <a:tc>
                  <a:txBody>
                    <a:bodyPr/>
                    <a:lstStyle/>
                    <a:p>
                      <a:r>
                        <a:rPr sz="1300" b="1">
                          <a:solidFill>
                            <a:srgbClr val="FFFFFF"/>
                          </a:solidFill>
                        </a:rPr>
                        <a:t>Web Browser Chat</a:t>
                      </a:r>
                    </a:p>
                  </a:txBody>
                  <a:tcPr>
                    <a:solidFill>
                      <a:srgbClr val="00356B"/>
                    </a:solidFill>
                  </a:tcPr>
                </a:tc>
                <a:tc>
                  <a:txBody>
                    <a:bodyPr/>
                    <a:lstStyle/>
                    <a:p>
                      <a:r>
                        <a:rPr sz="1300" b="1" dirty="0">
                          <a:solidFill>
                            <a:srgbClr val="FFFFFF"/>
                          </a:solidFill>
                        </a:rPr>
                        <a:t>IDE Agent (Copilot / Claude Code</a:t>
                      </a:r>
                      <a:r>
                        <a:rPr lang="en-US" sz="1300" b="1" dirty="0">
                          <a:solidFill>
                            <a:srgbClr val="FFFFFF"/>
                          </a:solidFill>
                        </a:rPr>
                        <a:t> / Positron Assistant</a:t>
                      </a:r>
                      <a:r>
                        <a:rPr sz="1300" b="1" dirty="0">
                          <a:solidFill>
                            <a:srgbClr val="FFFFFF"/>
                          </a:solidFill>
                        </a:rPr>
                        <a:t>)</a:t>
                      </a:r>
                    </a:p>
                  </a:txBody>
                  <a:tcPr>
                    <a:solidFill>
                      <a:srgbClr val="00356B"/>
                    </a:solidFill>
                  </a:tcPr>
                </a:tc>
                <a:extLst>
                  <a:ext uri="{0D108BD9-81ED-4DB2-BD59-A6C34878D82A}">
                    <a16:rowId xmlns:a16="http://schemas.microsoft.com/office/drawing/2014/main" val="10000"/>
                  </a:ext>
                </a:extLst>
              </a:tr>
              <a:tr h="585216">
                <a:tc>
                  <a:txBody>
                    <a:bodyPr/>
                    <a:lstStyle/>
                    <a:p>
                      <a:r>
                        <a:rPr sz="1300" b="0">
                          <a:solidFill>
                            <a:srgbClr val="333333"/>
                          </a:solidFill>
                        </a:rPr>
                        <a:t>You copy/paste code</a:t>
                      </a:r>
                    </a:p>
                  </a:txBody>
                  <a:tcPr/>
                </a:tc>
                <a:tc>
                  <a:txBody>
                    <a:bodyPr/>
                    <a:lstStyle/>
                    <a:p>
                      <a:r>
                        <a:rPr sz="1300" b="0" dirty="0">
                          <a:solidFill>
                            <a:srgbClr val="333333"/>
                          </a:solidFill>
                        </a:rPr>
                        <a:t>Agent reads your open files directly</a:t>
                      </a:r>
                    </a:p>
                  </a:txBody>
                  <a:tcPr/>
                </a:tc>
                <a:extLst>
                  <a:ext uri="{0D108BD9-81ED-4DB2-BD59-A6C34878D82A}">
                    <a16:rowId xmlns:a16="http://schemas.microsoft.com/office/drawing/2014/main" val="10001"/>
                  </a:ext>
                </a:extLst>
              </a:tr>
              <a:tr h="585216">
                <a:tc>
                  <a:txBody>
                    <a:bodyPr/>
                    <a:lstStyle/>
                    <a:p>
                      <a:r>
                        <a:rPr sz="1300" b="0">
                          <a:solidFill>
                            <a:srgbClr val="333333"/>
                          </a:solidFill>
                        </a:rPr>
                        <a:t>No env awareness</a:t>
                      </a:r>
                    </a:p>
                  </a:txBody>
                  <a:tcPr>
                    <a:solidFill>
                      <a:srgbClr val="F2F2F2"/>
                    </a:solidFill>
                  </a:tcPr>
                </a:tc>
                <a:tc>
                  <a:txBody>
                    <a:bodyPr/>
                    <a:lstStyle/>
                    <a:p>
                      <a:r>
                        <a:rPr sz="1300" b="0">
                          <a:solidFill>
                            <a:srgbClr val="333333"/>
                          </a:solidFill>
                        </a:rPr>
                        <a:t>Sees your loaded variables &amp; packages</a:t>
                      </a:r>
                    </a:p>
                  </a:txBody>
                  <a:tcPr>
                    <a:solidFill>
                      <a:srgbClr val="F2F2F2"/>
                    </a:solidFill>
                  </a:tcPr>
                </a:tc>
                <a:extLst>
                  <a:ext uri="{0D108BD9-81ED-4DB2-BD59-A6C34878D82A}">
                    <a16:rowId xmlns:a16="http://schemas.microsoft.com/office/drawing/2014/main" val="10002"/>
                  </a:ext>
                </a:extLst>
              </a:tr>
              <a:tr h="585216">
                <a:tc>
                  <a:txBody>
                    <a:bodyPr/>
                    <a:lstStyle/>
                    <a:p>
                      <a:r>
                        <a:rPr sz="1300" b="0">
                          <a:solidFill>
                            <a:srgbClr val="333333"/>
                          </a:solidFill>
                        </a:rPr>
                        <a:t>Manual error copy</a:t>
                      </a:r>
                    </a:p>
                  </a:txBody>
                  <a:tcPr/>
                </a:tc>
                <a:tc>
                  <a:txBody>
                    <a:bodyPr/>
                    <a:lstStyle/>
                    <a:p>
                      <a:r>
                        <a:rPr sz="1300" b="0">
                          <a:solidFill>
                            <a:srgbClr val="333333"/>
                          </a:solidFill>
                        </a:rPr>
                        <a:t>Highlight error → instant fix in context</a:t>
                      </a:r>
                    </a:p>
                  </a:txBody>
                  <a:tcPr/>
                </a:tc>
                <a:extLst>
                  <a:ext uri="{0D108BD9-81ED-4DB2-BD59-A6C34878D82A}">
                    <a16:rowId xmlns:a16="http://schemas.microsoft.com/office/drawing/2014/main" val="10003"/>
                  </a:ext>
                </a:extLst>
              </a:tr>
              <a:tr h="585216">
                <a:tc>
                  <a:txBody>
                    <a:bodyPr/>
                    <a:lstStyle/>
                    <a:p>
                      <a:r>
                        <a:rPr sz="1300" b="0" dirty="0">
                          <a:solidFill>
                            <a:srgbClr val="333333"/>
                          </a:solidFill>
                        </a:rPr>
                        <a:t>One-shot Q&amp;A</a:t>
                      </a:r>
                    </a:p>
                  </a:txBody>
                  <a:tcPr>
                    <a:solidFill>
                      <a:srgbClr val="F2F2F2"/>
                    </a:solidFill>
                  </a:tcPr>
                </a:tc>
                <a:tc>
                  <a:txBody>
                    <a:bodyPr/>
                    <a:lstStyle/>
                    <a:p>
                      <a:r>
                        <a:rPr sz="1300" b="0" dirty="0">
                          <a:solidFill>
                            <a:srgbClr val="333333"/>
                          </a:solidFill>
                        </a:rPr>
                        <a:t>Iterative pair-programming loop</a:t>
                      </a:r>
                    </a:p>
                  </a:txBody>
                  <a:tcPr>
                    <a:solidFill>
                      <a:srgbClr val="F2F2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65380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2001444"/>
          </a:xfrm>
          <a:prstGeom prst="rect">
            <a:avLst/>
          </a:prstGeom>
          <a:solidFill>
            <a:srgbClr val="00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11430000" cy="523220"/>
          </a:xfrm>
          <a:prstGeom prst="rect">
            <a:avLst/>
          </a:prstGeom>
          <a:noFill/>
        </p:spPr>
        <p:txBody>
          <a:bodyPr wrap="square">
            <a:spAutoFit/>
          </a:bodyPr>
          <a:lstStyle/>
          <a:p>
            <a:pPr algn="l"/>
            <a:r>
              <a:rPr sz="2800" b="1" dirty="0">
                <a:solidFill>
                  <a:srgbClr val="FFFFFF"/>
                </a:solidFill>
                <a:latin typeface="YaleNew" panose="02000602050000020003" pitchFamily="2" charset="77"/>
              </a:rPr>
              <a:t>The Academic Approach to AI Agents</a:t>
            </a:r>
          </a:p>
        </p:txBody>
      </p:sp>
      <p:sp>
        <p:nvSpPr>
          <p:cNvPr id="4" name="TextBox 3"/>
          <p:cNvSpPr txBox="1"/>
          <p:nvPr/>
        </p:nvSpPr>
        <p:spPr>
          <a:xfrm>
            <a:off x="274320" y="586429"/>
            <a:ext cx="11430000" cy="457200"/>
          </a:xfrm>
          <a:prstGeom prst="rect">
            <a:avLst/>
          </a:prstGeom>
          <a:noFill/>
        </p:spPr>
        <p:txBody>
          <a:bodyPr wrap="square">
            <a:spAutoFit/>
          </a:bodyPr>
          <a:lstStyle/>
          <a:p>
            <a:pPr algn="l"/>
            <a:r>
              <a:rPr sz="1400" b="0" dirty="0">
                <a:solidFill>
                  <a:srgbClr val="CCDDF5"/>
                </a:solidFill>
              </a:rPr>
              <a:t>Applying the Prompting Framework inside your IDE</a:t>
            </a:r>
          </a:p>
        </p:txBody>
      </p:sp>
      <p:sp>
        <p:nvSpPr>
          <p:cNvPr id="5" name="Rectangle 4"/>
          <p:cNvSpPr/>
          <p:nvPr/>
        </p:nvSpPr>
        <p:spPr>
          <a:xfrm>
            <a:off x="381000" y="1426878"/>
            <a:ext cx="11430000" cy="502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8076" y="1516563"/>
            <a:ext cx="10972800" cy="369332"/>
          </a:xfrm>
          <a:prstGeom prst="rect">
            <a:avLst/>
          </a:prstGeom>
          <a:noFill/>
        </p:spPr>
        <p:txBody>
          <a:bodyPr wrap="square">
            <a:spAutoFit/>
          </a:bodyPr>
          <a:lstStyle/>
          <a:p>
            <a:pPr algn="ctr"/>
            <a:r>
              <a:rPr b="1" dirty="0">
                <a:solidFill>
                  <a:srgbClr val="00356B"/>
                </a:solidFill>
              </a:rPr>
              <a:t>Framework for Success:  Role  →  Task  →  Context  →  Constraints  →  Output</a:t>
            </a:r>
          </a:p>
        </p:txBody>
      </p:sp>
      <p:sp>
        <p:nvSpPr>
          <p:cNvPr id="7" name="Rectangle 6"/>
          <p:cNvSpPr/>
          <p:nvPr/>
        </p:nvSpPr>
        <p:spPr>
          <a:xfrm>
            <a:off x="365760" y="237744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468880"/>
            <a:ext cx="2529683" cy="338554"/>
          </a:xfrm>
          <a:prstGeom prst="rect">
            <a:avLst/>
          </a:prstGeom>
          <a:noFill/>
        </p:spPr>
        <p:txBody>
          <a:bodyPr wrap="square">
            <a:spAutoFit/>
          </a:bodyPr>
          <a:lstStyle/>
          <a:p>
            <a:pPr algn="l"/>
            <a:r>
              <a:rPr sz="1600" b="1" dirty="0">
                <a:solidFill>
                  <a:srgbClr val="00356B"/>
                </a:solidFill>
              </a:rPr>
              <a:t>Deterministic Intent</a:t>
            </a:r>
          </a:p>
        </p:txBody>
      </p:sp>
      <p:sp>
        <p:nvSpPr>
          <p:cNvPr id="9" name="TextBox 8"/>
          <p:cNvSpPr txBox="1"/>
          <p:nvPr/>
        </p:nvSpPr>
        <p:spPr>
          <a:xfrm>
            <a:off x="502920" y="3017520"/>
            <a:ext cx="2529683" cy="1477328"/>
          </a:xfrm>
          <a:prstGeom prst="rect">
            <a:avLst/>
          </a:prstGeom>
          <a:noFill/>
        </p:spPr>
        <p:txBody>
          <a:bodyPr wrap="square">
            <a:spAutoFit/>
          </a:bodyPr>
          <a:lstStyle/>
          <a:p>
            <a:pPr algn="l"/>
            <a:r>
              <a:rPr b="0" dirty="0">
                <a:solidFill>
                  <a:srgbClr val="333333"/>
                </a:solidFill>
              </a:rPr>
              <a:t>Dictate exact methods, transformations, and packages. Never leave statistical decisions to the model's defaults.</a:t>
            </a:r>
          </a:p>
        </p:txBody>
      </p:sp>
      <p:sp>
        <p:nvSpPr>
          <p:cNvPr id="10" name="Rectangle 9"/>
          <p:cNvSpPr/>
          <p:nvPr/>
        </p:nvSpPr>
        <p:spPr>
          <a:xfrm>
            <a:off x="3265038" y="237271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02198" y="2464150"/>
            <a:ext cx="2529683" cy="338554"/>
          </a:xfrm>
          <a:prstGeom prst="rect">
            <a:avLst/>
          </a:prstGeom>
          <a:noFill/>
        </p:spPr>
        <p:txBody>
          <a:bodyPr wrap="square">
            <a:spAutoFit/>
          </a:bodyPr>
          <a:lstStyle/>
          <a:p>
            <a:pPr algn="l"/>
            <a:r>
              <a:rPr sz="1600" b="1" dirty="0">
                <a:solidFill>
                  <a:srgbClr val="00356B"/>
                </a:solidFill>
              </a:rPr>
              <a:t>Continuous Auditability</a:t>
            </a:r>
          </a:p>
        </p:txBody>
      </p:sp>
      <p:sp>
        <p:nvSpPr>
          <p:cNvPr id="12" name="TextBox 11"/>
          <p:cNvSpPr txBox="1"/>
          <p:nvPr/>
        </p:nvSpPr>
        <p:spPr>
          <a:xfrm>
            <a:off x="3402198" y="3012790"/>
            <a:ext cx="2529683" cy="1754326"/>
          </a:xfrm>
          <a:prstGeom prst="rect">
            <a:avLst/>
          </a:prstGeom>
          <a:noFill/>
        </p:spPr>
        <p:txBody>
          <a:bodyPr wrap="square">
            <a:spAutoFit/>
          </a:bodyPr>
          <a:lstStyle/>
          <a:p>
            <a:pPr algn="l"/>
            <a:r>
              <a:rPr b="0" dirty="0">
                <a:solidFill>
                  <a:srgbClr val="333333"/>
                </a:solidFill>
              </a:rPr>
              <a:t>Force the AI to comment every line. You must be able to explain and defend every transformation it produces.</a:t>
            </a:r>
          </a:p>
        </p:txBody>
      </p:sp>
      <p:sp>
        <p:nvSpPr>
          <p:cNvPr id="13" name="Rectangle 12"/>
          <p:cNvSpPr/>
          <p:nvPr/>
        </p:nvSpPr>
        <p:spPr>
          <a:xfrm>
            <a:off x="6192170" y="237744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6329330" y="2468880"/>
            <a:ext cx="2529683" cy="338554"/>
          </a:xfrm>
          <a:prstGeom prst="rect">
            <a:avLst/>
          </a:prstGeom>
          <a:noFill/>
        </p:spPr>
        <p:txBody>
          <a:bodyPr wrap="square">
            <a:spAutoFit/>
          </a:bodyPr>
          <a:lstStyle/>
          <a:p>
            <a:pPr algn="l"/>
            <a:r>
              <a:rPr sz="1600" b="1">
                <a:solidFill>
                  <a:srgbClr val="00356B"/>
                </a:solidFill>
              </a:rPr>
              <a:t>Reproducibility</a:t>
            </a:r>
          </a:p>
        </p:txBody>
      </p:sp>
      <p:sp>
        <p:nvSpPr>
          <p:cNvPr id="15" name="TextBox 14"/>
          <p:cNvSpPr txBox="1"/>
          <p:nvPr/>
        </p:nvSpPr>
        <p:spPr>
          <a:xfrm>
            <a:off x="6329330" y="3017520"/>
            <a:ext cx="2529683" cy="1754326"/>
          </a:xfrm>
          <a:prstGeom prst="rect">
            <a:avLst/>
          </a:prstGeom>
          <a:noFill/>
        </p:spPr>
        <p:txBody>
          <a:bodyPr wrap="square">
            <a:spAutoFit/>
          </a:bodyPr>
          <a:lstStyle/>
          <a:p>
            <a:pPr algn="l"/>
            <a:r>
              <a:rPr b="0" dirty="0">
                <a:solidFill>
                  <a:srgbClr val="333333"/>
                </a:solidFill>
              </a:rPr>
              <a:t>Build scripts that are mathematically sound and publication-ready. Structured prompts → structured, auditable outputs.</a:t>
            </a:r>
          </a:p>
        </p:txBody>
      </p:sp>
      <p:sp>
        <p:nvSpPr>
          <p:cNvPr id="16" name="Rectangle 15"/>
          <p:cNvSpPr/>
          <p:nvPr/>
        </p:nvSpPr>
        <p:spPr>
          <a:xfrm>
            <a:off x="365760" y="5760720"/>
            <a:ext cx="11430000" cy="594360"/>
          </a:xfrm>
          <a:prstGeom prst="rect">
            <a:avLst/>
          </a:prstGeom>
          <a:solidFill>
            <a:srgbClr val="FFF3CD"/>
          </a:solidFill>
          <a:ln>
            <a:solidFill>
              <a:srgbClr val="F0A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956" y="5904011"/>
            <a:ext cx="11369040" cy="307777"/>
          </a:xfrm>
          <a:prstGeom prst="rect">
            <a:avLst/>
          </a:prstGeom>
          <a:noFill/>
        </p:spPr>
        <p:txBody>
          <a:bodyPr wrap="square">
            <a:spAutoFit/>
          </a:bodyPr>
          <a:lstStyle/>
          <a:p>
            <a:pPr algn="l"/>
            <a:r>
              <a:rPr sz="1400" b="0" dirty="0">
                <a:solidFill>
                  <a:srgbClr val="855300"/>
                </a:solidFill>
              </a:rPr>
              <a:t>⚠   We cannot rely on 'vibe coding' — a vague instruction does not guarantee correct statistics. Strict prompting is more critical in the IDE, not less.</a:t>
            </a:r>
          </a:p>
        </p:txBody>
      </p:sp>
      <p:sp>
        <p:nvSpPr>
          <p:cNvPr id="18" name="Rectangle 17">
            <a:extLst>
              <a:ext uri="{FF2B5EF4-FFF2-40B4-BE49-F238E27FC236}">
                <a16:creationId xmlns:a16="http://schemas.microsoft.com/office/drawing/2014/main" id="{DE14D25F-912B-3C83-2A8F-789A598A86FE}"/>
              </a:ext>
            </a:extLst>
          </p:cNvPr>
          <p:cNvSpPr/>
          <p:nvPr/>
        </p:nvSpPr>
        <p:spPr>
          <a:xfrm>
            <a:off x="9091448" y="237271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5F75BCE-95B8-9093-86A5-962E1734C239}"/>
              </a:ext>
            </a:extLst>
          </p:cNvPr>
          <p:cNvSpPr txBox="1"/>
          <p:nvPr/>
        </p:nvSpPr>
        <p:spPr>
          <a:xfrm>
            <a:off x="9228608" y="2464150"/>
            <a:ext cx="2529683" cy="338554"/>
          </a:xfrm>
          <a:prstGeom prst="rect">
            <a:avLst/>
          </a:prstGeom>
          <a:noFill/>
        </p:spPr>
        <p:txBody>
          <a:bodyPr wrap="square">
            <a:spAutoFit/>
          </a:bodyPr>
          <a:lstStyle/>
          <a:p>
            <a:pPr algn="l"/>
            <a:r>
              <a:rPr lang="en-US" sz="1600" b="1" dirty="0">
                <a:solidFill>
                  <a:srgbClr val="00356B"/>
                </a:solidFill>
              </a:rPr>
              <a:t>Human-in-the-loop</a:t>
            </a:r>
            <a:endParaRPr sz="1600" b="1" dirty="0">
              <a:solidFill>
                <a:srgbClr val="00356B"/>
              </a:solidFill>
            </a:endParaRPr>
          </a:p>
        </p:txBody>
      </p:sp>
      <p:sp>
        <p:nvSpPr>
          <p:cNvPr id="20" name="TextBox 19">
            <a:extLst>
              <a:ext uri="{FF2B5EF4-FFF2-40B4-BE49-F238E27FC236}">
                <a16:creationId xmlns:a16="http://schemas.microsoft.com/office/drawing/2014/main" id="{A3F738C4-3FBF-9DCB-6481-CA4901E466C9}"/>
              </a:ext>
            </a:extLst>
          </p:cNvPr>
          <p:cNvSpPr txBox="1"/>
          <p:nvPr/>
        </p:nvSpPr>
        <p:spPr>
          <a:xfrm>
            <a:off x="9228608" y="3012790"/>
            <a:ext cx="2529683" cy="2308324"/>
          </a:xfrm>
          <a:prstGeom prst="rect">
            <a:avLst/>
          </a:prstGeom>
          <a:noFill/>
        </p:spPr>
        <p:txBody>
          <a:bodyPr wrap="square">
            <a:spAutoFit/>
          </a:bodyPr>
          <a:lstStyle/>
          <a:p>
            <a:pPr algn="l"/>
            <a:r>
              <a:rPr lang="en-US" b="0" dirty="0">
                <a:solidFill>
                  <a:srgbClr val="333333"/>
                </a:solidFill>
              </a:rPr>
              <a:t>Every AI output must pass through domain expert review before it informs any decision. Prompting discipline reduces errors — it does not eliminate them. </a:t>
            </a:r>
            <a:endParaRPr b="0" dirty="0">
              <a:solidFill>
                <a:srgbClr val="33333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356B"/>
          </a:solidFill>
          <a:ln>
            <a:noFill/>
          </a:ln>
        </p:spPr>
        <p:txBody>
          <a:bodyPr rtlCol="0" anchor="ctr"/>
          <a:lstStyle/>
          <a:p>
            <a:pPr algn="ctr"/>
            <a:endParaRPr/>
          </a:p>
        </p:txBody>
      </p:sp>
      <p:sp>
        <p:nvSpPr>
          <p:cNvPr id="3" name="TextBox 2"/>
          <p:cNvSpPr txBox="1"/>
          <p:nvPr/>
        </p:nvSpPr>
        <p:spPr>
          <a:xfrm>
            <a:off x="274320" y="137160"/>
            <a:ext cx="11430000" cy="523220"/>
          </a:xfrm>
          <a:prstGeom prst="rect">
            <a:avLst/>
          </a:prstGeom>
          <a:noFill/>
        </p:spPr>
        <p:txBody>
          <a:bodyPr wrap="square">
            <a:spAutoFit/>
          </a:bodyPr>
          <a:lstStyle/>
          <a:p>
            <a:pPr algn="l"/>
            <a:r>
              <a:rPr sz="2800" b="1">
                <a:solidFill>
                  <a:srgbClr val="FFFFFF"/>
                </a:solidFill>
                <a:latin typeface="YaleNew" panose="02000602050000020003" pitchFamily="2" charset="77"/>
              </a:rPr>
              <a:t>AI Coding Agents vs. Pair Programmer IDEs</a:t>
            </a:r>
          </a:p>
        </p:txBody>
      </p:sp>
      <p:sp>
        <p:nvSpPr>
          <p:cNvPr id="4" name="TextBox 3"/>
          <p:cNvSpPr txBox="1"/>
          <p:nvPr/>
        </p:nvSpPr>
        <p:spPr>
          <a:xfrm>
            <a:off x="274320" y="731520"/>
            <a:ext cx="11430000" cy="457200"/>
          </a:xfrm>
          <a:prstGeom prst="rect">
            <a:avLst/>
          </a:prstGeom>
          <a:noFill/>
        </p:spPr>
        <p:txBody>
          <a:bodyPr wrap="square">
            <a:spAutoFit/>
          </a:bodyPr>
          <a:lstStyle/>
          <a:p>
            <a:pPr algn="l"/>
            <a:r>
              <a:rPr sz="1400" b="0">
                <a:solidFill>
                  <a:srgbClr val="CCDDF5"/>
                </a:solidFill>
              </a:rPr>
              <a:t>Two approaches to AI-assisted development — different workflows, different strengths</a:t>
            </a:r>
          </a:p>
        </p:txBody>
      </p:sp>
      <p:sp>
        <p:nvSpPr>
          <p:cNvPr id="7" name="Rectangle 6"/>
          <p:cNvSpPr/>
          <p:nvPr/>
        </p:nvSpPr>
        <p:spPr>
          <a:xfrm>
            <a:off x="365760" y="1508760"/>
            <a:ext cx="5577840" cy="4937760"/>
          </a:xfrm>
          <a:prstGeom prst="rect">
            <a:avLst/>
          </a:prstGeom>
          <a:solidFill>
            <a:srgbClr val="E8F0FA"/>
          </a:solidFill>
          <a:ln>
            <a:solidFill>
              <a:srgbClr val="00356B"/>
            </a:solidFill>
          </a:ln>
        </p:spPr>
        <p:txBody>
          <a:bodyPr rtlCol="0" anchor="ctr"/>
          <a:lstStyle/>
          <a:p>
            <a:pPr algn="ctr"/>
            <a:endParaRPr/>
          </a:p>
        </p:txBody>
      </p:sp>
      <p:sp>
        <p:nvSpPr>
          <p:cNvPr id="8" name="TextBox 7"/>
          <p:cNvSpPr txBox="1"/>
          <p:nvPr/>
        </p:nvSpPr>
        <p:spPr>
          <a:xfrm>
            <a:off x="502920" y="1600200"/>
            <a:ext cx="5303520" cy="502920"/>
          </a:xfrm>
          <a:prstGeom prst="rect">
            <a:avLst/>
          </a:prstGeom>
          <a:noFill/>
        </p:spPr>
        <p:txBody>
          <a:bodyPr wrap="square">
            <a:spAutoFit/>
          </a:bodyPr>
          <a:lstStyle/>
          <a:p>
            <a:pPr algn="l"/>
            <a:r>
              <a:rPr sz="1800" b="1">
                <a:solidFill>
                  <a:srgbClr val="00356B"/>
                </a:solidFill>
              </a:rPr>
              <a:t>Pair Programmer IDEs</a:t>
            </a:r>
          </a:p>
        </p:txBody>
      </p:sp>
      <p:sp>
        <p:nvSpPr>
          <p:cNvPr id="9" name="TextBox 8"/>
          <p:cNvSpPr txBox="1"/>
          <p:nvPr/>
        </p:nvSpPr>
        <p:spPr>
          <a:xfrm>
            <a:off x="502920" y="2103120"/>
            <a:ext cx="5303520" cy="4114800"/>
          </a:xfrm>
          <a:prstGeom prst="rect">
            <a:avLst/>
          </a:prstGeom>
          <a:noFill/>
        </p:spPr>
        <p:txBody>
          <a:bodyPr wrap="square">
            <a:noAutofit/>
          </a:bodyPr>
          <a:lstStyle/>
          <a:p>
            <a:pPr algn="l">
              <a:spcBef>
                <a:spcPts val="200"/>
              </a:spcBef>
            </a:pPr>
            <a:r>
              <a:rPr b="1">
                <a:solidFill>
                  <a:srgbClr val="00356B"/>
                </a:solidFill>
              </a:rPr>
              <a:t>How they work:</a:t>
            </a:r>
            <a:r>
              <a:rPr b="0">
                <a:solidFill>
                  <a:srgbClr val="333333"/>
                </a:solidFill>
              </a:rPr>
              <a:t>  Embedded inside a graphical code editor (VS Code, Cursor, Positron). AI assists as you type.</a:t>
            </a:r>
          </a:p>
          <a:p>
            <a:pPr algn="l">
              <a:spcBef>
                <a:spcPts val="600"/>
              </a:spcBef>
            </a:pPr>
            <a:r>
              <a:rPr b="1">
                <a:solidFill>
                  <a:srgbClr val="00356B"/>
                </a:solidFill>
              </a:rPr>
              <a:t>Best for:</a:t>
            </a:r>
            <a:r>
              <a:rPr b="0">
                <a:solidFill>
                  <a:srgbClr val="333333"/>
                </a:solidFill>
              </a:rPr>
              <a:t>  Real-time autocomplete, inline chat, iterative editing within a single file or small project.</a:t>
            </a:r>
          </a:p>
          <a:p>
            <a:pPr algn="l">
              <a:spcBef>
                <a:spcPts val="600"/>
              </a:spcBef>
            </a:pPr>
            <a:r>
              <a:rPr b="1">
                <a:solidFill>
                  <a:srgbClr val="00356B"/>
                </a:solidFill>
              </a:rPr>
              <a:t>Interaction style:</a:t>
            </a:r>
            <a:r>
              <a:rPr b="0">
                <a:solidFill>
                  <a:srgbClr val="333333"/>
                </a:solidFill>
              </a:rPr>
              <a:t>  You drive; AI suggests. Tab-complete, inline diffs, chat sidebar.</a:t>
            </a:r>
          </a:p>
          <a:p>
            <a:pPr algn="l">
              <a:spcBef>
                <a:spcPts val="600"/>
              </a:spcBef>
            </a:pPr>
            <a:r>
              <a:rPr sz="1600" b="1">
                <a:solidFill>
                  <a:srgbClr val="00356B"/>
                </a:solidFill>
              </a:rPr>
              <a:t>Examples:</a:t>
            </a:r>
          </a:p>
          <a:p>
            <a:pPr algn="l">
              <a:spcBef>
                <a:spcPts val="200"/>
              </a:spcBef>
            </a:pPr>
            <a:r>
              <a:rPr sz="1600" b="0">
                <a:solidFill>
                  <a:srgbClr val="333333"/>
                </a:solidFill>
              </a:rPr>
              <a:t>  ▸  </a:t>
            </a:r>
            <a:r>
              <a:rPr lang="en-US" b="0">
                <a:solidFill>
                  <a:srgbClr val="333333"/>
                </a:solidFill>
              </a:rPr>
              <a:t>VS Code w/ Copilot</a:t>
            </a:r>
            <a:r>
              <a:rPr b="0">
                <a:solidFill>
                  <a:srgbClr val="333333"/>
                </a:solidFill>
              </a:rPr>
              <a:t> </a:t>
            </a:r>
            <a:r>
              <a:rPr lang="en-US" b="0">
                <a:solidFill>
                  <a:srgbClr val="333333"/>
                </a:solidFill>
              </a:rPr>
              <a:t>- </a:t>
            </a:r>
            <a:r>
              <a:rPr b="0">
                <a:solidFill>
                  <a:srgbClr val="333333"/>
                </a:solidFill>
              </a:rPr>
              <a:t>2K completions/mo free</a:t>
            </a:r>
          </a:p>
          <a:p>
            <a:pPr algn="l">
              <a:spcBef>
                <a:spcPts val="200"/>
              </a:spcBef>
            </a:pPr>
            <a:r>
              <a:rPr b="0">
                <a:solidFill>
                  <a:srgbClr val="333333"/>
                </a:solidFill>
              </a:rPr>
              <a:t>  ▸  Cursor IDE — 2K completions + 50 </a:t>
            </a:r>
            <a:r>
              <a:rPr lang="en-US">
                <a:solidFill>
                  <a:srgbClr val="333333"/>
                </a:solidFill>
              </a:rPr>
              <a:t>chat</a:t>
            </a:r>
            <a:r>
              <a:rPr b="0">
                <a:solidFill>
                  <a:srgbClr val="333333"/>
                </a:solidFill>
              </a:rPr>
              <a:t>/mo free</a:t>
            </a:r>
          </a:p>
          <a:p>
            <a:pPr algn="l">
              <a:spcBef>
                <a:spcPts val="200"/>
              </a:spcBef>
            </a:pPr>
            <a:r>
              <a:rPr b="0">
                <a:solidFill>
                  <a:srgbClr val="333333"/>
                </a:solidFill>
              </a:rPr>
              <a:t>  ▸  Google Antigravity — Free during preview</a:t>
            </a:r>
          </a:p>
          <a:p>
            <a:pPr algn="l">
              <a:spcBef>
                <a:spcPts val="200"/>
              </a:spcBef>
            </a:pPr>
            <a:r>
              <a:rPr b="0">
                <a:solidFill>
                  <a:srgbClr val="333333"/>
                </a:solidFill>
              </a:rPr>
              <a:t>  ▸  Positron + Assistant — Trial, then $20/mo</a:t>
            </a:r>
          </a:p>
        </p:txBody>
      </p:sp>
      <p:sp>
        <p:nvSpPr>
          <p:cNvPr id="10" name="Rectangle 9"/>
          <p:cNvSpPr/>
          <p:nvPr/>
        </p:nvSpPr>
        <p:spPr>
          <a:xfrm>
            <a:off x="6217920" y="1508760"/>
            <a:ext cx="5577840" cy="4937760"/>
          </a:xfrm>
          <a:prstGeom prst="rect">
            <a:avLst/>
          </a:prstGeom>
          <a:solidFill>
            <a:srgbClr val="F2F2F2"/>
          </a:solidFill>
          <a:ln>
            <a:solidFill>
              <a:srgbClr val="00356B"/>
            </a:solidFill>
          </a:ln>
        </p:spPr>
        <p:txBody>
          <a:bodyPr rtlCol="0" anchor="ctr"/>
          <a:lstStyle/>
          <a:p>
            <a:pPr algn="ctr"/>
            <a:endParaRPr/>
          </a:p>
        </p:txBody>
      </p:sp>
      <p:sp>
        <p:nvSpPr>
          <p:cNvPr id="11" name="TextBox 10"/>
          <p:cNvSpPr txBox="1"/>
          <p:nvPr/>
        </p:nvSpPr>
        <p:spPr>
          <a:xfrm>
            <a:off x="6355080" y="1600200"/>
            <a:ext cx="5303520" cy="502920"/>
          </a:xfrm>
          <a:prstGeom prst="rect">
            <a:avLst/>
          </a:prstGeom>
          <a:noFill/>
        </p:spPr>
        <p:txBody>
          <a:bodyPr wrap="square">
            <a:spAutoFit/>
          </a:bodyPr>
          <a:lstStyle/>
          <a:p>
            <a:pPr algn="l"/>
            <a:r>
              <a:rPr sz="1800" b="1">
                <a:solidFill>
                  <a:srgbClr val="00356B"/>
                </a:solidFill>
              </a:rPr>
              <a:t>CLI Coding Agents</a:t>
            </a:r>
          </a:p>
        </p:txBody>
      </p:sp>
      <p:sp>
        <p:nvSpPr>
          <p:cNvPr id="12" name="TextBox 11"/>
          <p:cNvSpPr txBox="1"/>
          <p:nvPr/>
        </p:nvSpPr>
        <p:spPr>
          <a:xfrm>
            <a:off x="6355080" y="2103120"/>
            <a:ext cx="5303520" cy="4114800"/>
          </a:xfrm>
          <a:prstGeom prst="rect">
            <a:avLst/>
          </a:prstGeom>
          <a:noFill/>
        </p:spPr>
        <p:txBody>
          <a:bodyPr wrap="square">
            <a:noAutofit/>
          </a:bodyPr>
          <a:lstStyle/>
          <a:p>
            <a:pPr algn="l">
              <a:spcBef>
                <a:spcPts val="200"/>
              </a:spcBef>
            </a:pPr>
            <a:r>
              <a:rPr b="1">
                <a:solidFill>
                  <a:srgbClr val="00356B"/>
                </a:solidFill>
              </a:rPr>
              <a:t>How they work:</a:t>
            </a:r>
            <a:r>
              <a:rPr b="0">
                <a:solidFill>
                  <a:srgbClr val="333333"/>
                </a:solidFill>
              </a:rPr>
              <a:t>  Run in your terminal. Autonomous agents that read, write, and execute across your entire project.</a:t>
            </a:r>
          </a:p>
          <a:p>
            <a:pPr algn="l">
              <a:spcBef>
                <a:spcPts val="600"/>
              </a:spcBef>
            </a:pPr>
            <a:r>
              <a:rPr b="1">
                <a:solidFill>
                  <a:srgbClr val="00356B"/>
                </a:solidFill>
              </a:rPr>
              <a:t>Best for:</a:t>
            </a:r>
            <a:r>
              <a:rPr b="0">
                <a:solidFill>
                  <a:srgbClr val="333333"/>
                </a:solidFill>
              </a:rPr>
              <a:t>  Multi-file refactors, scaffolding, running tests, orchestrating complex workflows end-to-end.</a:t>
            </a:r>
          </a:p>
          <a:p>
            <a:pPr algn="l">
              <a:spcBef>
                <a:spcPts val="600"/>
              </a:spcBef>
            </a:pPr>
            <a:r>
              <a:rPr b="1">
                <a:solidFill>
                  <a:srgbClr val="00356B"/>
                </a:solidFill>
              </a:rPr>
              <a:t>Interaction style:</a:t>
            </a:r>
            <a:r>
              <a:rPr b="0">
                <a:solidFill>
                  <a:srgbClr val="333333"/>
                </a:solidFill>
              </a:rPr>
              <a:t>  AI drives; you review. Give a high-level prompt, agent plans and executes steps.</a:t>
            </a:r>
          </a:p>
          <a:p>
            <a:pPr algn="l">
              <a:spcBef>
                <a:spcPts val="600"/>
              </a:spcBef>
            </a:pPr>
            <a:r>
              <a:rPr sz="1600" b="1">
                <a:solidFill>
                  <a:srgbClr val="00356B"/>
                </a:solidFill>
              </a:rPr>
              <a:t>Examples:</a:t>
            </a:r>
          </a:p>
          <a:p>
            <a:pPr algn="l">
              <a:spcBef>
                <a:spcPts val="200"/>
              </a:spcBef>
            </a:pPr>
            <a:r>
              <a:rPr sz="1600" b="0">
                <a:solidFill>
                  <a:srgbClr val="333333"/>
                </a:solidFill>
              </a:rPr>
              <a:t>  </a:t>
            </a:r>
            <a:r>
              <a:rPr b="0">
                <a:solidFill>
                  <a:srgbClr val="333333"/>
                </a:solidFill>
              </a:rPr>
              <a:t>▸  Claude Code — Requires Pro/Max subscription</a:t>
            </a:r>
          </a:p>
          <a:p>
            <a:pPr algn="l">
              <a:spcBef>
                <a:spcPts val="200"/>
              </a:spcBef>
            </a:pPr>
            <a:r>
              <a:rPr b="0">
                <a:solidFill>
                  <a:srgbClr val="333333"/>
                </a:solidFill>
              </a:rPr>
              <a:t>  ▸  Gemini CLI — 1K requests/day free</a:t>
            </a:r>
          </a:p>
          <a:p>
            <a:pPr algn="l">
              <a:spcBef>
                <a:spcPts val="200"/>
              </a:spcBef>
            </a:pPr>
            <a:r>
              <a:rPr b="0">
                <a:solidFill>
                  <a:srgbClr val="333333"/>
                </a:solidFill>
              </a:rPr>
              <a:t>  ▸  OpenAI Codex — ChatGPT Plus ($20/mo)</a:t>
            </a:r>
          </a:p>
          <a:p>
            <a:pPr algn="l">
              <a:spcBef>
                <a:spcPts val="200"/>
              </a:spcBef>
            </a:pPr>
            <a:r>
              <a:rPr b="0">
                <a:solidFill>
                  <a:srgbClr val="333333"/>
                </a:solidFill>
              </a:rPr>
              <a:t>  ▸  OpenCode — Free/open-source (BYOK)</a:t>
            </a:r>
          </a:p>
        </p:txBody>
      </p:sp>
    </p:spTree>
    <p:extLst>
      <p:ext uri="{BB962C8B-B14F-4D97-AF65-F5344CB8AC3E}">
        <p14:creationId xmlns:p14="http://schemas.microsoft.com/office/powerpoint/2010/main" val="2156390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FC09C5-BE25-8B13-FA70-CB0E16595FDC}"/>
              </a:ext>
            </a:extLst>
          </p:cNvPr>
          <p:cNvSpPr>
            <a:spLocks noGrp="1"/>
          </p:cNvSpPr>
          <p:nvPr>
            <p:ph type="sldNum" sz="quarter" idx="12"/>
          </p:nvPr>
        </p:nvSpPr>
        <p:spPr/>
        <p:txBody>
          <a:bodyPr/>
          <a:lstStyle/>
          <a:p>
            <a:fld id="{548469FB-C78A-B94B-B04A-B5BC8C934F85}" type="slidenum">
              <a:rPr lang="en-US" smtClean="0"/>
              <a:t>27</a:t>
            </a:fld>
            <a:endParaRPr lang="en-US"/>
          </a:p>
        </p:txBody>
      </p:sp>
      <p:pic>
        <p:nvPicPr>
          <p:cNvPr id="3" name="Picture 2" descr="A blue and white screen with white text&#10;&#10;AI-generated content may be incorrect.">
            <a:extLst>
              <a:ext uri="{FF2B5EF4-FFF2-40B4-BE49-F238E27FC236}">
                <a16:creationId xmlns:a16="http://schemas.microsoft.com/office/drawing/2014/main" id="{CADBC4C9-D448-2750-A852-4993872F2D72}"/>
              </a:ext>
            </a:extLst>
          </p:cNvPr>
          <p:cNvPicPr>
            <a:picLocks noChangeAspect="1"/>
          </p:cNvPicPr>
          <p:nvPr/>
        </p:nvPicPr>
        <p:blipFill>
          <a:blip r:embed="rId2"/>
          <a:stretch>
            <a:fillRect/>
          </a:stretch>
        </p:blipFill>
        <p:spPr>
          <a:xfrm>
            <a:off x="0" y="16626"/>
            <a:ext cx="12192000" cy="6858000"/>
          </a:xfrm>
          <a:prstGeom prst="rect">
            <a:avLst/>
          </a:prstGeom>
        </p:spPr>
      </p:pic>
      <p:sp>
        <p:nvSpPr>
          <p:cNvPr id="4" name="Rectangle 3">
            <a:extLst>
              <a:ext uri="{FF2B5EF4-FFF2-40B4-BE49-F238E27FC236}">
                <a16:creationId xmlns:a16="http://schemas.microsoft.com/office/drawing/2014/main" id="{1780F388-9A8D-4105-D70D-FCFE2E77B5A5}"/>
              </a:ext>
            </a:extLst>
          </p:cNvPr>
          <p:cNvSpPr/>
          <p:nvPr/>
        </p:nvSpPr>
        <p:spPr>
          <a:xfrm>
            <a:off x="10116588" y="1604356"/>
            <a:ext cx="1629295" cy="357447"/>
          </a:xfrm>
          <a:prstGeom prst="rect">
            <a:avLst/>
          </a:prstGeom>
          <a:solidFill>
            <a:srgbClr val="E8F1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7536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37564-5117-8468-CD5F-37D56ADC896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38EFD6A-55E1-1E3A-C9A5-1411FD04B2A8}"/>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t>Claude is Coming</a:t>
            </a:r>
          </a:p>
        </p:txBody>
      </p:sp>
      <p:sp>
        <p:nvSpPr>
          <p:cNvPr id="5" name="Slide Number Placeholder 4">
            <a:extLst>
              <a:ext uri="{FF2B5EF4-FFF2-40B4-BE49-F238E27FC236}">
                <a16:creationId xmlns:a16="http://schemas.microsoft.com/office/drawing/2014/main" id="{FBDC795A-22F2-E0F7-1E8B-6BD59E9E935D}"/>
              </a:ext>
            </a:extLst>
          </p:cNvPr>
          <p:cNvSpPr>
            <a:spLocks noGrp="1"/>
          </p:cNvSpPr>
          <p:nvPr>
            <p:ph type="sldNum" sz="quarter" idx="18"/>
          </p:nvPr>
        </p:nvSpPr>
        <p:spPr/>
        <p:txBody>
          <a:bodyPr/>
          <a:lstStyle/>
          <a:p>
            <a:fld id="{548469FB-C78A-B94B-B04A-B5BC8C934F85}" type="slidenum">
              <a:rPr lang="en-US" smtClean="0"/>
              <a:t>28</a:t>
            </a:fld>
            <a:endParaRPr lang="en-US"/>
          </a:p>
        </p:txBody>
      </p:sp>
      <p:sp>
        <p:nvSpPr>
          <p:cNvPr id="7" name="Text Placeholder 6">
            <a:extLst>
              <a:ext uri="{FF2B5EF4-FFF2-40B4-BE49-F238E27FC236}">
                <a16:creationId xmlns:a16="http://schemas.microsoft.com/office/drawing/2014/main" id="{6C61908D-2940-43F7-DCFF-E85ADE62B0CF}"/>
              </a:ext>
            </a:extLst>
          </p:cNvPr>
          <p:cNvSpPr>
            <a:spLocks noGrp="1"/>
          </p:cNvSpPr>
          <p:nvPr>
            <p:ph type="body" sz="quarter" idx="15"/>
          </p:nvPr>
        </p:nvSpPr>
        <p:spPr/>
        <p:txBody>
          <a:bodyPr/>
          <a:lstStyle/>
          <a:p>
            <a:endParaRPr lang="en-US" dirty="0"/>
          </a:p>
        </p:txBody>
      </p:sp>
      <p:sp>
        <p:nvSpPr>
          <p:cNvPr id="17" name="TextBox 16">
            <a:extLst>
              <a:ext uri="{FF2B5EF4-FFF2-40B4-BE49-F238E27FC236}">
                <a16:creationId xmlns:a16="http://schemas.microsoft.com/office/drawing/2014/main" id="{4FC6DE19-32E3-B06B-A02E-493C9441ABDB}"/>
              </a:ext>
            </a:extLst>
          </p:cNvPr>
          <p:cNvSpPr txBox="1"/>
          <p:nvPr/>
        </p:nvSpPr>
        <p:spPr>
          <a:xfrm>
            <a:off x="5037513" y="781396"/>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FE17986F-A0E7-CED1-0CBF-61BDDBBE7C24}"/>
              </a:ext>
            </a:extLst>
          </p:cNvPr>
          <p:cNvSpPr txBox="1"/>
          <p:nvPr/>
        </p:nvSpPr>
        <p:spPr>
          <a:xfrm>
            <a:off x="4231178" y="230401"/>
            <a:ext cx="7897091" cy="6278642"/>
          </a:xfrm>
          <a:prstGeom prst="rect">
            <a:avLst/>
          </a:prstGeom>
          <a:noFill/>
        </p:spPr>
        <p:txBody>
          <a:bodyPr wrap="square" rtlCol="0">
            <a:spAutoFit/>
          </a:bodyPr>
          <a:lstStyle/>
          <a:p>
            <a:r>
              <a:rPr lang="en-US" sz="2400" b="1" dirty="0"/>
              <a:t>License Options for Yale's Claude Enterprise Environments</a:t>
            </a:r>
          </a:p>
          <a:p>
            <a:endParaRPr lang="en-US" sz="2400" b="1" dirty="0"/>
          </a:p>
          <a:p>
            <a:pPr lvl="0"/>
            <a:r>
              <a:rPr lang="en-US" sz="2400" dirty="0"/>
              <a:t>Yale offers two Claude environments: 1) a general environment, and 2) a HIPAA compliant environment for users working with ePHI. Users will be able to select from the following license types in each environment. </a:t>
            </a:r>
          </a:p>
          <a:p>
            <a:pPr lvl="0"/>
            <a:endParaRPr lang="en-US" sz="2400" dirty="0"/>
          </a:p>
          <a:p>
            <a:pPr marL="285750" lvl="0" indent="-285750">
              <a:buFont typeface="Arial" panose="020B0604020202020204" pitchFamily="34" charset="0"/>
              <a:buChar char="•"/>
            </a:pPr>
            <a:r>
              <a:rPr lang="en-US" sz="2400" dirty="0"/>
              <a:t>“Standard” $20/month license: Includes access to the platform up to the usage limit* for a Standard seat.</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dirty="0"/>
              <a:t>“Premium” $50/month license:  A higher-usage Claude offering with approximately 5x the session-based usage limits* of a Standard seat and access to the latest advanced tools, features, and models.</a:t>
            </a:r>
          </a:p>
          <a:p>
            <a:endParaRPr lang="en-US" dirty="0"/>
          </a:p>
        </p:txBody>
      </p:sp>
    </p:spTree>
    <p:extLst>
      <p:ext uri="{BB962C8B-B14F-4D97-AF65-F5344CB8AC3E}">
        <p14:creationId xmlns:p14="http://schemas.microsoft.com/office/powerpoint/2010/main" val="2027455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29</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a:xfrm>
            <a:off x="497984" y="3185056"/>
            <a:ext cx="3030943" cy="895454"/>
          </a:xfrm>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30</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a:xfrm>
            <a:off x="4043680" y="232757"/>
            <a:ext cx="8148320" cy="6858000"/>
          </a:xfrm>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93A0D-FADD-4458-D3AC-2D635415E8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B51679-0775-CD5C-A896-7D2AAB7822B0}"/>
              </a:ext>
            </a:extLst>
          </p:cNvPr>
          <p:cNvSpPr>
            <a:spLocks noGrp="1"/>
          </p:cNvSpPr>
          <p:nvPr>
            <p:ph type="body" sz="quarter" idx="11"/>
          </p:nvPr>
        </p:nvSpPr>
        <p:spPr/>
        <p:txBody>
          <a:bodyPr/>
          <a:lstStyle/>
          <a:p>
            <a:r>
              <a:rPr lang="en-US" dirty="0">
                <a:latin typeface="YaleNew" panose="02000602050000020003" pitchFamily="2" charset="77"/>
              </a:rPr>
              <a:t>Resources</a:t>
            </a:r>
          </a:p>
          <a:p>
            <a:endParaRPr lang="en-US" dirty="0"/>
          </a:p>
        </p:txBody>
      </p:sp>
      <p:sp>
        <p:nvSpPr>
          <p:cNvPr id="5" name="Slide Number Placeholder 4">
            <a:extLst>
              <a:ext uri="{FF2B5EF4-FFF2-40B4-BE49-F238E27FC236}">
                <a16:creationId xmlns:a16="http://schemas.microsoft.com/office/drawing/2014/main" id="{7F57C145-3B20-75E4-5EF9-07DD9EF86ED9}"/>
              </a:ext>
            </a:extLst>
          </p:cNvPr>
          <p:cNvSpPr>
            <a:spLocks noGrp="1"/>
          </p:cNvSpPr>
          <p:nvPr>
            <p:ph type="sldNum" sz="quarter" idx="18"/>
          </p:nvPr>
        </p:nvSpPr>
        <p:spPr/>
        <p:txBody>
          <a:bodyPr/>
          <a:lstStyle/>
          <a:p>
            <a:fld id="{548469FB-C78A-B94B-B04A-B5BC8C934F85}" type="slidenum">
              <a:rPr lang="en-US" smtClean="0"/>
              <a:t>31</a:t>
            </a:fld>
            <a:endParaRPr lang="en-US"/>
          </a:p>
        </p:txBody>
      </p:sp>
      <p:sp>
        <p:nvSpPr>
          <p:cNvPr id="9" name="TextBox 8">
            <a:extLst>
              <a:ext uri="{FF2B5EF4-FFF2-40B4-BE49-F238E27FC236}">
                <a16:creationId xmlns:a16="http://schemas.microsoft.com/office/drawing/2014/main" id="{B389CCB7-D89C-C2EE-C96D-3D03EF74058E}"/>
              </a:ext>
            </a:extLst>
          </p:cNvPr>
          <p:cNvSpPr txBox="1"/>
          <p:nvPr/>
        </p:nvSpPr>
        <p:spPr>
          <a:xfrm>
            <a:off x="4750173" y="1543267"/>
            <a:ext cx="6603627" cy="3477875"/>
          </a:xfrm>
          <a:prstGeom prst="rect">
            <a:avLst/>
          </a:prstGeom>
          <a:noFill/>
        </p:spPr>
        <p:txBody>
          <a:bodyPr wrap="square" rtlCol="0">
            <a:spAutoFit/>
          </a:bodyPr>
          <a:lstStyle/>
          <a:p>
            <a:r>
              <a:rPr lang="en-US" sz="2000" dirty="0">
                <a:latin typeface="Avenir Book" panose="02000503020000020003" pitchFamily="2" charset="0"/>
                <a:hlinkClick r:id="rId3"/>
              </a:rPr>
              <a:t>AI at Yale - Guidance</a:t>
            </a:r>
            <a:endParaRPr lang="en-US" sz="2000" dirty="0">
              <a:latin typeface="Avenir Book" panose="02000503020000020003" pitchFamily="2" charset="0"/>
              <a:hlinkClick r:id="rId4"/>
            </a:endParaRPr>
          </a:p>
          <a:p>
            <a:endParaRPr lang="en-US" sz="2000" dirty="0">
              <a:latin typeface="Avenir Book" panose="02000503020000020003" pitchFamily="2" charset="0"/>
              <a:hlinkClick r:id="rId4"/>
            </a:endParaRPr>
          </a:p>
          <a:p>
            <a:r>
              <a:rPr lang="en-US" sz="2000" dirty="0">
                <a:latin typeface="Avenir Book" panose="02000503020000020003" pitchFamily="2" charset="0"/>
                <a:hlinkClick r:id="rId4"/>
              </a:rPr>
              <a:t>AI at Yale - Using AI Safely and Responsibly in Health Care and Research</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5"/>
              </a:rPr>
              <a:t>AI at Yale - Yale Standards for Using AI Tools and Chatbots in Health Sciences</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6"/>
              </a:rPr>
              <a:t>AI at Yale - Yale’s AI Tools and Resources</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7"/>
              </a:rPr>
              <a:t>Yale AI Resources – AI Tools (</a:t>
            </a:r>
            <a:r>
              <a:rPr lang="en-US" sz="2000" dirty="0" err="1">
                <a:latin typeface="Avenir Book" panose="02000503020000020003" pitchFamily="2" charset="0"/>
                <a:hlinkClick r:id="rId7"/>
              </a:rPr>
              <a:t>github.io</a:t>
            </a:r>
            <a:r>
              <a:rPr lang="en-US" sz="2000" dirty="0">
                <a:latin typeface="Avenir Book" panose="02000503020000020003" pitchFamily="2" charset="0"/>
                <a:hlinkClick r:id="rId7"/>
              </a:rPr>
              <a:t>)</a:t>
            </a:r>
            <a:endParaRPr lang="en-US" sz="2000" dirty="0">
              <a:latin typeface="Avenir Book" panose="02000503020000020003" pitchFamily="2" charset="0"/>
            </a:endParaRPr>
          </a:p>
        </p:txBody>
      </p:sp>
    </p:spTree>
    <p:extLst>
      <p:ext uri="{BB962C8B-B14F-4D97-AF65-F5344CB8AC3E}">
        <p14:creationId xmlns:p14="http://schemas.microsoft.com/office/powerpoint/2010/main" val="727022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39732</TotalTime>
  <Words>3308</Words>
  <Application>Microsoft Macintosh PowerPoint</Application>
  <PresentationFormat>Widescreen</PresentationFormat>
  <Paragraphs>429</Paragraphs>
  <Slides>31</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Display</vt:lpstr>
      <vt:lpstr>Arial</vt:lpstr>
      <vt:lpstr>Avenir Book</vt:lpstr>
      <vt:lpstr>Courier New</vt:lpstr>
      <vt:lpstr>Wingdings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Wegener, Maximilian</dc:creator>
  <cp:keywords/>
  <dc:description/>
  <cp:lastModifiedBy>DeMayo, Justin</cp:lastModifiedBy>
  <cp:revision>109</cp:revision>
  <dcterms:created xsi:type="dcterms:W3CDTF">2025-01-10T18:33:58Z</dcterms:created>
  <dcterms:modified xsi:type="dcterms:W3CDTF">2026-09-08T14:02:53Z</dcterms:modified>
  <cp:category/>
</cp:coreProperties>
</file>